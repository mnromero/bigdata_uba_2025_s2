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489" r:id="rId2"/>
    <p:sldId id="446" r:id="rId3"/>
    <p:sldId id="259" r:id="rId4"/>
    <p:sldId id="405" r:id="rId5"/>
    <p:sldId id="406" r:id="rId6"/>
    <p:sldId id="356" r:id="rId7"/>
    <p:sldId id="408" r:id="rId8"/>
    <p:sldId id="409" r:id="rId9"/>
    <p:sldId id="292" r:id="rId10"/>
    <p:sldId id="293" r:id="rId11"/>
    <p:sldId id="441" r:id="rId12"/>
    <p:sldId id="424" r:id="rId13"/>
    <p:sldId id="512" r:id="rId14"/>
    <p:sldId id="411" r:id="rId15"/>
    <p:sldId id="412" r:id="rId16"/>
    <p:sldId id="410" r:id="rId17"/>
    <p:sldId id="294" r:id="rId18"/>
    <p:sldId id="414" r:id="rId19"/>
    <p:sldId id="513" r:id="rId20"/>
    <p:sldId id="413" r:id="rId21"/>
    <p:sldId id="296" r:id="rId22"/>
    <p:sldId id="297" r:id="rId23"/>
    <p:sldId id="527" r:id="rId24"/>
    <p:sldId id="302" r:id="rId25"/>
    <p:sldId id="514" r:id="rId26"/>
    <p:sldId id="515" r:id="rId27"/>
    <p:sldId id="516" r:id="rId28"/>
    <p:sldId id="517" r:id="rId29"/>
    <p:sldId id="438" r:id="rId30"/>
    <p:sldId id="440" r:id="rId31"/>
    <p:sldId id="518" r:id="rId32"/>
    <p:sldId id="519" r:id="rId33"/>
    <p:sldId id="418" r:id="rId34"/>
    <p:sldId id="419" r:id="rId35"/>
    <p:sldId id="425" r:id="rId36"/>
    <p:sldId id="526" r:id="rId37"/>
    <p:sldId id="421" r:id="rId38"/>
    <p:sldId id="423" r:id="rId39"/>
    <p:sldId id="426" r:id="rId40"/>
    <p:sldId id="427" r:id="rId41"/>
    <p:sldId id="525" r:id="rId42"/>
    <p:sldId id="428" r:id="rId43"/>
    <p:sldId id="429" r:id="rId44"/>
    <p:sldId id="430" r:id="rId45"/>
    <p:sldId id="431" r:id="rId46"/>
    <p:sldId id="432" r:id="rId47"/>
    <p:sldId id="433" r:id="rId48"/>
    <p:sldId id="435" r:id="rId49"/>
    <p:sldId id="434" r:id="rId50"/>
    <p:sldId id="520" r:id="rId51"/>
    <p:sldId id="436" r:id="rId52"/>
    <p:sldId id="337" r:id="rId53"/>
    <p:sldId id="314" r:id="rId54"/>
    <p:sldId id="437" r:id="rId55"/>
    <p:sldId id="407" r:id="rId56"/>
    <p:sldId id="361" r:id="rId57"/>
    <p:sldId id="29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446"/>
            <p14:sldId id="259"/>
            <p14:sldId id="405"/>
            <p14:sldId id="406"/>
          </p14:sldIdLst>
        </p14:section>
        <p14:section name="Motivacion: Regresion Lineal" id="{FB36338F-3411-B940-8580-BC45502E7784}">
          <p14:sldIdLst>
            <p14:sldId id="356"/>
            <p14:sldId id="408"/>
            <p14:sldId id="409"/>
          </p14:sldIdLst>
        </p14:section>
        <p14:section name="Regresion" id="{E889DC1D-6EB3-5647-864E-8F96452C28E8}">
          <p14:sldIdLst>
            <p14:sldId id="292"/>
            <p14:sldId id="293"/>
            <p14:sldId id="441"/>
            <p14:sldId id="424"/>
            <p14:sldId id="512"/>
          </p14:sldIdLst>
        </p14:section>
        <p14:section name="Evaluacion de precision de los coeficientes" id="{29D30DC5-A78B-324E-9D17-28BE14534B4E}">
          <p14:sldIdLst>
            <p14:sldId id="411"/>
            <p14:sldId id="412"/>
            <p14:sldId id="410"/>
          </p14:sldIdLst>
        </p14:section>
        <p14:section name="Evaluacion de precision del modelo" id="{F9EA4E9E-D681-E342-AAFA-A4184B5D7EE5}">
          <p14:sldIdLst>
            <p14:sldId id="294"/>
            <p14:sldId id="414"/>
            <p14:sldId id="513"/>
            <p14:sldId id="413"/>
          </p14:sldIdLst>
        </p14:section>
        <p14:section name="Error cuadratico medio (ECM)" id="{75D31724-3B6C-E842-978D-4FEEBABBFA4D}">
          <p14:sldIdLst>
            <p14:sldId id="296"/>
            <p14:sldId id="297"/>
            <p14:sldId id="527"/>
            <p14:sldId id="302"/>
            <p14:sldId id="514"/>
          </p14:sldIdLst>
        </p14:section>
        <p14:section name="Error de Prediccion del output Y" id="{AF74458D-9C20-A845-BECB-2051E596F0C5}">
          <p14:sldIdLst>
            <p14:sldId id="515"/>
            <p14:sldId id="516"/>
            <p14:sldId id="517"/>
            <p14:sldId id="438"/>
            <p14:sldId id="440"/>
            <p14:sldId id="518"/>
            <p14:sldId id="519"/>
          </p14:sldIdLst>
        </p14:section>
        <p14:section name="Consideraciones de la Regresion Lineal" id="{7BFAA989-ACEC-6644-B4DE-1B5BA4F72C91}">
          <p14:sldIdLst>
            <p14:sldId id="418"/>
            <p14:sldId id="419"/>
            <p14:sldId id="425"/>
            <p14:sldId id="526"/>
            <p14:sldId id="421"/>
            <p14:sldId id="423"/>
            <p14:sldId id="426"/>
            <p14:sldId id="427"/>
            <p14:sldId id="525"/>
          </p14:sldIdLst>
        </p14:section>
        <p14:section name="Problemas y soluciones practicas en con los modelos de regresion lineal" id="{B12E035B-9770-2249-8F2B-5AA5ED1B1861}">
          <p14:sldIdLst>
            <p14:sldId id="428"/>
            <p14:sldId id="429"/>
            <p14:sldId id="430"/>
            <p14:sldId id="431"/>
            <p14:sldId id="432"/>
            <p14:sldId id="433"/>
            <p14:sldId id="435"/>
            <p14:sldId id="434"/>
            <p14:sldId id="520"/>
            <p14:sldId id="436"/>
          </p14:sldIdLst>
        </p14:section>
        <p14:section name="Conclusiones finales" id="{30AE4762-25DE-C74D-AF95-4AEC0CC37FB0}">
          <p14:sldIdLst>
            <p14:sldId id="337"/>
            <p14:sldId id="314"/>
            <p14:sldId id="437"/>
            <p14:sldId id="407"/>
            <p14:sldId id="361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41237"/>
    <p:restoredTop sz="82589"/>
  </p:normalViewPr>
  <p:slideViewPr>
    <p:cSldViewPr snapToGrid="0">
      <p:cViewPr varScale="1">
        <p:scale>
          <a:sx n="67" d="100"/>
          <a:sy n="67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Tablas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340715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5954226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4952328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4986454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565230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123960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843938" y="3218067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Tablas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878064" y="3252193"/>
        <a:ext cx="187368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808296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285231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450394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484520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121213" y="2027627"/>
          <a:ext cx="3906068" cy="3906068"/>
        </a:xfrm>
        <a:prstGeom prst="circularArrow">
          <a:avLst>
            <a:gd name="adj1" fmla="val 4688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172186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305308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4025-9F1C-B54C-874D-6AE83D7874AF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412AF-8B30-1C4A-9486-8B7EE1FDFB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2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6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9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62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0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84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76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07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38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50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56038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0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FFB85-B129-774D-93A0-F57B9B2B4D03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6702-BFF0-234C-B592-E8C1FA6F1806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16A00-60F7-B64E-8A28-BD6FD4FB0293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FB3B-061B-F144-A5FA-F3EAD484BB68}" type="datetime1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B2EF4-12EB-9A4D-9238-2D7527A162A6}" type="datetime1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B8114-FA9D-8D4A-A67F-A4701DAC90FA}" type="datetime1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410B-B86C-2848-BC8C-F46E39ADEFA3}" type="datetime1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655F-D0D7-B249-A22B-B443D0B3B154}" type="datetime1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3CFB-0197-A049-9F9E-574CE0E6949D}" type="datetime1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6737-1BBC-544D-9FC3-DA3274CF8698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E60E5-F23C-764C-AA70-1ED90C06A3A1}" type="datetime1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5C89D66A-6B48-BE47-8B10-C9113B69D385}" type="datetime1">
              <a:rPr lang="en-US" noProof="0" smtClean="0"/>
              <a:t>9/19/25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m-n-romero91/30min-office-hou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mailto:mromero@udesa.edu.ar" TargetMode="Externa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Introducción a Métodos Supervisados: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5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Cuestiones operativas del curso: </a:t>
            </a:r>
            <a:r>
              <a:rPr lang="es-ES_tradnl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</a:t>
            </a:r>
            <a:r>
              <a:rPr lang="es-ES_tradnl" sz="4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Deadlines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3FBD-7284-DC97-84C0-7A38FB74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TP2</a:t>
            </a:r>
            <a:r>
              <a:rPr lang="es-ES_tradnl" dirty="0"/>
              <a:t>: </a:t>
            </a:r>
            <a:r>
              <a:rPr lang="es-ES_tradnl" dirty="0">
                <a:solidFill>
                  <a:srgbClr val="FF0000"/>
                </a:solidFill>
              </a:rPr>
              <a:t>Martes 23 de septiembre</a:t>
            </a:r>
            <a:endParaRPr lang="es-ES_tradnl" sz="1200" dirty="0"/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1ra instancia: </a:t>
            </a:r>
            <a:r>
              <a:rPr lang="es-ES_tradnl" dirty="0"/>
              <a:t>Base de Datos. </a:t>
            </a:r>
            <a:r>
              <a:rPr lang="es-ES_tradnl" dirty="0">
                <a:solidFill>
                  <a:srgbClr val="FF0000"/>
                </a:solidFill>
              </a:rPr>
              <a:t>Viernes 26 de septiembre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Asistencia presencial obligatoria -&gt; 1 (un) punto menos por penalidad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online </a:t>
            </a:r>
            <a:r>
              <a:rPr lang="es-ES_tradnl" dirty="0">
                <a:hlinkClick r:id="rId2"/>
              </a:rPr>
              <a:t>Calendly</a:t>
            </a:r>
            <a:r>
              <a:rPr lang="es-ES_tradnl" dirty="0"/>
              <a:t>, email para presencial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5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Introducción a Métodos Supervisados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Revisión de Regresión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ECM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s-ES_tradnl" dirty="0"/>
              <a:t>Problemas de Predicción y Consideraciones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endParaRPr lang="es-ES_tradnl" dirty="0"/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FB9B-5244-FCBC-3E87-89A4490B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5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A790-8125-0419-9C63-AD7B89D7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 la Etapa Explorativa a la Predicción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49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899255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No hay un </a:t>
                          </a:r>
                          <a:r>
                            <a:rPr lang="es-ES_tradnl" sz="220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output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que se busca predecir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 observaciones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, …,</m:t>
                                  </m:r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3983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Predecir distribución de un variable de interés 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variable de interés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distribución de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23164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b="1" dirty="0">
                              <a:latin typeface="Gill Sans Nova Light" panose="020B0302020104020203" pitchFamily="34" charset="0"/>
                            </a:rPr>
                            <a:t>Predecir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Inputs: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1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cuantitativo -&gt;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Regresión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binaria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o categórica -&gt; Clasificación</a:t>
                          </a: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1097280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783" t="-72414" r="-42651" b="-2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972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74419" r="-42651" b="-16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68571" r="-426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742BB-420A-39A8-1250-F8C947C8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11E09-9C93-2937-FA98-0414F500111B}"/>
              </a:ext>
            </a:extLst>
          </p:cNvPr>
          <p:cNvSpPr/>
          <p:nvPr/>
        </p:nvSpPr>
        <p:spPr>
          <a:xfrm>
            <a:off x="4058653" y="5358063"/>
            <a:ext cx="4812631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1059B-F693-3AB2-5ECB-B9BC8A48F24B}"/>
              </a:ext>
            </a:extLst>
          </p:cNvPr>
          <p:cNvSpPr/>
          <p:nvPr/>
        </p:nvSpPr>
        <p:spPr>
          <a:xfrm>
            <a:off x="9630697" y="4478076"/>
            <a:ext cx="1502007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47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Lineal: Motivación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9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E1F3-E7BC-01A0-5596-15730A6A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Fortalezas del “Modelo Madre”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AF647-59D4-CF9B-B4BF-65923B071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_tradnl" dirty="0"/>
              <a:t>Hay otros métodos modernos de aprendizaje estadístico que </a:t>
            </a:r>
            <a:r>
              <a:rPr lang="es-ES_tradnl" dirty="0">
                <a:solidFill>
                  <a:srgbClr val="002060"/>
                </a:solidFill>
              </a:rPr>
              <a:t>predicen mejor</a:t>
            </a:r>
            <a:r>
              <a:rPr lang="es-ES_tradnl" dirty="0"/>
              <a:t>: ¿Por qué ver regresión lineal?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Método más usado y útil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Simple de computar y </a:t>
            </a:r>
            <a:r>
              <a:rPr lang="es-ES_tradnl" dirty="0">
                <a:solidFill>
                  <a:srgbClr val="00B050"/>
                </a:solidFill>
              </a:rPr>
              <a:t>fácil de interpretar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Arrancamos con lo </a:t>
            </a:r>
            <a:r>
              <a:rPr lang="es-ES_tradnl" dirty="0">
                <a:solidFill>
                  <a:srgbClr val="002060"/>
                </a:solidFill>
              </a:rPr>
              <a:t>conocido</a:t>
            </a:r>
            <a:r>
              <a:rPr lang="es-ES_tradnl" dirty="0"/>
              <a:t> -&gt; Punto de partida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Base de comparación</a:t>
            </a:r>
            <a:r>
              <a:rPr lang="es-ES_tradnl" dirty="0"/>
              <a:t>: ¿contra qué </a:t>
            </a:r>
            <a:r>
              <a:rPr lang="es-ES_tradnl" dirty="0">
                <a:solidFill>
                  <a:srgbClr val="002060"/>
                </a:solidFill>
              </a:rPr>
              <a:t>comparas</a:t>
            </a:r>
            <a:r>
              <a:rPr lang="es-ES_tradnl" dirty="0"/>
              <a:t> los otros métodos?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_tradnl" dirty="0"/>
              <a:t>Los demás métodos son una extensión o generalización -&gt; De lo simple a lo más complejo</a:t>
            </a:r>
          </a:p>
          <a:p>
            <a:pPr marL="971550" lvl="1" indent="-514350">
              <a:buFont typeface="+mj-lt"/>
              <a:buAutoNum type="arabicPeriod"/>
            </a:pPr>
            <a:endParaRPr lang="es-ES_tradnl" dirty="0"/>
          </a:p>
          <a:p>
            <a:pPr marL="971550" lvl="1" indent="-514350"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A5C3-08C5-6C2C-DE82-7B4A7C81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5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6900-620D-CC58-2DEC-799EA843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Mas Fortalezas del Modelo de Regresión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205CE-CE25-AF0E-8937-FD3543E817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Determinar si hay </a:t>
                </a:r>
                <a:r>
                  <a:rPr lang="es-ES_tradnl" dirty="0">
                    <a:solidFill>
                      <a:srgbClr val="002060"/>
                    </a:solidFill>
                  </a:rPr>
                  <a:t>relación o no </a:t>
                </a:r>
                <a:r>
                  <a:rPr lang="es-ES_tradnl" dirty="0"/>
                  <a:t>entre </a:t>
                </a:r>
                <a14:m>
                  <m:oMath xmlns:m="http://schemas.openxmlformats.org/officeDocument/2006/math">
                    <m:r>
                      <a:rPr lang="es-ES_tradnl" sz="3200" b="0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ES_tradnl" dirty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s-ES_tradnl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>
                  <a:latin typeface="Gill Sans Nova Light" panose="020B0302020104020203" pitchFamily="34" charset="0"/>
                </a:endParaRPr>
              </a:p>
              <a:p>
                <a:r>
                  <a:rPr lang="es-ES_tradnl" dirty="0"/>
                  <a:t>Si hay una relación, determinamos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tan grande</a:t>
                </a:r>
                <a:r>
                  <a:rPr lang="es-ES_tradnl" dirty="0"/>
                  <a:t> es dicha relación</a:t>
                </a:r>
              </a:p>
              <a:p>
                <a:r>
                  <a:rPr lang="es-ES_tradnl" dirty="0"/>
                  <a:t>Podemos evaluar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tan buenos </a:t>
                </a:r>
                <a:r>
                  <a:rPr lang="es-ES_tradnl" dirty="0"/>
                  <a:t>somos prediciendo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s-ES_tradnl" dirty="0"/>
              </a:p>
              <a:p>
                <a:r>
                  <a:rPr lang="es-ES_tradnl" dirty="0"/>
                  <a:t>Podemos transformar los predictores para considerar </a:t>
                </a:r>
                <a:r>
                  <a:rPr lang="es-ES_tradnl" dirty="0">
                    <a:solidFill>
                      <a:srgbClr val="002060"/>
                    </a:solidFill>
                  </a:rPr>
                  <a:t>relaciones no lineales</a:t>
                </a:r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205CE-CE25-AF0E-8937-FD3543E81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DEE4E-1FB8-B62A-F83A-B7663B1B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9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Formalmente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3.1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82F3-43B5-E9FA-3D46-B91FB310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Lineal: 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sz="3600" dirty="0"/>
                  <a:t>Modelo</a:t>
                </a: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sz="3600" dirty="0"/>
                  <a:t>	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endParaRPr lang="es-ES_tradnl" sz="360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s-ES_tradnl" sz="3200" dirty="0"/>
                  <a:t> es la parte </a:t>
                </a:r>
                <a:r>
                  <a:rPr lang="es-ES_tradnl" sz="3200" dirty="0">
                    <a:solidFill>
                      <a:srgbClr val="002060"/>
                    </a:solidFill>
                  </a:rPr>
                  <a:t>sistemática</a:t>
                </a:r>
                <a:r>
                  <a:rPr lang="es-ES_tradnl" sz="3200" dirty="0"/>
                  <a:t> y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sz="3200" dirty="0"/>
                  <a:t> la </a:t>
                </a:r>
                <a:r>
                  <a:rPr lang="es-ES_tradnl" sz="3200" dirty="0">
                    <a:solidFill>
                      <a:srgbClr val="002060"/>
                    </a:solidFill>
                  </a:rPr>
                  <a:t>no</a:t>
                </a:r>
                <a:r>
                  <a:rPr lang="es-ES_tradnl" sz="3200" dirty="0"/>
                  <a:t> </a:t>
                </a:r>
                <a:r>
                  <a:rPr lang="es-ES_tradnl" sz="3200" dirty="0">
                    <a:solidFill>
                      <a:srgbClr val="002060"/>
                    </a:solidFill>
                  </a:rPr>
                  <a:t>sistemática</a:t>
                </a:r>
              </a:p>
              <a:p>
                <a:pPr lvl="1">
                  <a:lnSpc>
                    <a:spcPct val="110000"/>
                  </a:lnSpc>
                </a:pPr>
                <a:endParaRPr lang="es-ES_tradnl" sz="3200" dirty="0"/>
              </a:p>
              <a:p>
                <a:pPr>
                  <a:lnSpc>
                    <a:spcPct val="110000"/>
                  </a:lnSpc>
                </a:pPr>
                <a:r>
                  <a:rPr lang="es-ES_tradnl" sz="3600" dirty="0">
                    <a:solidFill>
                      <a:srgbClr val="00B050"/>
                    </a:solidFill>
                  </a:rPr>
                  <a:t>Objetivo</a:t>
                </a:r>
                <a:r>
                  <a:rPr lang="es-ES_tradnl" sz="3600" dirty="0"/>
                  <a:t>: </a:t>
                </a:r>
                <a:r>
                  <a:rPr lang="es-ES_tradnl" sz="3600" dirty="0">
                    <a:solidFill>
                      <a:srgbClr val="002060"/>
                    </a:solidFill>
                  </a:rPr>
                  <a:t>Aproximar</a:t>
                </a:r>
                <a:r>
                  <a:rPr lang="es-ES_tradnl" sz="3600" dirty="0"/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sz="3600" dirty="0"/>
                  <a:t>con la regresión lineal</a:t>
                </a:r>
              </a:p>
              <a:p>
                <a:pPr>
                  <a:lnSpc>
                    <a:spcPct val="110000"/>
                  </a:lnSpc>
                </a:pPr>
                <a:endParaRPr lang="es-ES_tradnl" sz="36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89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48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Lineal: Foralmente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	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Aproximar</a:t>
                </a:r>
                <a:r>
                  <a:rPr lang="es-ES_tradnl" dirty="0"/>
                  <a:t> con regresión lineal: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3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3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3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sz="4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s-ES_tradnl" dirty="0"/>
                  <a:t>Estimación por MCO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¿Solución?</a:t>
                </a: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08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F5AA-0837-26C5-6FAE-2FB8EA13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Gráfica de MCO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B3966-B35C-7586-65AC-68834CFA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BE63DE-11B8-2CD4-0B44-AACDA7EB2B62}"/>
              </a:ext>
            </a:extLst>
          </p:cNvPr>
          <p:cNvCxnSpPr>
            <a:cxnSpLocks/>
          </p:cNvCxnSpPr>
          <p:nvPr/>
        </p:nvCxnSpPr>
        <p:spPr>
          <a:xfrm>
            <a:off x="3252866" y="5456420"/>
            <a:ext cx="58161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F5D4C6-A333-2068-759D-7801378ADB63}"/>
              </a:ext>
            </a:extLst>
          </p:cNvPr>
          <p:cNvCxnSpPr>
            <a:cxnSpLocks/>
          </p:cNvCxnSpPr>
          <p:nvPr/>
        </p:nvCxnSpPr>
        <p:spPr>
          <a:xfrm flipV="1">
            <a:off x="3255365" y="1825052"/>
            <a:ext cx="0" cy="36750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7FA42C-59CF-6313-6A07-84DE7F19BA5D}"/>
              </a:ext>
            </a:extLst>
          </p:cNvPr>
          <p:cNvSpPr txBox="1"/>
          <p:nvPr/>
        </p:nvSpPr>
        <p:spPr>
          <a:xfrm>
            <a:off x="1379094" y="1948721"/>
            <a:ext cx="1678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Ad </a:t>
            </a:r>
            <a:r>
              <a:rPr lang="es-ES_tradnl" sz="2800" dirty="0" err="1">
                <a:latin typeface="Gill Sans Nova Light" panose="020B0302020104020203" pitchFamily="34" charset="0"/>
              </a:rPr>
              <a:t>Spending</a:t>
            </a:r>
            <a:endParaRPr lang="es-ES_tradnl" sz="2800" dirty="0">
              <a:latin typeface="Gill Sans Nova Light" panose="020B03020201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CB399-6399-A67C-F3F6-8FCEFA941CB9}"/>
              </a:ext>
            </a:extLst>
          </p:cNvPr>
          <p:cNvSpPr txBox="1"/>
          <p:nvPr/>
        </p:nvSpPr>
        <p:spPr>
          <a:xfrm>
            <a:off x="8334530" y="5721719"/>
            <a:ext cx="1678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Población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9098C8-8781-D9C3-CF4F-AF52083E4A95}"/>
              </a:ext>
            </a:extLst>
          </p:cNvPr>
          <p:cNvSpPr/>
          <p:nvPr/>
        </p:nvSpPr>
        <p:spPr>
          <a:xfrm>
            <a:off x="4107064" y="4709471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8D6B6E-C5CD-ADC3-8C6F-93E96867162F}"/>
              </a:ext>
            </a:extLst>
          </p:cNvPr>
          <p:cNvSpPr/>
          <p:nvPr/>
        </p:nvSpPr>
        <p:spPr>
          <a:xfrm>
            <a:off x="5007949" y="4227050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471145-C4A6-A41A-37BE-EB7DE05C09F0}"/>
              </a:ext>
            </a:extLst>
          </p:cNvPr>
          <p:cNvSpPr/>
          <p:nvPr/>
        </p:nvSpPr>
        <p:spPr>
          <a:xfrm>
            <a:off x="5082899" y="3065168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05654B5-3858-4E55-B896-67666567E9EB}"/>
              </a:ext>
            </a:extLst>
          </p:cNvPr>
          <p:cNvSpPr/>
          <p:nvPr/>
        </p:nvSpPr>
        <p:spPr>
          <a:xfrm>
            <a:off x="4571837" y="4052464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FDA3CA-58E3-EEF4-9BE2-C483A20B5701}"/>
              </a:ext>
            </a:extLst>
          </p:cNvPr>
          <p:cNvSpPr/>
          <p:nvPr/>
        </p:nvSpPr>
        <p:spPr>
          <a:xfrm>
            <a:off x="6298286" y="2797282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80D50A-5165-23BD-2E73-5A26A1E114DE}"/>
              </a:ext>
            </a:extLst>
          </p:cNvPr>
          <p:cNvSpPr/>
          <p:nvPr/>
        </p:nvSpPr>
        <p:spPr>
          <a:xfrm>
            <a:off x="5730515" y="3384029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EC9295-6FDE-5E58-C25F-BEDE093EF932}"/>
              </a:ext>
            </a:extLst>
          </p:cNvPr>
          <p:cNvSpPr/>
          <p:nvPr/>
        </p:nvSpPr>
        <p:spPr>
          <a:xfrm>
            <a:off x="4144538" y="4009951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D65CBF-8BE6-9081-9E43-6AC0447693D3}"/>
              </a:ext>
            </a:extLst>
          </p:cNvPr>
          <p:cNvSpPr/>
          <p:nvPr/>
        </p:nvSpPr>
        <p:spPr>
          <a:xfrm>
            <a:off x="4931439" y="3647049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0473FE-EB86-81F4-762C-A792E9743EC4}"/>
              </a:ext>
            </a:extLst>
          </p:cNvPr>
          <p:cNvSpPr/>
          <p:nvPr/>
        </p:nvSpPr>
        <p:spPr>
          <a:xfrm>
            <a:off x="6052986" y="2510305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ED3737-157C-F6EC-23D6-11052159D67E}"/>
              </a:ext>
            </a:extLst>
          </p:cNvPr>
          <p:cNvSpPr/>
          <p:nvPr/>
        </p:nvSpPr>
        <p:spPr>
          <a:xfrm>
            <a:off x="5617521" y="3177563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AA94F6-C0B1-DB0D-53C8-142EAC86AA0C}"/>
              </a:ext>
            </a:extLst>
          </p:cNvPr>
          <p:cNvSpPr/>
          <p:nvPr/>
        </p:nvSpPr>
        <p:spPr>
          <a:xfrm>
            <a:off x="5348990" y="3365147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6C1E4A-7DB5-A795-0DE2-1375F61B67BD}"/>
              </a:ext>
            </a:extLst>
          </p:cNvPr>
          <p:cNvSpPr/>
          <p:nvPr/>
        </p:nvSpPr>
        <p:spPr>
          <a:xfrm>
            <a:off x="5927359" y="2887223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46572D2-E52F-5334-8D84-E452BE42A2FD}"/>
              </a:ext>
            </a:extLst>
          </p:cNvPr>
          <p:cNvSpPr/>
          <p:nvPr/>
        </p:nvSpPr>
        <p:spPr>
          <a:xfrm>
            <a:off x="5654996" y="4101907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124DF9-AAD6-5596-9EA2-692E1F28B44F}"/>
              </a:ext>
            </a:extLst>
          </p:cNvPr>
          <p:cNvSpPr/>
          <p:nvPr/>
        </p:nvSpPr>
        <p:spPr>
          <a:xfrm>
            <a:off x="5542571" y="3692019"/>
            <a:ext cx="74950" cy="8994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B79CC4-A600-2833-841B-D36E3BFC69BB}"/>
              </a:ext>
            </a:extLst>
          </p:cNvPr>
          <p:cNvCxnSpPr>
            <a:cxnSpLocks/>
          </p:cNvCxnSpPr>
          <p:nvPr/>
        </p:nvCxnSpPr>
        <p:spPr>
          <a:xfrm flipV="1">
            <a:off x="3800475" y="2228850"/>
            <a:ext cx="2914650" cy="2570562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0B1BD9-C880-3B11-B35D-8D01264876C5}"/>
              </a:ext>
            </a:extLst>
          </p:cNvPr>
          <p:cNvSpPr txBox="1"/>
          <p:nvPr/>
        </p:nvSpPr>
        <p:spPr>
          <a:xfrm>
            <a:off x="7316225" y="4077279"/>
            <a:ext cx="1493077" cy="57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800" dirty="0">
                <a:latin typeface="Gill Sans Nova Light" panose="020B0302020104020203" pitchFamily="34" charset="0"/>
              </a:rPr>
              <a:t>¿Y PCA?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FBB3BF-67F0-2054-312A-C134E5FD2B90}"/>
              </a:ext>
            </a:extLst>
          </p:cNvPr>
          <p:cNvCxnSpPr>
            <a:cxnSpLocks/>
          </p:cNvCxnSpPr>
          <p:nvPr/>
        </p:nvCxnSpPr>
        <p:spPr>
          <a:xfrm>
            <a:off x="5581899" y="3267504"/>
            <a:ext cx="0" cy="43059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B3F611-FD18-4EF2-305E-A8680EA5D4D3}"/>
              </a:ext>
            </a:extLst>
          </p:cNvPr>
          <p:cNvCxnSpPr>
            <a:cxnSpLocks/>
          </p:cNvCxnSpPr>
          <p:nvPr/>
        </p:nvCxnSpPr>
        <p:spPr>
          <a:xfrm>
            <a:off x="5041829" y="3736990"/>
            <a:ext cx="0" cy="46584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C458E5-AB97-75B9-3D15-EE036B250E7C}"/>
              </a:ext>
            </a:extLst>
          </p:cNvPr>
          <p:cNvCxnSpPr>
            <a:cxnSpLocks/>
          </p:cNvCxnSpPr>
          <p:nvPr/>
        </p:nvCxnSpPr>
        <p:spPr>
          <a:xfrm>
            <a:off x="5122409" y="3168729"/>
            <a:ext cx="0" cy="43059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422D50-31B3-5E65-FC7A-1A8B4E796E8C}"/>
              </a:ext>
            </a:extLst>
          </p:cNvPr>
          <p:cNvGrpSpPr/>
          <p:nvPr/>
        </p:nvGrpSpPr>
        <p:grpSpPr>
          <a:xfrm>
            <a:off x="3919911" y="2927057"/>
            <a:ext cx="1116879" cy="771046"/>
            <a:chOff x="3919911" y="2927057"/>
            <a:chExt cx="1116879" cy="771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9DF6CE-3308-B9BC-85E8-2AAD8E96CC81}"/>
                    </a:ext>
                  </a:extLst>
                </p:cNvPr>
                <p:cNvSpPr txBox="1"/>
                <p:nvPr/>
              </p:nvSpPr>
              <p:spPr>
                <a:xfrm>
                  <a:off x="3919911" y="2927057"/>
                  <a:ext cx="1116879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s-ES_tradnl" sz="4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s-ES_tradnl" sz="4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D9DF6CE-3308-B9BC-85E8-2AAD8E96C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911" y="2927057"/>
                  <a:ext cx="1116879" cy="707886"/>
                </a:xfrm>
                <a:prstGeom prst="rect">
                  <a:avLst/>
                </a:prstGeom>
                <a:blipFill>
                  <a:blip r:embed="rId2"/>
                  <a:stretch>
                    <a:fillRect t="-5263" b="-7018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Left Brace 28">
              <a:extLst>
                <a:ext uri="{FF2B5EF4-FFF2-40B4-BE49-F238E27FC236}">
                  <a16:creationId xmlns:a16="http://schemas.microsoft.com/office/drawing/2014/main" id="{833DE157-B41B-DE6F-53C9-FC17E8603310}"/>
                </a:ext>
              </a:extLst>
            </p:cNvPr>
            <p:cNvSpPr/>
            <p:nvPr/>
          </p:nvSpPr>
          <p:spPr>
            <a:xfrm>
              <a:off x="4756094" y="3065169"/>
              <a:ext cx="254075" cy="632934"/>
            </a:xfrm>
            <a:prstGeom prst="leftBrac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1DE58C5-1679-A8C0-78D8-C32F5A066280}"/>
              </a:ext>
            </a:extLst>
          </p:cNvPr>
          <p:cNvSpPr txBox="1"/>
          <p:nvPr/>
        </p:nvSpPr>
        <p:spPr>
          <a:xfrm>
            <a:off x="7316225" y="1703338"/>
            <a:ext cx="3124947" cy="1096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800" dirty="0">
                <a:latin typeface="Gill Sans Nova Light" panose="020B0302020104020203" pitchFamily="34" charset="0"/>
              </a:rPr>
              <a:t>MCO: </a:t>
            </a:r>
            <a:r>
              <a:rPr lang="es-ES_tradnl" sz="2800" dirty="0">
                <a:solidFill>
                  <a:srgbClr val="002060"/>
                </a:solidFill>
                <a:latin typeface="Gill Sans Nova Light" panose="020B0302020104020203" pitchFamily="34" charset="0"/>
              </a:rPr>
              <a:t>Distancia vertical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6C0E5B-CA3D-8940-1E36-40B01C42CCA8}"/>
              </a:ext>
            </a:extLst>
          </p:cNvPr>
          <p:cNvSpPr txBox="1"/>
          <p:nvPr/>
        </p:nvSpPr>
        <p:spPr>
          <a:xfrm>
            <a:off x="7316567" y="2965812"/>
            <a:ext cx="38754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>
                <a:solidFill>
                  <a:srgbClr val="00B050"/>
                </a:solidFill>
                <a:latin typeface="Gill Sans Nova Light" panose="020B0302020104020203" pitchFamily="34" charset="0"/>
              </a:rPr>
              <a:t>Línea verde</a:t>
            </a:r>
            <a:r>
              <a:rPr lang="es-ES_tradnl" sz="2800" dirty="0">
                <a:latin typeface="Gill Sans Nova Light" panose="020B0302020104020203" pitchFamily="34" charset="0"/>
              </a:rPr>
              <a:t>: regresión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FF9718-74E3-AA62-1E36-55682A2CEF76}"/>
                  </a:ext>
                </a:extLst>
              </p:cNvPr>
              <p:cNvSpPr txBox="1"/>
              <p:nvPr/>
            </p:nvSpPr>
            <p:spPr>
              <a:xfrm>
                <a:off x="4935732" y="3451723"/>
                <a:ext cx="73451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40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40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ES_tradnl" sz="4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FF9718-74E3-AA62-1E36-55682A2CE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732" y="3451723"/>
                <a:ext cx="734519" cy="707886"/>
              </a:xfrm>
              <a:prstGeom prst="rect">
                <a:avLst/>
              </a:prstGeom>
              <a:blipFill>
                <a:blip r:embed="rId3"/>
                <a:stretch>
                  <a:fillRect l="-3390" t="-5263"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7B8CFE-45EA-81EE-A2F4-2324211BA7B9}"/>
                  </a:ext>
                </a:extLst>
              </p:cNvPr>
              <p:cNvSpPr txBox="1"/>
              <p:nvPr/>
            </p:nvSpPr>
            <p:spPr>
              <a:xfrm>
                <a:off x="4840475" y="2269278"/>
                <a:ext cx="73451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7B8CFE-45EA-81EE-A2F4-2324211BA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475" y="2269278"/>
                <a:ext cx="734519" cy="707886"/>
              </a:xfrm>
              <a:prstGeom prst="rect">
                <a:avLst/>
              </a:prstGeom>
              <a:blipFill>
                <a:blip r:embed="rId4"/>
                <a:stretch>
                  <a:fillRect l="-5085" b="-157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05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7656-2E3C-C961-8115-F6AAFBF2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la minimización de residuos I</a:t>
            </a:r>
          </a:p>
        </p:txBody>
      </p:sp>
      <p:pic>
        <p:nvPicPr>
          <p:cNvPr id="6" name="Content Placeholder 5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E321A5D9-9728-4EAF-4E86-E05345609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974" y="1825625"/>
            <a:ext cx="838205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DB24E-7A79-5BF3-CD7A-926A28E3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F665E-532F-21A3-EB24-0B427E89BA34}"/>
              </a:ext>
            </a:extLst>
          </p:cNvPr>
          <p:cNvSpPr txBox="1"/>
          <p:nvPr/>
        </p:nvSpPr>
        <p:spPr>
          <a:xfrm>
            <a:off x="10290654" y="5494945"/>
            <a:ext cx="112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ISLP p.73</a:t>
            </a:r>
          </a:p>
        </p:txBody>
      </p:sp>
    </p:spTree>
    <p:extLst>
      <p:ext uri="{BB962C8B-B14F-4D97-AF65-F5344CB8AC3E}">
        <p14:creationId xmlns:p14="http://schemas.microsoft.com/office/powerpoint/2010/main" val="4222313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16" y="365125"/>
            <a:ext cx="10769184" cy="1325563"/>
          </a:xfrm>
        </p:spPr>
        <p:txBody>
          <a:bodyPr/>
          <a:lstStyle/>
          <a:p>
            <a:r>
              <a:rPr lang="es-ES_tradnl" dirty="0"/>
              <a:t>Evaluación de la precisión de los coeficientes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Modelo poblacional: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Mejor aproximación lineal </a:t>
                </a:r>
                <a:r>
                  <a:rPr lang="es-ES_tradnl" dirty="0"/>
                  <a:t>de </a:t>
                </a:r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(</a:t>
                </a:r>
                <a:r>
                  <a:rPr lang="es-ES_tradnl" dirty="0">
                    <a:solidFill>
                      <a:srgbClr val="002060"/>
                    </a:solidFill>
                  </a:rPr>
                  <a:t>Sec. 3.1.2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Angrist</a:t>
                </a:r>
                <a:r>
                  <a:rPr lang="es-ES_tradnl" dirty="0">
                    <a:solidFill>
                      <a:srgbClr val="002060"/>
                    </a:solidFill>
                  </a:rPr>
                  <a:t> &amp;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Pischke</a:t>
                </a:r>
                <a:r>
                  <a:rPr lang="es-ES_tradnl" dirty="0"/>
                  <a:t>)</a:t>
                </a:r>
                <a:endParaRPr lang="es-ES_tradnl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Suponemos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independiente de </a:t>
                </a:r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=2+3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, </a:t>
                </a:r>
                <a:r>
                  <a:rPr lang="es-ES_tradnl" dirty="0"/>
                  <a:t>100 obs aleatorias</a:t>
                </a:r>
                <a:endParaRPr lang="es-ES_tradnl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:endParaRPr lang="es-ES_tradnl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9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D52E-DBC4-21CA-AD16-8C84A0DF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Mejor Aproximación Lineal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541EA-462B-1235-C8EE-64D8BC92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D5DF6-01C6-5E27-16CA-6A65F7EF4665}"/>
              </a:ext>
            </a:extLst>
          </p:cNvPr>
          <p:cNvSpPr txBox="1"/>
          <p:nvPr/>
        </p:nvSpPr>
        <p:spPr>
          <a:xfrm>
            <a:off x="10614249" y="5563871"/>
            <a:ext cx="83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p.74</a:t>
            </a:r>
          </a:p>
        </p:txBody>
      </p:sp>
      <p:pic>
        <p:nvPicPr>
          <p:cNvPr id="15" name="Content Placeholder 14" descr="A comparison of graphs with red and blue lines&#10;&#10;Description automatically generated">
            <a:extLst>
              <a:ext uri="{FF2B5EF4-FFF2-40B4-BE49-F238E27FC236}">
                <a16:creationId xmlns:a16="http://schemas.microsoft.com/office/drawing/2014/main" id="{83C4C433-5EED-F18B-B087-FF636D5AC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351" y="1274863"/>
            <a:ext cx="9264040" cy="494605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B16929-5CB8-4A0A-F208-7D854AB822C8}"/>
                  </a:ext>
                </a:extLst>
              </p:cNvPr>
              <p:cNvSpPr txBox="1"/>
              <p:nvPr/>
            </p:nvSpPr>
            <p:spPr>
              <a:xfrm>
                <a:off x="2788170" y="4557011"/>
                <a:ext cx="29380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ES_tradnl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=2+3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_tradnl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B16929-5CB8-4A0A-F208-7D854AB82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170" y="4557011"/>
                <a:ext cx="293807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5ED3A7-0FE9-EF2A-B306-BE2F842999E7}"/>
                  </a:ext>
                </a:extLst>
              </p:cNvPr>
              <p:cNvSpPr txBox="1"/>
              <p:nvPr/>
            </p:nvSpPr>
            <p:spPr>
              <a:xfrm>
                <a:off x="6688110" y="2041317"/>
                <a:ext cx="2938073" cy="481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ES_tradn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_tradnl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ES_tradn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5ED3A7-0FE9-EF2A-B306-BE2F84299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110" y="2041317"/>
                <a:ext cx="2938073" cy="481478"/>
              </a:xfrm>
              <a:prstGeom prst="rect">
                <a:avLst/>
              </a:prstGeom>
              <a:blipFill>
                <a:blip r:embed="rId4"/>
                <a:stretch>
                  <a:fillRect t="-10256" b="-1538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213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Evaluación de la precisión de los coeficientes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	</a:t>
                </a:r>
              </a:p>
              <a:p>
                <a:pPr marL="0" indent="0" algn="ctr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De estadística, bajo los supuestos clásicos (caso ideal)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Teorema de Gauss/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Markov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MELI</a:t>
                </a:r>
                <a:r>
                  <a:rPr lang="es-ES_tradnl" dirty="0"/>
                  <a:t> 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Con estimaciones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r>
                  <a:rPr lang="es-ES_tradnl" dirty="0"/>
                  <a:t>, hacemos inferencia y testamos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8C73-0819-CD2B-9E56-7AD38050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8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Predictor óptimo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vector columna igual a la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-ésima fila de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=1, …, 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s-ES_tradnl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b="0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Resultado 1</a:t>
                </a:r>
                <a:r>
                  <a:rPr lang="es-ES_tradnl" dirty="0"/>
                  <a:t>: 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b="0" dirty="0"/>
                  <a:t> es insesgado y de varianza mínima,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b="0" dirty="0"/>
                  <a:t>es un </a:t>
                </a:r>
                <a:r>
                  <a:rPr lang="es-ES_tradnl" b="0" dirty="0">
                    <a:solidFill>
                      <a:srgbClr val="002060"/>
                    </a:solidFill>
                  </a:rPr>
                  <a:t>predictor insesgado </a:t>
                </a:r>
                <a:r>
                  <a:rPr lang="es-ES_tradnl" b="0" dirty="0"/>
                  <a:t>de </a:t>
                </a:r>
                <a:r>
                  <a:rPr lang="es-ES_tradnl" b="0" dirty="0">
                    <a:solidFill>
                      <a:srgbClr val="002060"/>
                    </a:solidFill>
                  </a:rPr>
                  <a:t>varianza mínima</a:t>
                </a:r>
                <a:r>
                  <a:rPr lang="es-ES_tradnl" b="0" dirty="0"/>
                  <a:t>, ambos en la </a:t>
                </a:r>
                <a:r>
                  <a:rPr lang="es-ES_tradnl" b="0" dirty="0">
                    <a:solidFill>
                      <a:srgbClr val="002060"/>
                    </a:solidFill>
                  </a:rPr>
                  <a:t>clase de estimadores</a:t>
                </a:r>
                <a:r>
                  <a:rPr lang="es-ES_tradnl" dirty="0">
                    <a:solidFill>
                      <a:srgbClr val="002060"/>
                    </a:solidFill>
                  </a:rPr>
                  <a:t>/predictores lineales e insesgados</a:t>
                </a:r>
                <a:r>
                  <a:rPr lang="es-ES_tradnl" dirty="0"/>
                  <a:t>.</a:t>
                </a:r>
                <a:endParaRPr lang="es-ES_tradnl" b="0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4FF6B-51BF-F700-3A94-38DDEDC2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3B99-3D7E-3E84-6DC1-2CB9E720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Práctica, evaluamos la predicción con…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_tradnl" dirty="0"/>
                  <a:t>RSE (residual standard error)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𝑅𝑆𝑆</m:t>
                        </m:r>
                      </m:e>
                    </m:rad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¿Interpretamos? Los verdaderos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se desvían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verdadera línea de regresión </a:t>
                </a:r>
                <a:r>
                  <a:rPr lang="es-ES_tradnl" dirty="0"/>
                  <a:t>en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en promedio (unidades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 lvl="1"/>
                <a:r>
                  <a:rPr lang="es-ES_tradnl" dirty="0"/>
                  <a:t>Medida de la falta de ajuste del modelo a los datos (</a:t>
                </a:r>
                <a:r>
                  <a:rPr lang="es-ES_tradnl" i="1" dirty="0" err="1"/>
                  <a:t>lack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of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fit</a:t>
                </a:r>
                <a:r>
                  <a:rPr lang="es-ES_tradnl" dirty="0"/>
                  <a:t>)</a:t>
                </a:r>
              </a:p>
              <a:p>
                <a:pPr lvl="2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pequeño</a:t>
                </a:r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8FC2F-F97A-DC13-C495-9F0572B5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8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D2BE23-8A82-477F-431B-D8A3704C3E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Ilustración de la predicción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s-ES_tradnl" dirty="0"/>
                  <a:t> y varianza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D2BE23-8A82-477F-431B-D8A3704C3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125876B2-15C3-8F46-79B6-52B59B74C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3199" y="1690688"/>
            <a:ext cx="7771843" cy="44862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F10F3-AE07-AA79-9430-089233D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6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3B99-3D7E-3E84-6DC1-2CB9E720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la Práctica, evaluamos la predicción con…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Conocido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dirty="0"/>
              </a:p>
              <a:p>
                <a:r>
                  <a:rPr lang="es-ES_tradnl" dirty="0"/>
                  <a:t>¿Interpretación?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F3A00-E5F7-EB3B-7E9A-E9C6312040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8FC2F-F97A-DC13-C495-9F0572B5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44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Predicción y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 cuadrático medio (ECM)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Chapter 2.2. </a:t>
            </a:r>
            <a:r>
              <a:rPr lang="en-US" dirty="0" err="1"/>
              <a:t>en</a:t>
            </a:r>
            <a:r>
              <a:rPr lang="en-US" dirty="0"/>
              <a:t> JAMES, G., WITTEN, D., HASTIE, T. U TIBSHIRANI, T. (2014) </a:t>
            </a:r>
            <a:r>
              <a:rPr lang="en-US" i="1" dirty="0"/>
              <a:t>An Introduction to Statistical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Chapter 2.9 </a:t>
            </a:r>
            <a:r>
              <a:rPr lang="en-US" dirty="0" err="1"/>
              <a:t>en</a:t>
            </a:r>
            <a:r>
              <a:rPr lang="en-US" dirty="0"/>
              <a:t>  HASTIE, T., TIBSHIRANI, T. Y FREEDMAN, J. (2013) </a:t>
            </a:r>
            <a:r>
              <a:rPr lang="en-US" i="1" dirty="0"/>
              <a:t>The Elements of Statistical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8A8F5-B881-1349-5E0E-463B56DE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0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Cuadrático Medio (ECM)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Modelo poblacional: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requiere estimar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Error cuadrático medio: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(1)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Quien es variable aleatoria en (1)</a:t>
                </a:r>
                <a:r>
                  <a:rPr lang="en-US" dirty="0"/>
                  <a:t>?</a:t>
                </a:r>
                <a:endParaRPr lang="es-ES_tradnl" dirty="0"/>
              </a:p>
              <a:p>
                <a:r>
                  <a:rPr lang="es-ES_tradnl" dirty="0"/>
                  <a:t>Recordar: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𝑆𝑒𝑠𝑔𝑜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89711-C709-D516-FEC2-675E29EC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A01A-A9C2-F50E-2E94-C02409B5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EAEC-074C-8F63-B37B-762BEDBB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Descomposición sesgo-varianza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14EF8-9A10-DEE7-2100-989337482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(2)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s-ES_tradnl" sz="1200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7030A0"/>
                    </a:solidFill>
                  </a:rPr>
                  <a:t>Tarea: </a:t>
                </a:r>
                <a:r>
                  <a:rPr lang="es-ES_tradnl" dirty="0"/>
                  <a:t>Obtener la expresión (2)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i="1" dirty="0"/>
                  <a:t>Hint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𝑆𝑒𝑠𝑔𝑜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</a:t>
                </a:r>
              </a:p>
              <a:p>
                <a:pPr marL="457200" lvl="1" indent="0" algn="ctr">
                  <a:lnSpc>
                    <a:spcPct val="100000"/>
                  </a:lnSpc>
                  <a:buNone/>
                </a:pPr>
                <a:r>
                  <a:rPr lang="es-ES_tradnl" dirty="0"/>
                  <a:t>Cuán mal predice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depende de cuán </a:t>
                </a:r>
                <a:r>
                  <a:rPr lang="es-ES_tradnl" dirty="0">
                    <a:solidFill>
                      <a:srgbClr val="0070C0"/>
                    </a:solidFill>
                  </a:rPr>
                  <a:t>descentrado</a:t>
                </a:r>
                <a:r>
                  <a:rPr lang="es-ES_tradnl" dirty="0"/>
                  <a:t> está en relación a la verdad (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</a:t>
                </a:r>
                <a:r>
                  <a:rPr lang="es-ES_tradnl" dirty="0"/>
                  <a:t>) y cuán </a:t>
                </a:r>
                <a:r>
                  <a:rPr lang="es-ES_tradnl" dirty="0">
                    <a:solidFill>
                      <a:srgbClr val="0070C0"/>
                    </a:solidFill>
                  </a:rPr>
                  <a:t>disperso</a:t>
                </a:r>
                <a:r>
                  <a:rPr lang="es-ES_tradnl" dirty="0"/>
                  <a:t> es relación a su propio centro (varianza)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¿Escenarios posibles?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14EF8-9A10-DEE7-2100-989337482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3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24EFC-836B-A496-5BE4-79C29675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94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Vizualizacion</a:t>
            </a:r>
            <a:r>
              <a:rPr lang="es-ES_tradnl" dirty="0"/>
              <a:t> de escenarios posibles</a:t>
            </a:r>
          </a:p>
        </p:txBody>
      </p:sp>
      <p:pic>
        <p:nvPicPr>
          <p:cNvPr id="7" name="Content Placeholder 6" descr="A diagram of a diagram of a high bias&#10;&#10;Description automatically generated with medium confidence">
            <a:extLst>
              <a:ext uri="{FF2B5EF4-FFF2-40B4-BE49-F238E27FC236}">
                <a16:creationId xmlns:a16="http://schemas.microsoft.com/office/drawing/2014/main" id="{21175D07-9AE9-4AA6-A6E1-120E770E7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1184" y="1371600"/>
            <a:ext cx="6775187" cy="5029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879FA3-2F13-4199-C194-41D3C186BFF6}"/>
              </a:ext>
            </a:extLst>
          </p:cNvPr>
          <p:cNvSpPr txBox="1"/>
          <p:nvPr/>
        </p:nvSpPr>
        <p:spPr>
          <a:xfrm>
            <a:off x="2610777" y="6293078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CMSS8"/>
              </a:rPr>
              <a:t>Fuente: https://</a:t>
            </a:r>
            <a:r>
              <a:rPr lang="en-US" sz="800" dirty="0" err="1">
                <a:effectLst/>
                <a:latin typeface="CMSS8"/>
              </a:rPr>
              <a:t>medium.com</a:t>
            </a:r>
            <a:r>
              <a:rPr lang="en-US" sz="800" dirty="0">
                <a:effectLst/>
                <a:latin typeface="CMSS8"/>
              </a:rPr>
              <a:t>/@</a:t>
            </a:r>
            <a:r>
              <a:rPr lang="en-US" sz="800" dirty="0" err="1">
                <a:effectLst/>
                <a:latin typeface="CMSS8"/>
              </a:rPr>
              <a:t>aymantidy</a:t>
            </a:r>
            <a:r>
              <a:rPr lang="en-US" sz="800" dirty="0">
                <a:effectLst/>
                <a:latin typeface="CMSS8"/>
              </a:rPr>
              <a:t>/bias-variance-decomposition-the-story-behind </a:t>
            </a:r>
            <a:endParaRPr lang="en-US" dirty="0">
              <a:effectLst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32A55-D92D-E216-862B-7494F115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Descomposición sesgo-varianza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200000"/>
                  </a:lnSpc>
                  <a:buNone/>
                </a:pPr>
                <a:r>
                  <a:rPr lang="es-ES_tradnl" dirty="0"/>
                  <a:t>Modelo poblacional: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(2)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s-ES_tradnl" dirty="0"/>
                  <a:t>Modelo poblacional general: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𝐸𝐶𝑀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𝑆𝑒𝑠𝑔</m:t>
                    </m:r>
                    <m:sSup>
                      <m:s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(3)</m:t>
                    </m:r>
                  </m:oMath>
                </a14:m>
                <a:r>
                  <a:rPr lang="es-ES_tradnl" i="1" dirty="0">
                    <a:latin typeface="Cambria Math" panose="02040503050406030204" pitchFamily="18" charset="0"/>
                  </a:rPr>
                  <a:t> 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5A721-AD65-8FCE-A752-0B45AB10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81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de predicción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¿Diferencias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𝐸𝐶𝑀</m:t>
                    </m:r>
                  </m:oMath>
                </a14:m>
                <a:r>
                  <a:rPr lang="es-ES_tradnl" dirty="0"/>
                  <a:t>?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,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b="0" dirty="0" err="1">
                    <a:ea typeface="Cambria Math" panose="02040503050406030204" pitchFamily="18" charset="0"/>
                  </a:rPr>
                  <a:t>Suponemos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7030A0"/>
                    </a:solidFill>
                  </a:rPr>
                  <a:t>Resultado 2</a:t>
                </a:r>
                <a:r>
                  <a:rPr lang="es-ES_tradnl" dirty="0"/>
                  <a:t>: el escalar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que </a:t>
                </a:r>
                <a:r>
                  <a:rPr lang="es-ES_tradnl" dirty="0">
                    <a:solidFill>
                      <a:srgbClr val="00B050"/>
                    </a:solidFill>
                  </a:rPr>
                  <a:t>mejor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predice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ES_trad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s-ES_tradnl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5D835-8479-C9F8-17EA-27A2CD61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29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Del ECM al Error de predicción 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reemplazar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ES_tradnl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(una VA).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Expresión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A1B7-A208-B685-DBFC-937A022E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74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EA1-43B9-289B-6E00-41311F6C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Del ECM al Error de predicción II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17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4635500" indent="0" algn="ctr">
                  <a:lnSpc>
                    <a:spcPct val="120000"/>
                  </a:lnSpc>
                  <a:buNone/>
                </a:pPr>
                <a:r>
                  <a:rPr lang="es-ES_tradnl" dirty="0"/>
                  <a:t>Error</a:t>
                </a:r>
                <a:r>
                  <a:rPr lang="es-ES_tradnl" dirty="0">
                    <a:solidFill>
                      <a:srgbClr val="002060"/>
                    </a:solidFill>
                  </a:rPr>
                  <a:t> reducible </a:t>
                </a:r>
                <a:r>
                  <a:rPr lang="es-ES_tradnl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𝐸𝐶𝑀</m:t>
                    </m:r>
                  </m:oMath>
                </a14:m>
                <a:r>
                  <a:rPr lang="es-ES_tradnl" dirty="0"/>
                  <a:t>)     Error </a:t>
                </a:r>
                <a:r>
                  <a:rPr lang="es-ES_tradnl" dirty="0">
                    <a:solidFill>
                      <a:srgbClr val="002060"/>
                    </a:solidFill>
                  </a:rPr>
                  <a:t>irreducible</a:t>
                </a:r>
                <a:r>
                  <a:rPr lang="es-ES_tradnl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)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Link predicción y estimación: </a:t>
                </a:r>
                <a:r>
                  <a:rPr lang="es-ES_tradnl" dirty="0">
                    <a:solidFill>
                      <a:srgbClr val="002060"/>
                    </a:solidFill>
                  </a:rPr>
                  <a:t>Predecir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correctamente</a:t>
                </a:r>
                <a:r>
                  <a:rPr lang="es-ES_tradnl" dirty="0"/>
                  <a:t> requiere </a:t>
                </a:r>
                <a:r>
                  <a:rPr lang="es-ES_tradnl" dirty="0">
                    <a:solidFill>
                      <a:srgbClr val="002060"/>
                    </a:solidFill>
                  </a:rPr>
                  <a:t>estimar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correctamente</a:t>
                </a:r>
                <a:r>
                  <a:rPr lang="es-ES_tradnl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833EB-FEB7-F0E3-3E5C-B0D1D965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A1B7-A208-B685-DBFC-937A022E2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6722B83-7113-090D-0F79-E94930E89C54}"/>
              </a:ext>
            </a:extLst>
          </p:cNvPr>
          <p:cNvSpPr/>
          <p:nvPr/>
        </p:nvSpPr>
        <p:spPr>
          <a:xfrm rot="5400000">
            <a:off x="6938207" y="3649584"/>
            <a:ext cx="240638" cy="2470484"/>
          </a:xfrm>
          <a:prstGeom prst="righ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6122195-B473-DE6C-F13A-CF9F90C0A645}"/>
              </a:ext>
            </a:extLst>
          </p:cNvPr>
          <p:cNvSpPr/>
          <p:nvPr/>
        </p:nvSpPr>
        <p:spPr>
          <a:xfrm rot="5400000">
            <a:off x="8792369" y="4589346"/>
            <a:ext cx="234030" cy="597568"/>
          </a:xfrm>
          <a:prstGeom prst="rightBrac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4482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A84F-B2D0-4A31-59B9-19CBA4D5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del Trade-off Sesgo-varianza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7CD1B5-4F53-5DAB-42F2-7ECBC1A00E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Underfitting </a:t>
            </a:r>
            <a:r>
              <a:rPr lang="en-US" dirty="0"/>
              <a:t>(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izquierdo</a:t>
            </a:r>
            <a:r>
              <a:rPr lang="en-US" dirty="0"/>
              <a:t>)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Alto</a:t>
            </a:r>
            <a:r>
              <a:rPr lang="es-ES_tradnl" dirty="0"/>
              <a:t> sesgo</a:t>
            </a:r>
          </a:p>
          <a:p>
            <a:pPr lvl="1"/>
            <a:r>
              <a:rPr lang="es-ES_tradnl" dirty="0">
                <a:solidFill>
                  <a:srgbClr val="00B050"/>
                </a:solidFill>
              </a:rPr>
              <a:t>Baja</a:t>
            </a:r>
            <a:r>
              <a:rPr lang="es-ES_tradnl" dirty="0"/>
              <a:t> varianza: poco robustos</a:t>
            </a:r>
          </a:p>
          <a:p>
            <a:endParaRPr lang="es-ES_tradnl" sz="1700" dirty="0">
              <a:solidFill>
                <a:srgbClr val="002060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Overfitting </a:t>
            </a:r>
            <a:r>
              <a:rPr lang="en-US" dirty="0"/>
              <a:t>(</a:t>
            </a:r>
            <a:r>
              <a:rPr lang="en-US" dirty="0" err="1"/>
              <a:t>lado</a:t>
            </a:r>
            <a:r>
              <a:rPr lang="en-US" dirty="0"/>
              <a:t> derecho)</a:t>
            </a:r>
            <a:endParaRPr lang="es-ES_tradnl" dirty="0">
              <a:solidFill>
                <a:srgbClr val="002060"/>
              </a:solidFill>
            </a:endParaRPr>
          </a:p>
          <a:p>
            <a:pPr lvl="1"/>
            <a:r>
              <a:rPr lang="es-ES_tradnl" dirty="0">
                <a:solidFill>
                  <a:srgbClr val="00B050"/>
                </a:solidFill>
              </a:rPr>
              <a:t>Bajo</a:t>
            </a:r>
            <a:r>
              <a:rPr lang="es-ES_tradnl" dirty="0"/>
              <a:t> sesgo</a:t>
            </a:r>
          </a:p>
          <a:p>
            <a:pPr lvl="1"/>
            <a:r>
              <a:rPr lang="es-ES_tradnl" dirty="0">
                <a:solidFill>
                  <a:srgbClr val="FF0000"/>
                </a:solidFill>
              </a:rPr>
              <a:t>Alta</a:t>
            </a:r>
            <a:r>
              <a:rPr lang="es-ES_tradnl" dirty="0"/>
              <a:t> varianza: poco robustos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85155-831E-B0EA-9100-D8661D08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6DA853-1984-400D-7CB2-A16813F60331}"/>
              </a:ext>
            </a:extLst>
          </p:cNvPr>
          <p:cNvCxnSpPr/>
          <p:nvPr/>
        </p:nvCxnSpPr>
        <p:spPr>
          <a:xfrm>
            <a:off x="6705600" y="5486400"/>
            <a:ext cx="445008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0B8DD8-9A82-AA54-4B8A-4AFC8B633164}"/>
              </a:ext>
            </a:extLst>
          </p:cNvPr>
          <p:cNvCxnSpPr>
            <a:cxnSpLocks/>
          </p:cNvCxnSpPr>
          <p:nvPr/>
        </p:nvCxnSpPr>
        <p:spPr>
          <a:xfrm flipV="1">
            <a:off x="6705600" y="1538288"/>
            <a:ext cx="0" cy="3948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F941C055-2ED5-AEAD-5A10-841467C2DF0D}"/>
              </a:ext>
            </a:extLst>
          </p:cNvPr>
          <p:cNvSpPr/>
          <p:nvPr/>
        </p:nvSpPr>
        <p:spPr>
          <a:xfrm>
            <a:off x="6979920" y="1844040"/>
            <a:ext cx="3749040" cy="1584959"/>
          </a:xfrm>
          <a:custGeom>
            <a:avLst/>
            <a:gdLst>
              <a:gd name="connsiteX0" fmla="*/ 0 w 3749040"/>
              <a:gd name="connsiteY0" fmla="*/ 0 h 1829151"/>
              <a:gd name="connsiteX1" fmla="*/ 1783080 w 3749040"/>
              <a:gd name="connsiteY1" fmla="*/ 1828800 h 1829151"/>
              <a:gd name="connsiteX2" fmla="*/ 3749040 w 3749040"/>
              <a:gd name="connsiteY2" fmla="*/ 121920 h 182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9040" h="1829151">
                <a:moveTo>
                  <a:pt x="0" y="0"/>
                </a:moveTo>
                <a:cubicBezTo>
                  <a:pt x="579120" y="904240"/>
                  <a:pt x="1158240" y="1808480"/>
                  <a:pt x="1783080" y="1828800"/>
                </a:cubicBezTo>
                <a:cubicBezTo>
                  <a:pt x="2407920" y="1849120"/>
                  <a:pt x="3078480" y="985520"/>
                  <a:pt x="3749040" y="12192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3D1FFB6-78D8-0EBB-A6DF-0507A7381969}"/>
              </a:ext>
            </a:extLst>
          </p:cNvPr>
          <p:cNvSpPr/>
          <p:nvPr/>
        </p:nvSpPr>
        <p:spPr>
          <a:xfrm>
            <a:off x="6979920" y="3428999"/>
            <a:ext cx="4053835" cy="1615442"/>
          </a:xfrm>
          <a:custGeom>
            <a:avLst/>
            <a:gdLst>
              <a:gd name="connsiteX0" fmla="*/ 0 w 4373880"/>
              <a:gd name="connsiteY0" fmla="*/ 0 h 3517945"/>
              <a:gd name="connsiteX1" fmla="*/ 1859280 w 4373880"/>
              <a:gd name="connsiteY1" fmla="*/ 3078480 h 3517945"/>
              <a:gd name="connsiteX2" fmla="*/ 4373880 w 4373880"/>
              <a:gd name="connsiteY2" fmla="*/ 3429000 h 351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3880" h="3517945">
                <a:moveTo>
                  <a:pt x="0" y="0"/>
                </a:moveTo>
                <a:cubicBezTo>
                  <a:pt x="565150" y="1253490"/>
                  <a:pt x="1130300" y="2506980"/>
                  <a:pt x="1859280" y="3078480"/>
                </a:cubicBezTo>
                <a:cubicBezTo>
                  <a:pt x="2588260" y="3649980"/>
                  <a:pt x="3481070" y="3539490"/>
                  <a:pt x="4373880" y="3429000"/>
                </a:cubicBezTo>
              </a:path>
            </a:pathLst>
          </a:cu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A11F7B-5EC0-9BA4-8D35-5F4F702E8CD6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8763000" y="3428695"/>
            <a:ext cx="15240" cy="205770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E14D739F-C089-340F-AAA9-ADA7A8C1B6DB}"/>
              </a:ext>
            </a:extLst>
          </p:cNvPr>
          <p:cNvSpPr/>
          <p:nvPr/>
        </p:nvSpPr>
        <p:spPr>
          <a:xfrm>
            <a:off x="7018030" y="3428999"/>
            <a:ext cx="3749035" cy="1688456"/>
          </a:xfrm>
          <a:custGeom>
            <a:avLst/>
            <a:gdLst>
              <a:gd name="connsiteX0" fmla="*/ 0 w 3810000"/>
              <a:gd name="connsiteY0" fmla="*/ 2971800 h 2983857"/>
              <a:gd name="connsiteX1" fmla="*/ 1752600 w 3810000"/>
              <a:gd name="connsiteY1" fmla="*/ 2529840 h 2983857"/>
              <a:gd name="connsiteX2" fmla="*/ 3810000 w 3810000"/>
              <a:gd name="connsiteY2" fmla="*/ 0 h 2983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0000" h="2983857">
                <a:moveTo>
                  <a:pt x="0" y="2971800"/>
                </a:moveTo>
                <a:cubicBezTo>
                  <a:pt x="558800" y="2998470"/>
                  <a:pt x="1117600" y="3025140"/>
                  <a:pt x="1752600" y="2529840"/>
                </a:cubicBezTo>
                <a:cubicBezTo>
                  <a:pt x="2387600" y="2034540"/>
                  <a:pt x="3098800" y="1017270"/>
                  <a:pt x="3810000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8A6B7A-BAD0-ECD3-09A2-EE33D8FCC149}"/>
              </a:ext>
            </a:extLst>
          </p:cNvPr>
          <p:cNvSpPr txBox="1"/>
          <p:nvPr/>
        </p:nvSpPr>
        <p:spPr>
          <a:xfrm>
            <a:off x="10012675" y="5661199"/>
            <a:ext cx="2042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Complejidad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BFE23A-DA7E-430C-88F1-B7C5E60044EB}"/>
              </a:ext>
            </a:extLst>
          </p:cNvPr>
          <p:cNvSpPr txBox="1"/>
          <p:nvPr/>
        </p:nvSpPr>
        <p:spPr>
          <a:xfrm>
            <a:off x="6736082" y="1213484"/>
            <a:ext cx="1234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800" dirty="0">
                <a:latin typeface="Gill Sans Nova Light" panose="020B0302020104020203" pitchFamily="34" charset="0"/>
              </a:rPr>
              <a:t>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DEC20C-7A1C-6A1B-5FD5-2C27A226DECE}"/>
                  </a:ext>
                </a:extLst>
              </p:cNvPr>
              <p:cNvSpPr txBox="1"/>
              <p:nvPr/>
            </p:nvSpPr>
            <p:spPr>
              <a:xfrm>
                <a:off x="9791695" y="1429078"/>
                <a:ext cx="2263139" cy="582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𝐸𝐶𝑀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ES_tradn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DEC20C-7A1C-6A1B-5FD5-2C27A226D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695" y="1429078"/>
                <a:ext cx="2263139" cy="582019"/>
              </a:xfrm>
              <a:prstGeom prst="rect">
                <a:avLst/>
              </a:prstGeom>
              <a:blipFill>
                <a:blip r:embed="rId3"/>
                <a:stretch>
                  <a:fillRect t="-6383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214FED-C5FA-C3EC-4B4E-8A6747CFC389}"/>
                  </a:ext>
                </a:extLst>
              </p:cNvPr>
              <p:cNvSpPr txBox="1"/>
              <p:nvPr/>
            </p:nvSpPr>
            <p:spPr>
              <a:xfrm>
                <a:off x="9871709" y="2760308"/>
                <a:ext cx="2263139" cy="582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214FED-C5FA-C3EC-4B4E-8A6747CFC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709" y="2760308"/>
                <a:ext cx="2263139" cy="582019"/>
              </a:xfrm>
              <a:prstGeom prst="rect">
                <a:avLst/>
              </a:prstGeom>
              <a:blipFill>
                <a:blip r:embed="rId4"/>
                <a:stretch>
                  <a:fillRect t="-6383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D28084-1807-DBF9-75B3-37645E5D3D7F}"/>
                  </a:ext>
                </a:extLst>
              </p:cNvPr>
              <p:cNvSpPr txBox="1"/>
              <p:nvPr/>
            </p:nvSpPr>
            <p:spPr>
              <a:xfrm>
                <a:off x="9959335" y="4353196"/>
                <a:ext cx="2263139" cy="582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D28084-1807-DBF9-75B3-37645E5D3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335" y="4353196"/>
                <a:ext cx="2263139" cy="582019"/>
              </a:xfrm>
              <a:prstGeom prst="rect">
                <a:avLst/>
              </a:prstGeom>
              <a:blipFill>
                <a:blip r:embed="rId5"/>
                <a:stretch>
                  <a:fillRect t="-6383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45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075D-CB3E-691A-FEFF-CDBCD3DA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 Off Sesgo Varianza: Escenarios posibles</a:t>
            </a:r>
          </a:p>
        </p:txBody>
      </p:sp>
      <p:pic>
        <p:nvPicPr>
          <p:cNvPr id="6" name="Content Placeholder 5" descr="A group of graphs showing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86B0B414-1312-E6E9-BAE5-103B624B8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267" y="1461933"/>
            <a:ext cx="9432286" cy="48944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F2433-41DA-B239-564B-B9764AB6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D18B8-6826-F411-21FB-56684A6CE187}"/>
              </a:ext>
            </a:extLst>
          </p:cNvPr>
          <p:cNvSpPr txBox="1"/>
          <p:nvPr/>
        </p:nvSpPr>
        <p:spPr>
          <a:xfrm>
            <a:off x="10634553" y="5396067"/>
            <a:ext cx="83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p.32</a:t>
            </a:r>
          </a:p>
        </p:txBody>
      </p:sp>
    </p:spTree>
    <p:extLst>
      <p:ext uri="{BB962C8B-B14F-4D97-AF65-F5344CB8AC3E}">
        <p14:creationId xmlns:p14="http://schemas.microsoft.com/office/powerpoint/2010/main" val="2436941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055-51F6-CB70-063D-5660896C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Aprendizaje Automático reduce la 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Usando la descomposición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i="1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Econometría</a:t>
                </a:r>
                <a:r>
                  <a:rPr lang="es-ES_tradnl" i="1" dirty="0"/>
                  <a:t>: 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70C0"/>
                    </a:solidFill>
                  </a:rPr>
                  <a:t>insesgado</a:t>
                </a:r>
                <a:r>
                  <a:rPr lang="es-ES_tradnl" dirty="0"/>
                  <a:t>, minimizar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</m:oMath>
                </a14:m>
                <a:r>
                  <a:rPr lang="es-ES_tradnl" dirty="0"/>
                  <a:t> es minimizar la varianza.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Preferencia lexicográfica por la insesgadez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Machine Learning</a:t>
                </a:r>
                <a:r>
                  <a:rPr lang="es-ES_tradnl" dirty="0"/>
                  <a:t>: estrategias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sesgadas</a:t>
                </a:r>
                <a:r>
                  <a:rPr lang="es-ES_tradnl" dirty="0"/>
                  <a:t> pueden implicar </a:t>
                </a:r>
                <a:r>
                  <a:rPr lang="es-ES_tradnl" dirty="0">
                    <a:solidFill>
                      <a:srgbClr val="002060"/>
                    </a:solidFill>
                  </a:rPr>
                  <a:t>reducción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drástica</a:t>
                </a:r>
                <a:r>
                  <a:rPr lang="es-ES_tradnl" dirty="0"/>
                  <a:t> en la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Puede ser que el mínimo error de pronóstico ocurra para predictores sesgados</a:t>
                </a:r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CA0E5-63BE-F29D-0F71-81D41423A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56136-3CFE-14D9-9CA3-C9DD99B5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75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F3B-DFBC-4E4D-68C3-2B93ECD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5D7-7DC3-A1C1-BF88-F9D56DB5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de Pronóstico y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práctica, usamos Error Cuadrático Promedio (MSE):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Ideal</a:t>
                </a:r>
                <a:r>
                  <a:rPr lang="es-ES_tradnl" dirty="0"/>
                  <a:t>: Ser buenos prediciendo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nuevos datos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predicción de retorno de acciones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Entrenamiento -&gt; uso datos de las ultimas 6 semanas para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Testeo -&gt; ¿seremos buenos para predecir el precio de mañana?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2093" b="-23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6238-8FF2-ABD2-29D0-AF9C144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6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Regresión: Consideraciones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3.2.2.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82F3-43B5-E9FA-3D46-B91FB310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40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FB3359-0F42-8D8C-3B9A-3A9C0621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¿Hay relación entre la respuesta y los predictores?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C148BA9-4BD5-C48C-16CC-AD730E82C7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/>
                  <a:t>Test de hipótesis conjunto -&gt; Test F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_tradnl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ES_tradnl" dirty="0"/>
                  <a:t>: al menos un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distinto de cero</a:t>
                </a:r>
              </a:p>
              <a:p>
                <a:r>
                  <a:rPr lang="es-ES_tradnl" dirty="0"/>
                  <a:t>Estadístico 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C148BA9-4BD5-C48C-16CC-AD730E82C7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1ACA7-3B7D-2CEF-68EB-D042E09C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09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DD3D-F4FC-CEDC-5575-8E932872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¿Hay relación entre la respuesta y los predictores?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Bajo los supuestos del modelo lineal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Bajo la hipótesis nula: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Intuición: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no hay relación -&gt; estadístico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s-ES_tradnl" dirty="0"/>
                  <a:t> es verdadera -&gt;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𝑇𝑆𝑆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𝑅𝑆𝑆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-&gt; estadístico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97A2-0EF6-749A-CA33-F31B4566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7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DD3D-F4FC-CEDC-5575-8E932872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¿Hay relación entre la respuesta y los predictores?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¿Cuán grande tiene que ser F para concluir que hay una relación?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Depende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B050"/>
                    </a:solidFill>
                  </a:rPr>
                  <a:t>grande</a:t>
                </a:r>
                <a:r>
                  <a:rPr lang="es-ES_tradnl" dirty="0"/>
                  <a:t>, un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a penas por arriba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_tradnl" dirty="0"/>
                  <a:t> puede ser suficiente para rechazar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FF0000"/>
                    </a:solidFill>
                  </a:rPr>
                  <a:t>pequeño</a:t>
                </a:r>
                <a:r>
                  <a:rPr lang="es-ES_tradnl" dirty="0"/>
                  <a:t>, necesitamos un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grande. ¿En la práctica? </a:t>
                </a:r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689D3-2CE9-0302-8436-DF107F87F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97A2-0EF6-749A-CA33-F31B4566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9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176B6-6230-C2EF-A2D7-FD6D626A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Método Cuasi-Experimental ¿A qué nos recuerda?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0417E-05C7-5BAA-D6E5-09033AD23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Variables Instrumentales</a:t>
                </a:r>
                <a:r>
                  <a:rPr lang="es-ES_tradnl" dirty="0"/>
                  <a:t>:</a:t>
                </a:r>
              </a:p>
              <a:p>
                <a:pPr lvl="1"/>
                <a:r>
                  <a:rPr lang="es-ES_tradnl" dirty="0"/>
                  <a:t> Instrumento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_tradnl" dirty="0"/>
                  <a:t> para predecir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poder estimar causalmente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Condiciones: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_tradnl" dirty="0"/>
                  <a:t> independiente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 (Restricción de exclusión)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s-ES_tradnl" dirty="0"/>
                  <a:t> relacionado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(Restricción de relevancia) </a:t>
                </a:r>
              </a:p>
              <a:p>
                <a:r>
                  <a:rPr lang="es-ES_tradnl" dirty="0"/>
                  <a:t>En la primera etapa (</a:t>
                </a:r>
                <a:r>
                  <a:rPr lang="es-ES_tradnl" i="1" dirty="0" err="1"/>
                  <a:t>first-stage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estimates</a:t>
                </a:r>
                <a:r>
                  <a:rPr lang="es-ES_tradnl" dirty="0"/>
                  <a:t>) rule </a:t>
                </a:r>
                <a:r>
                  <a:rPr lang="es-ES_tradnl" dirty="0" err="1"/>
                  <a:t>of</a:t>
                </a:r>
                <a:r>
                  <a:rPr lang="es-ES_tradnl" dirty="0"/>
                  <a:t> </a:t>
                </a:r>
                <a:r>
                  <a:rPr lang="es-ES_tradnl" dirty="0" err="1"/>
                  <a:t>thumb</a:t>
                </a:r>
                <a:r>
                  <a:rPr lang="es-ES_tradnl" dirty="0"/>
                  <a:t>:  </a:t>
                </a:r>
                <a:r>
                  <a:rPr lang="es-ES_tradnl" dirty="0">
                    <a:solidFill>
                      <a:srgbClr val="FF0000"/>
                    </a:solidFill>
                  </a:rPr>
                  <a:t>F&gt;50 </a:t>
                </a:r>
              </a:p>
              <a:p>
                <a:pPr lvl="1"/>
                <a:r>
                  <a:rPr lang="es-ES_tradnl" dirty="0"/>
                  <a:t>Si F&lt;50 -&gt; instrumentos débiles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0417E-05C7-5BAA-D6E5-09033AD23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D30B1-7246-DBF0-0B8E-9B36F680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38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E34E-FBA6-5566-8E70-5708DC60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Selección de variables (no automático)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3677-2DEB-29FC-C522-ABA18C230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/>
                  <a:t>A veces interesa si un conjunto de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_tradnl" dirty="0"/>
                  <a:t> es relevante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Se estima un segundo modelo con todos los predictores excepto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_tradnl" dirty="0"/>
                  <a:t> de interés, su suma de los residuos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 y estimamos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3677-2DEB-29FC-C522-ABA18C230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7974C-0626-D0B9-467B-1912CDB0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8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6894-A0B2-1347-0C56-4D21E159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Relación test </a:t>
            </a:r>
            <a:r>
              <a:rPr lang="es-ES_tradnl" i="1" dirty="0"/>
              <a:t>t</a:t>
            </a:r>
            <a:r>
              <a:rPr lang="es-ES_tradnl" dirty="0"/>
              <a:t> y test </a:t>
            </a:r>
            <a:r>
              <a:rPr lang="es-ES_tradnl" i="1" dirty="0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CF2D8-CF74-8744-060F-B57D9F5909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>
                    <a:solidFill>
                      <a:srgbClr val="FF0000"/>
                    </a:solidFill>
                  </a:rPr>
                  <a:t>Resultado</a:t>
                </a:r>
                <a:r>
                  <a:rPr lang="es-ES_tradnl" dirty="0"/>
                  <a:t>: Cada estadístico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del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equivalente</a:t>
                </a:r>
                <a:r>
                  <a:rPr lang="es-ES_tradnl" dirty="0"/>
                  <a:t> 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del segundo modelo sin 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reportan el efecto parcial de sumar la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al modelo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Pregunta del millón</a:t>
                </a:r>
                <a:r>
                  <a:rPr lang="es-ES_tradnl" dirty="0"/>
                  <a:t>: </a:t>
                </a:r>
              </a:p>
              <a:p>
                <a:pPr marL="0" indent="0" algn="ctr">
                  <a:buNone/>
                </a:pPr>
                <a:r>
                  <a:rPr lang="es-ES_tradnl" dirty="0"/>
                  <a:t>¿Por qué necesitamos ver 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estadístico y no nos quedamos solo con el estadistco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de los test de hipótesis individuales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CF2D8-CF74-8744-060F-B57D9F5909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04363-AB1D-65BB-C6F2-6593C4C0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17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30D6-77BE-F44D-8C26-6314738F1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problema lógico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B0787-61D4-7658-7198-03F385EE48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s-ES_tradnl" dirty="0"/>
                  <a:t>Tenemos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es verdadera</a:t>
                </a:r>
              </a:p>
              <a:p>
                <a:r>
                  <a:rPr lang="es-ES_tradnl" dirty="0"/>
                  <a:t> 5% de los p-valores del estadístico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_tradnl" dirty="0"/>
                  <a:t> pueden estar debajo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s-ES_tradnl" dirty="0"/>
                  <a:t> por coincidencia</a:t>
                </a:r>
              </a:p>
              <a:p>
                <a:pPr lvl="1"/>
                <a:r>
                  <a:rPr lang="es-ES_tradnl" dirty="0"/>
                  <a:t>5 predictores que son “significativos estadísticamente” pero en realidad no tienen una asociación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ES_tradnl" dirty="0"/>
                  <a:t> ajusta por número de predictores y observaciones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B0787-61D4-7658-7198-03F385EE48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24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6FB7A-B59B-0AEE-D0CA-FA93064E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42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E06C-EA1D-8414-202D-CE53CBFB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Precisión del Modelo en la Practica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4E499-31F2-A7D7-3529-3E2612F3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317FB6-2E12-3E05-2D53-335BCABA421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65472" y="1690688"/>
              <a:ext cx="10388327" cy="443739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019404">
                      <a:extLst>
                        <a:ext uri="{9D8B030D-6E8A-4147-A177-3AD203B41FA5}">
                          <a16:colId xmlns:a16="http://schemas.microsoft.com/office/drawing/2014/main" val="4285278606"/>
                        </a:ext>
                      </a:extLst>
                    </a:gridCol>
                    <a:gridCol w="7368923">
                      <a:extLst>
                        <a:ext uri="{9D8B030D-6E8A-4147-A177-3AD203B41FA5}">
                          <a16:colId xmlns:a16="http://schemas.microsoft.com/office/drawing/2014/main" val="2964276620"/>
                        </a:ext>
                      </a:extLst>
                    </a:gridCol>
                  </a:tblGrid>
                  <a:tr h="8284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Medidas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Formulas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594413"/>
                      </a:ext>
                    </a:extLst>
                  </a:tr>
                  <a:tr h="1518365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Error residual (RSE, residual standard error)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𝑅𝑆𝑆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4739801"/>
                      </a:ext>
                    </a:extLst>
                  </a:tr>
                  <a:tr h="9888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𝑇𝑆𝑆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𝑅𝑆𝑆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𝑇𝑆𝑆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600469"/>
                      </a:ext>
                    </a:extLst>
                  </a:tr>
                  <a:tr h="1101729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Estadístico 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𝑇𝑆𝑆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𝑅𝑆𝑆</m:t>
                                        </m:r>
                                      </m:e>
                                    </m:d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𝑅𝑆𝑆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/(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_tradnl" sz="28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8526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E317FB6-2E12-3E05-2D53-335BCABA42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609844"/>
                  </p:ext>
                </p:extLst>
              </p:nvPr>
            </p:nvGraphicFramePr>
            <p:xfrm>
              <a:off x="965472" y="1690688"/>
              <a:ext cx="10388327" cy="443739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019404">
                      <a:extLst>
                        <a:ext uri="{9D8B030D-6E8A-4147-A177-3AD203B41FA5}">
                          <a16:colId xmlns:a16="http://schemas.microsoft.com/office/drawing/2014/main" val="4285278606"/>
                        </a:ext>
                      </a:extLst>
                    </a:gridCol>
                    <a:gridCol w="7368923">
                      <a:extLst>
                        <a:ext uri="{9D8B030D-6E8A-4147-A177-3AD203B41FA5}">
                          <a16:colId xmlns:a16="http://schemas.microsoft.com/office/drawing/2014/main" val="2964276620"/>
                        </a:ext>
                      </a:extLst>
                    </a:gridCol>
                  </a:tblGrid>
                  <a:tr h="8284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Medidas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Formulas</a:t>
                          </a:r>
                        </a:p>
                      </a:txBody>
                      <a:tcPr anchor="ctr"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594413"/>
                      </a:ext>
                    </a:extLst>
                  </a:tr>
                  <a:tr h="1518365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Error residual (RSE, residual standard error)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207" t="-55000" r="-172" b="-13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4739801"/>
                      </a:ext>
                    </a:extLst>
                  </a:tr>
                  <a:tr h="9888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0" t="-238462" r="-244118" b="-1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207" t="-238462" r="-172" b="-1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9600469"/>
                      </a:ext>
                    </a:extLst>
                  </a:tr>
                  <a:tr h="1101729">
                    <a:tc>
                      <a:txBody>
                        <a:bodyPr/>
                        <a:lstStyle/>
                        <a:p>
                          <a:r>
                            <a:rPr lang="es-ES_tradnl" sz="2800" dirty="0">
                              <a:latin typeface="Gill Sans Nova Light" panose="020B0302020104020203" pitchFamily="34" charset="0"/>
                            </a:rPr>
                            <a:t>Estadístico 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207" t="-303448" r="-172" b="-1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85260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19393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35D3-D2D8-8CE9-7E34-71C2EDF3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Regresión: Problemas y soluciones practicas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237D6-CECF-D918-3787-01AC784B8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3.3</a:t>
            </a:r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82F3-43B5-E9FA-3D46-B91FB310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13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136D81-D220-F7C4-3ED2-07E82A4D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Extensiones del Modelo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95A943A-28F2-5A6F-848C-CA663CC2D4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Supuestos del modelo regresión lineal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Aditivita</a:t>
                </a:r>
                <a:r>
                  <a:rPr lang="es-ES_tradnl" dirty="0"/>
                  <a:t>: asociación entre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no depende de los otros predictores</a:t>
                </a:r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Incluimos interacciones (¿Ejemplo?)</a:t>
                </a:r>
              </a:p>
              <a:p>
                <a:pPr lvl="1"/>
                <a:r>
                  <a:rPr lang="es-ES_tradnl" dirty="0">
                    <a:solidFill>
                      <a:srgbClr val="002060"/>
                    </a:solidFill>
                  </a:rPr>
                  <a:t>Linealidad</a:t>
                </a:r>
                <a:r>
                  <a:rPr lang="es-ES_tradnl" dirty="0"/>
                  <a:t>: cambios 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asociados con cambios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son constantes y no dependen del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Incluimos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de mayor grado -&gt; Regresión de polinomios (¿Ejemplo?)</a:t>
                </a:r>
              </a:p>
              <a:p>
                <a:pPr lvl="2"/>
                <a:endParaRPr lang="es-ES_tradnl" dirty="0"/>
              </a:p>
              <a:p>
                <a:endParaRPr lang="es-ES_tradnl" dirty="0"/>
              </a:p>
              <a:p>
                <a:pPr lvl="1"/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95A943A-28F2-5A6F-848C-CA663CC2D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F35E-74BB-7EE2-03E3-8465F776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10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CE09-439C-054B-4A83-00470F83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No linealidad de los datos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BD868-920E-E22C-4FC8-F7F8328C8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83708"/>
                <a:ext cx="10515600" cy="1193254"/>
              </a:xfrm>
            </p:spPr>
            <p:txBody>
              <a:bodyPr numCol="2"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Residual plots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Transformaciones no lineales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dirty="0" err="1"/>
                  <a:t>ect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BD868-920E-E22C-4FC8-F7F8328C8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83708"/>
                <a:ext cx="10515600" cy="1193254"/>
              </a:xfrm>
              <a:blipFill>
                <a:blip r:embed="rId2"/>
                <a:stretch>
                  <a:fillRect l="-1206" t="-6316" b="-105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56C15-06E5-E08D-1857-1232F85F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  <p:pic>
        <p:nvPicPr>
          <p:cNvPr id="10" name="Picture 9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F5CB5BCC-AC60-312E-1D5F-FA61E2B4C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005" y="1292180"/>
            <a:ext cx="7539990" cy="3804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78CFE1-CE5A-F88E-F546-0A87F7AC487F}"/>
                  </a:ext>
                </a:extLst>
              </p:cNvPr>
              <p:cNvSpPr txBox="1"/>
              <p:nvPr/>
            </p:nvSpPr>
            <p:spPr>
              <a:xfrm>
                <a:off x="-289560" y="1646138"/>
                <a:ext cx="32918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78CFE1-CE5A-F88E-F546-0A87F7AC4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9560" y="1646138"/>
                <a:ext cx="3291840" cy="523220"/>
              </a:xfrm>
              <a:prstGeom prst="rect">
                <a:avLst/>
              </a:prstGeom>
              <a:blipFill>
                <a:blip r:embed="rId4"/>
                <a:stretch>
                  <a:fillRect t="-4762" b="-95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546D9-C41F-BB46-3C6F-8A1E5523388B}"/>
                  </a:ext>
                </a:extLst>
              </p:cNvPr>
              <p:cNvSpPr txBox="1"/>
              <p:nvPr/>
            </p:nvSpPr>
            <p:spPr>
              <a:xfrm>
                <a:off x="4587240" y="4561175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ES_tradnl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A546D9-C41F-BB46-3C6F-8A1E55233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40" y="4561175"/>
                <a:ext cx="1219200" cy="523220"/>
              </a:xfrm>
              <a:prstGeom prst="rect">
                <a:avLst/>
              </a:prstGeom>
              <a:blipFill>
                <a:blip r:embed="rId5"/>
                <a:stretch>
                  <a:fillRect t="-7143" b="-95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2372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EC9C-2D48-F868-F77F-3360915C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3. Autocorrelación de los errores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22C948-E45F-DF19-67AE-130BCEFEF9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Puede pasar que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En general, subestimamos los verdaderos errores estándar -&gt; sobre rechazamos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</a:t>
                </a:r>
                <a:r>
                  <a:rPr lang="es-ES_tradnl" dirty="0" err="1"/>
                  <a:t>Correlogramas</a:t>
                </a:r>
                <a:endParaRPr lang="es-ES_tradnl" dirty="0"/>
              </a:p>
              <a:p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Modelos de series de tiempo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22C948-E45F-DF19-67AE-130BCEFEF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r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line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20B9232A-3EDE-B4EB-3610-09871BE4DF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5648" y="1447800"/>
            <a:ext cx="5406655" cy="47291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3A5EB-2A93-27AB-8F89-B64439E2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86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58E7-F712-D377-13A3-6311E217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4. Varianza del error no constante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89D498E-EF11-0B89-4C59-4E89608AD3B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Heteroscedasticidad: </a:t>
                </a:r>
              </a:p>
              <a:p>
                <a:pPr lvl="1"/>
                <a:r>
                  <a:rPr lang="en-US" b="0" dirty="0"/>
                  <a:t>No </a:t>
                </a:r>
                <a:r>
                  <a:rPr lang="en-US" b="0" dirty="0" err="1"/>
                  <a:t>cumple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Residual plots </a:t>
                </a:r>
              </a:p>
              <a:p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Estimar errores estándar robustos y </a:t>
                </a:r>
                <a:r>
                  <a:rPr lang="es-ES_tradnl" dirty="0" err="1"/>
                  <a:t>cluster</a:t>
                </a:r>
                <a:endParaRPr lang="es-ES_tradnl" dirty="0"/>
              </a:p>
              <a:p>
                <a:pPr lvl="1"/>
                <a:r>
                  <a:rPr lang="es-ES_tradnl" dirty="0"/>
                  <a:t>Transformar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MC Ponderados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89D498E-EF11-0B89-4C59-4E89608AD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comparison of a diagram&#10;&#10;Description automatically generated with medium confidence">
            <a:extLst>
              <a:ext uri="{FF2B5EF4-FFF2-40B4-BE49-F238E27FC236}">
                <a16:creationId xmlns:a16="http://schemas.microsoft.com/office/drawing/2014/main" id="{3A9DA235-B361-0EE8-780D-0B5B3926D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2145898"/>
            <a:ext cx="6163590" cy="32008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3DD20-13D5-2F67-25ED-EEEF8464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82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922D-CDD1-3773-8A4D-83E51470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5. Outliers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</p:spPr>
            <p:txBody>
              <a:bodyPr numCol="2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Scatter plot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residual plots y studentized residual plot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Una sola observación -&gt; miramos de cerca: ¿es un Messi? =&gt; Eliminamos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 Son varios outliers: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Dummy de </a:t>
                </a:r>
                <a:r>
                  <a:rPr lang="es-ES_tradnl" dirty="0" err="1"/>
                  <a:t>outlier</a:t>
                </a:r>
                <a:r>
                  <a:rPr lang="es-ES_tradnl" dirty="0"/>
                  <a:t> -&gt; probar modelos con y sin la dummy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 err="1"/>
                  <a:t>Trim</a:t>
                </a:r>
                <a:r>
                  <a:rPr lang="es-ES_tradnl" dirty="0"/>
                  <a:t> variable -&gt; 1% superior o inferior -&gt; usamos el 99% de las observaciones restantes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  <a:blipFill>
                <a:blip r:embed="rId2"/>
                <a:stretch>
                  <a:fillRect l="-724" t="-1935" r="-724" b="-32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5AB76-D52F-8762-86C1-6CDBA5FD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  <p:pic>
        <p:nvPicPr>
          <p:cNvPr id="8" name="Picture 7" descr="A diagram of a graph&#10;&#10;Description automatically generated">
            <a:extLst>
              <a:ext uri="{FF2B5EF4-FFF2-40B4-BE49-F238E27FC236}">
                <a16:creationId xmlns:a16="http://schemas.microsoft.com/office/drawing/2014/main" id="{5C7F4AF9-2960-3F59-11AB-C6A3D2336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234440"/>
            <a:ext cx="9174480" cy="29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180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922D-CDD1-3773-8A4D-83E51470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6. High </a:t>
            </a:r>
            <a:r>
              <a:rPr lang="es-ES_tradnl" dirty="0" err="1"/>
              <a:t>Leverage</a:t>
            </a:r>
            <a:r>
              <a:rPr lang="es-ES_tradnl" dirty="0"/>
              <a:t> </a:t>
            </a:r>
            <a:r>
              <a:rPr lang="es-ES_tradnl" dirty="0" err="1"/>
              <a:t>Points</a:t>
            </a:r>
            <a:r>
              <a:rPr lang="es-ES_tradnl" dirty="0"/>
              <a:t> (¿diferencia?)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</p:spPr>
            <p:txBody>
              <a:bodyPr numCol="2"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Ver</a:t>
                </a:r>
                <a:r>
                  <a:rPr lang="es-ES_tradnl" dirty="0"/>
                  <a:t>: Scatter plot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, scatter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y studentized residual y </a:t>
                </a:r>
                <a:r>
                  <a:rPr lang="es-ES_tradnl" dirty="0" err="1"/>
                  <a:t>leverage</a:t>
                </a:r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Estadistico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Leverage</a:t>
                </a:r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25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nary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A mayor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una observación con alto </a:t>
                </a:r>
                <a:r>
                  <a:rPr lang="es-ES_tradnl" dirty="0" err="1"/>
                  <a:t>leverage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A86515-C093-CDC2-6ED4-0F6B59792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21480"/>
                <a:ext cx="10515600" cy="1955482"/>
              </a:xfrm>
              <a:blipFill>
                <a:blip r:embed="rId2"/>
                <a:stretch>
                  <a:fillRect l="-603" t="-1935" b="-219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5AB76-D52F-8762-86C1-6CDBA5FD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  <p:pic>
        <p:nvPicPr>
          <p:cNvPr id="4" name="Picture 3" descr="A graph of a line&#10;&#10;Description automatically generated">
            <a:extLst>
              <a:ext uri="{FF2B5EF4-FFF2-40B4-BE49-F238E27FC236}">
                <a16:creationId xmlns:a16="http://schemas.microsoft.com/office/drawing/2014/main" id="{258BF300-111F-2513-D18B-342031221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126" y="1324134"/>
            <a:ext cx="8617747" cy="289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900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057B-7294-9D5D-19C3-D58BCE37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7. Colinealidad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91D5C2-F2E9-1D95-E4A4-BB1172EA2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Cuando dos o más predictores están altamente correlacionados</a:t>
                </a:r>
              </a:p>
              <a:p>
                <a:r>
                  <a:rPr lang="es-ES_tradnl" dirty="0"/>
                  <a:t>Usamos: </a:t>
                </a:r>
                <a:r>
                  <a:rPr lang="en-US" dirty="0"/>
                  <a:t>Variance inflation factor </a:t>
                </a:r>
                <a:r>
                  <a:rPr lang="es-ES_tradnl" dirty="0"/>
                  <a:t>(VIF)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𝑉𝐼𝐹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457200" lvl="1" indent="0">
                  <a:buNone/>
                </a:pPr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es 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de regresar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en todos los demás predictores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Si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s-ES_tradnl" dirty="0"/>
                  <a:t> se acerca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ES_tradnl" dirty="0"/>
                  <a:t>, tenemos mucha colinealidad, VIF será grande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91D5C2-F2E9-1D95-E4A4-BB1172EA2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DA1D-8827-D437-EBAC-FFD0695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28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7FE-8FB8-4349-A229-6DA7AC2E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Ilustración: ¿Qué pasa con alta multicolinealidad?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6340-4FFD-653D-5547-BD092E0B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3FEFB-EEB5-CF2E-952B-797C07BA8C55}"/>
              </a:ext>
            </a:extLst>
          </p:cNvPr>
          <p:cNvSpPr txBox="1"/>
          <p:nvPr/>
        </p:nvSpPr>
        <p:spPr>
          <a:xfrm>
            <a:off x="1482621" y="620365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107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9" name="Content Placeholder 8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7F95AEA4-FF39-4078-0DD2-1EBE72BCB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474" y="1825625"/>
            <a:ext cx="8601052" cy="4351338"/>
          </a:xfrm>
        </p:spPr>
      </p:pic>
    </p:spTree>
    <p:extLst>
      <p:ext uri="{BB962C8B-B14F-4D97-AF65-F5344CB8AC3E}">
        <p14:creationId xmlns:p14="http://schemas.microsoft.com/office/powerpoint/2010/main" val="1883006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057B-7294-9D5D-19C3-D58BCE37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7. Colinealidad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1D5C2-F2E9-1D95-E4A4-BB1172EA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dirty="0">
                <a:solidFill>
                  <a:srgbClr val="00B050"/>
                </a:solidFill>
              </a:rPr>
              <a:t>Solución</a:t>
            </a:r>
          </a:p>
          <a:p>
            <a:pPr lvl="1"/>
            <a:r>
              <a:rPr lang="es-ES_tradnl" dirty="0"/>
              <a:t>Eliminar uno de los predictores problemáticos</a:t>
            </a:r>
          </a:p>
          <a:p>
            <a:pPr lvl="1"/>
            <a:r>
              <a:rPr lang="es-ES_tradnl" dirty="0"/>
              <a:t>Combinar los predictores (¿Como?)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DA1D-8827-D437-EBAC-FFD0695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595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 </a:t>
            </a:r>
            <a:r>
              <a:rPr lang="es-ES_tradnl" dirty="0"/>
              <a:t>las fortalezas de un modelo de regresión lineal</a:t>
            </a:r>
          </a:p>
          <a:p>
            <a:pPr lvl="1"/>
            <a:r>
              <a:rPr lang="es-ES_tradnl" dirty="0"/>
              <a:t>Modelo general, idea, aproximación, sesgo, MCO</a:t>
            </a:r>
          </a:p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sobre formas de evaluar la precisión de</a:t>
            </a:r>
          </a:p>
          <a:p>
            <a:pPr lvl="1"/>
            <a:r>
              <a:rPr lang="es-ES_tradnl" dirty="0"/>
              <a:t>Coeficientes</a:t>
            </a:r>
          </a:p>
          <a:p>
            <a:pPr lvl="1"/>
            <a:r>
              <a:rPr lang="es-ES_tradnl" dirty="0"/>
              <a:t>Modelo</a:t>
            </a:r>
          </a:p>
          <a:p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nuevamente el ECM y su relación con el Error de Pronostico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 </a:t>
            </a:r>
            <a:r>
              <a:rPr lang="es-ES_tradnl" dirty="0"/>
              <a:t>los resultados de la regresión lineal de la clase pasada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Mencionamos</a:t>
            </a:r>
            <a:r>
              <a:rPr lang="es-ES_tradnl" dirty="0"/>
              <a:t> algunas consideraciones sobre la relación de predictores y el </a:t>
            </a:r>
            <a:r>
              <a:rPr lang="es-ES_tradnl" dirty="0" err="1"/>
              <a:t>outcome</a:t>
            </a:r>
            <a:endParaRPr lang="es-ES_tradnl" dirty="0"/>
          </a:p>
          <a:p>
            <a:pPr lvl="1">
              <a:lnSpc>
                <a:spcPct val="120000"/>
              </a:lnSpc>
            </a:pPr>
            <a:r>
              <a:rPr lang="es-ES_tradnl" dirty="0"/>
              <a:t>Importancia de la predicción en el contexto de IV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Enumeramos </a:t>
            </a:r>
            <a:r>
              <a:rPr lang="es-ES_tradnl" dirty="0"/>
              <a:t>distintos problemas y soluciones cuando hacemos predicción con una regresión lineal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de una base de datos con muchas otras bases de datos harmonizadas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21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Consultas: </a:t>
            </a:r>
            <a:r>
              <a:rPr lang="es-ES_tradnl" dirty="0">
                <a:hlinkClick r:id="rId2"/>
              </a:rPr>
              <a:t>mromero@udesa.edu.ar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59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64-3936-E01F-69E6-755BDAD7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Demostraciones opcionales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BC37-65BC-D07C-22F6-12C163A7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A5B-BB72-FCCC-E30C-19365D0A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3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Demostración Resultado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es insesgado,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es eficiente,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</m:oMath>
                </a14:m>
                <a:r>
                  <a:rPr lang="es-ES_tradnl" dirty="0"/>
                  <a:t> es matriz semidefinida positiva, para cualquier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lineal e insesgado: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En cualquier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s-ES_tradnl" dirty="0"/>
                  <a:t>. En particular para cualquier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Por lo que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es mínimo en la clase de predictores basados en estimadores lineales e insesgados.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 r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FF25E-88EF-3C3B-D1AE-12C57480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5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2631</Words>
  <Application>Microsoft Macintosh PowerPoint</Application>
  <PresentationFormat>Panorámica</PresentationFormat>
  <Paragraphs>415</Paragraphs>
  <Slides>57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6" baseType="lpstr">
      <vt:lpstr>Arial</vt:lpstr>
      <vt:lpstr>Calibri</vt:lpstr>
      <vt:lpstr>Cambria Math</vt:lpstr>
      <vt:lpstr>CMSS8</vt:lpstr>
      <vt:lpstr>Gill Sans Nova Light</vt:lpstr>
      <vt:lpstr>Goudy Old Style</vt:lpstr>
      <vt:lpstr>Times</vt:lpstr>
      <vt:lpstr>Times New Roman</vt:lpstr>
      <vt:lpstr>Office Theme</vt:lpstr>
      <vt:lpstr>Introducción a Métodos Supervisados: Regresión</vt:lpstr>
      <vt:lpstr>Cuestiones operativas del curso: Próximos Deadlines</vt:lpstr>
      <vt:lpstr>En la clase de hoy</vt:lpstr>
      <vt:lpstr>Orden de Temas: Secuencia de Trabajo con Datos</vt:lpstr>
      <vt:lpstr>De la Etapa Explorativa a la Predicción</vt:lpstr>
      <vt:lpstr>Regresión Lineal: Motivación </vt:lpstr>
      <vt:lpstr>Fortalezas del “Modelo Madre”</vt:lpstr>
      <vt:lpstr>Mas Fortalezas del Modelo de Regresión</vt:lpstr>
      <vt:lpstr>Regresión Formalmente</vt:lpstr>
      <vt:lpstr>Regresión Lineal: Motivación</vt:lpstr>
      <vt:lpstr>Regresión Lineal: Foralmente </vt:lpstr>
      <vt:lpstr>Representación Gráfica de MCO</vt:lpstr>
      <vt:lpstr>Ilustración de la minimización de residuos I</vt:lpstr>
      <vt:lpstr>Evaluación de la precisión de los coeficientes I</vt:lpstr>
      <vt:lpstr>Ilustración de Mejor Aproximación Lineal</vt:lpstr>
      <vt:lpstr>Evaluación de la precisión de los coeficientes II</vt:lpstr>
      <vt:lpstr>Predictor óptimo de Y </vt:lpstr>
      <vt:lpstr>En la Práctica, evaluamos la predicción con… </vt:lpstr>
      <vt:lpstr>Ilustración de la predicción y ̂ y varianza</vt:lpstr>
      <vt:lpstr>En la Práctica, evaluamos la predicción con… </vt:lpstr>
      <vt:lpstr>Predicción y Error cuadrático medio (ECM)</vt:lpstr>
      <vt:lpstr>Error Cuadrático Medio (ECM)</vt:lpstr>
      <vt:lpstr>Descomposición sesgo-varianza I</vt:lpstr>
      <vt:lpstr>Vizualizacion de escenarios posibles</vt:lpstr>
      <vt:lpstr>Descomposición sesgo-varianza II</vt:lpstr>
      <vt:lpstr>Error de predicción</vt:lpstr>
      <vt:lpstr>Del ECM al Error de predicción I</vt:lpstr>
      <vt:lpstr>Del ECM al Error de predicción II</vt:lpstr>
      <vt:lpstr>Visualización del Trade-off Sesgo-varianza</vt:lpstr>
      <vt:lpstr>Trade Off Sesgo Varianza: Escenarios posibles</vt:lpstr>
      <vt:lpstr>Aprendizaje Automático reduce la varianza</vt:lpstr>
      <vt:lpstr>Error de Pronóstico y MSE</vt:lpstr>
      <vt:lpstr>Regresión: Consideraciones </vt:lpstr>
      <vt:lpstr>¿Hay relación entre la respuesta y los predictores? I</vt:lpstr>
      <vt:lpstr>¿Hay relación entre la respuesta y los predictores? II</vt:lpstr>
      <vt:lpstr>¿Hay relación entre la respuesta y los predictores? III</vt:lpstr>
      <vt:lpstr>En Método Cuasi-Experimental ¿A qué nos recuerda? </vt:lpstr>
      <vt:lpstr>Selección de variables (no automático)</vt:lpstr>
      <vt:lpstr>Relación test t y test F</vt:lpstr>
      <vt:lpstr>Ilustración del problema lógico </vt:lpstr>
      <vt:lpstr>Precisión del Modelo en la Practica</vt:lpstr>
      <vt:lpstr>Regresión: Problemas y soluciones practicas</vt:lpstr>
      <vt:lpstr>1. Extensiones del Modelo Lineal</vt:lpstr>
      <vt:lpstr>2. No linealidad de los datos</vt:lpstr>
      <vt:lpstr>3. Autocorrelación de los errores</vt:lpstr>
      <vt:lpstr>4. Varianza del error no constante</vt:lpstr>
      <vt:lpstr>5. Outliers</vt:lpstr>
      <vt:lpstr>6. High Leverage Points (¿diferencia?)</vt:lpstr>
      <vt:lpstr>7. Colinealidad I</vt:lpstr>
      <vt:lpstr>Ilustración: ¿Qué pasa con alta multicolinealidad?</vt:lpstr>
      <vt:lpstr>7. Colinealidad II</vt:lpstr>
      <vt:lpstr>Conclusiones finales</vt:lpstr>
      <vt:lpstr>¿Qué aprendimos hoy?</vt:lpstr>
      <vt:lpstr>¿Qué aprendimos hoy?</vt:lpstr>
      <vt:lpstr>¿Dudas, consultas?</vt:lpstr>
      <vt:lpstr>Demostraciones opcionales</vt:lpstr>
      <vt:lpstr>Demostración Resultado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283</cp:revision>
  <dcterms:created xsi:type="dcterms:W3CDTF">2023-06-12T20:51:31Z</dcterms:created>
  <dcterms:modified xsi:type="dcterms:W3CDTF">2025-09-19T19:44:43Z</dcterms:modified>
</cp:coreProperties>
</file>