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493" r:id="rId2"/>
    <p:sldId id="494" r:id="rId3"/>
    <p:sldId id="259" r:id="rId4"/>
    <p:sldId id="406" r:id="rId5"/>
    <p:sldId id="303" r:id="rId6"/>
    <p:sldId id="257" r:id="rId7"/>
    <p:sldId id="410" r:id="rId8"/>
    <p:sldId id="267" r:id="rId9"/>
    <p:sldId id="275" r:id="rId10"/>
    <p:sldId id="412" r:id="rId11"/>
    <p:sldId id="322" r:id="rId12"/>
    <p:sldId id="413" r:id="rId13"/>
    <p:sldId id="486" r:id="rId14"/>
    <p:sldId id="323" r:id="rId15"/>
    <p:sldId id="304" r:id="rId16"/>
    <p:sldId id="272" r:id="rId17"/>
    <p:sldId id="338" r:id="rId18"/>
    <p:sldId id="415" r:id="rId19"/>
    <p:sldId id="416" r:id="rId20"/>
    <p:sldId id="277" r:id="rId21"/>
    <p:sldId id="278" r:id="rId22"/>
    <p:sldId id="279" r:id="rId23"/>
    <p:sldId id="280" r:id="rId24"/>
    <p:sldId id="487" r:id="rId25"/>
    <p:sldId id="314" r:id="rId26"/>
    <p:sldId id="325" r:id="rId27"/>
    <p:sldId id="305" r:id="rId28"/>
    <p:sldId id="261" r:id="rId29"/>
    <p:sldId id="417" r:id="rId30"/>
    <p:sldId id="408" r:id="rId31"/>
    <p:sldId id="284" r:id="rId32"/>
    <p:sldId id="319" r:id="rId33"/>
    <p:sldId id="324" r:id="rId34"/>
    <p:sldId id="492" r:id="rId35"/>
    <p:sldId id="306" r:id="rId36"/>
    <p:sldId id="488" r:id="rId37"/>
    <p:sldId id="445" r:id="rId38"/>
    <p:sldId id="422" r:id="rId39"/>
    <p:sldId id="302" r:id="rId40"/>
    <p:sldId id="308" r:id="rId41"/>
    <p:sldId id="489" r:id="rId42"/>
    <p:sldId id="309" r:id="rId43"/>
    <p:sldId id="420" r:id="rId44"/>
    <p:sldId id="311" r:id="rId45"/>
    <p:sldId id="312" r:id="rId46"/>
    <p:sldId id="313" r:id="rId47"/>
    <p:sldId id="490" r:id="rId48"/>
    <p:sldId id="336" r:id="rId49"/>
    <p:sldId id="337" r:id="rId50"/>
    <p:sldId id="300" r:id="rId51"/>
    <p:sldId id="491" r:id="rId52"/>
    <p:sldId id="407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A5E9202-8AF9-7B42-B817-22D148D689E3}">
          <p14:sldIdLst>
            <p14:sldId id="493"/>
            <p14:sldId id="494"/>
            <p14:sldId id="259"/>
            <p14:sldId id="406"/>
          </p14:sldIdLst>
        </p14:section>
        <p14:section name="Introduccion a clasificacion: Motivacion" id="{F06AC147-1820-E64A-873C-8C467231AE8F}">
          <p14:sldIdLst>
            <p14:sldId id="303"/>
            <p14:sldId id="257"/>
            <p14:sldId id="410"/>
            <p14:sldId id="267"/>
            <p14:sldId id="275"/>
            <p14:sldId id="412"/>
          </p14:sldIdLst>
        </p14:section>
        <p14:section name="Clasificador de Bayes y Modelo de Regresion" id="{75D31724-3B6C-E842-978D-4FEEBABBFA4D}">
          <p14:sldIdLst>
            <p14:sldId id="322"/>
            <p14:sldId id="413"/>
            <p14:sldId id="486"/>
            <p14:sldId id="323"/>
          </p14:sldIdLst>
        </p14:section>
        <p14:section name="Regresion logistica" id="{2E57ED2F-9D3F-B24B-9EE9-DAF2BAA9B52E}">
          <p14:sldIdLst>
            <p14:sldId id="304"/>
            <p14:sldId id="272"/>
            <p14:sldId id="338"/>
            <p14:sldId id="415"/>
          </p14:sldIdLst>
        </p14:section>
        <p14:section name="Maxima Verosimilitud" id="{C7B1B21F-2FF4-3348-A0A0-B4FC4E7A73E8}">
          <p14:sldIdLst>
            <p14:sldId id="416"/>
            <p14:sldId id="277"/>
            <p14:sldId id="278"/>
            <p14:sldId id="279"/>
            <p14:sldId id="280"/>
            <p14:sldId id="487"/>
          </p14:sldIdLst>
        </p14:section>
        <p14:section name="Aplicacion Logit" id="{A93DBF9C-5601-B84F-AF0F-1BE4C76D83D4}">
          <p14:sldIdLst>
            <p14:sldId id="314"/>
            <p14:sldId id="325"/>
          </p14:sldIdLst>
        </p14:section>
        <p14:section name="Vecinos ceranos" id="{5623DDE8-0602-0D4F-AFA1-3B05F3F0BCCE}">
          <p14:sldIdLst>
            <p14:sldId id="305"/>
            <p14:sldId id="261"/>
            <p14:sldId id="417"/>
            <p14:sldId id="408"/>
            <p14:sldId id="284"/>
          </p14:sldIdLst>
        </p14:section>
        <p14:section name="Aplicacion de Vecinos Cercanos" id="{A95A98F8-39CB-444E-BFB7-60CD4FFF73DC}">
          <p14:sldIdLst>
            <p14:sldId id="319"/>
            <p14:sldId id="324"/>
            <p14:sldId id="492"/>
          </p14:sldIdLst>
        </p14:section>
        <p14:section name="Analisis ROC" id="{2E190116-1E3A-0542-A6E8-462CAAD56ED1}">
          <p14:sldIdLst>
            <p14:sldId id="306"/>
            <p14:sldId id="488"/>
            <p14:sldId id="445"/>
            <p14:sldId id="422"/>
            <p14:sldId id="302"/>
            <p14:sldId id="308"/>
            <p14:sldId id="489"/>
            <p14:sldId id="309"/>
            <p14:sldId id="420"/>
            <p14:sldId id="311"/>
            <p14:sldId id="312"/>
          </p14:sldIdLst>
        </p14:section>
        <p14:section name="Comparacion empírica de los clasificadoeres" id="{6B6EB91E-ADAE-2C4E-9155-F5CFFB3076BE}">
          <p14:sldIdLst>
            <p14:sldId id="313"/>
            <p14:sldId id="490"/>
            <p14:sldId id="336"/>
          </p14:sldIdLst>
        </p14:section>
        <p14:section name="Conclusiones finales" id="{30AE4762-25DE-C74D-AF95-4AEC0CC37FB0}">
          <p14:sldIdLst>
            <p14:sldId id="337"/>
            <p14:sldId id="300"/>
            <p14:sldId id="491"/>
            <p14:sldId id="4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88"/>
    <p:restoredTop sz="92450"/>
  </p:normalViewPr>
  <p:slideViewPr>
    <p:cSldViewPr snapToGrid="0">
      <p:cViewPr varScale="1">
        <p:scale>
          <a:sx n="98" d="100"/>
          <a:sy n="98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047155-560D-CC43-A75F-B08C641787EA}" type="datetimeFigureOut">
              <a:rPr lang="en-US" smtClean="0"/>
              <a:t>9/26/25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630DE0-2491-4445-BD47-B1B1930FC5E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210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412AF-8B30-1C4A-9486-8B7EE1FDFB1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92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9431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5168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981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677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dirty="0"/>
              <a:t>* Revisar sección: </a:t>
            </a:r>
            <a:r>
              <a:rPr lang="en-US" dirty="0"/>
              <a:t>Chapter 3.3.1 </a:t>
            </a:r>
            <a:r>
              <a:rPr lang="en-US" dirty="0" err="1"/>
              <a:t>en</a:t>
            </a:r>
            <a:r>
              <a:rPr lang="en-US" dirty="0"/>
              <a:t> JAMES, G., WITTEN, D., HASTIE, T. U TIBSHIRANI, T. (2014) </a:t>
            </a:r>
            <a:r>
              <a:rPr lang="en-US" i="1" dirty="0"/>
              <a:t>An Introduction to Statistical Learning</a:t>
            </a:r>
          </a:p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1026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569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2227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2168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7911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  <a:p>
            <a:r>
              <a:rPr lang="es-ES_tradnl" b="1" dirty="0"/>
              <a:t>Link al </a:t>
            </a:r>
            <a:r>
              <a:rPr lang="es-ES_tradnl" b="1" dirty="0" err="1"/>
              <a:t>paper</a:t>
            </a:r>
            <a:r>
              <a:rPr lang="es-ES_tradnl" b="1" dirty="0"/>
              <a:t>: </a:t>
            </a:r>
            <a:r>
              <a:rPr lang="es-ES_tradnl" dirty="0"/>
              <a:t>https://</a:t>
            </a:r>
            <a:r>
              <a:rPr lang="es-ES_tradnl" dirty="0" err="1"/>
              <a:t>link.springer.com</a:t>
            </a:r>
            <a:r>
              <a:rPr lang="es-ES_tradnl" dirty="0"/>
              <a:t>/</a:t>
            </a:r>
            <a:r>
              <a:rPr lang="es-ES_tradnl" dirty="0" err="1"/>
              <a:t>article</a:t>
            </a:r>
            <a:r>
              <a:rPr lang="es-ES_tradnl" dirty="0"/>
              <a:t>/10.1186/s12992-020-00655-3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7624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ED07FA-7792-F649-B523-FCAF9068A01B}" type="slidenum">
              <a:rPr lang="es-ES_tradnl" smtClean="0"/>
              <a:t>34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503130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ED07FA-7792-F649-B523-FCAF9068A01B}" type="slidenum">
              <a:rPr lang="es-ES_tradnl" smtClean="0"/>
              <a:t>36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16896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E96BF-C587-B9A8-E410-E9AAA9574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C4C3F-5F4E-23D6-CAA5-B0D7EA1BE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CC0B8B-B175-AD18-20C8-1AD2540DE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0D425D-7A35-B6C3-6B99-A21AC6D56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ED07FA-7792-F649-B523-FCAF9068A01B}" type="slidenum">
              <a:rPr lang="es-ES_tradnl" smtClean="0"/>
              <a:t>37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448654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AC975-F2EF-03C7-EA3B-277F3D7A3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BA471-39E5-B5EF-73B8-D7B2FB703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4AB477-B585-909D-1D84-47BF8B5BE1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0CD81-AA6A-6466-4B6D-965B9A06B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ED07FA-7792-F649-B523-FCAF9068A01B}" type="slidenum">
              <a:rPr lang="es-ES_tradnl" smtClean="0"/>
              <a:t>38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235000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ED07FA-7792-F649-B523-FCAF9068A01B}" type="slidenum">
              <a:rPr lang="es-ES_tradnl" smtClean="0"/>
              <a:t>41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247507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ED07FA-7792-F649-B523-FCAF9068A01B}" type="slidenum">
              <a:rPr lang="es-ES_tradnl" smtClean="0"/>
              <a:t>46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7863596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ED07FA-7792-F649-B523-FCAF9068A01B}" type="slidenum">
              <a:rPr lang="es-ES_tradnl" smtClean="0"/>
              <a:t>49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07228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CB98C-7E11-E20C-7CA1-01CA7BC60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8FC3A6-7EF0-25DE-49FD-093DABEA40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BDF46-6163-6B81-C8F2-2AFCA65AD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8C366-551D-FE97-2B1D-32127BF38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01B1D-ECC1-F92A-E5F2-CCE79365E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386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0CDC1-3848-0D97-B7AC-87941E6A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930B0-69E0-A392-06B3-B0B255B70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B745A-C184-9A02-3478-963C49CD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E6306-932B-2678-8102-D5B1FF6A8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FBCBB-A717-3F86-896B-2E915566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4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2CE9D-254D-F34F-04CD-7171E08AA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3A657-71FF-6D0F-FA99-85DC67E6E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D6D25-137F-9F92-60F0-FB0CA02E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048134-AEC4-52EE-619E-153EC79DA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E28-6B6A-F6F8-4722-E4543D315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86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31D6C-E496-E079-CBB1-0568125CB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E5603-C8AA-9A92-329E-1802B5F592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50DDA-AA05-B9E0-6968-15C94DE92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F06625-219C-99D2-3E54-1E8F41B24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BABBC7-B012-FDE4-EA5B-0F69DA2EA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5FDEE-8F41-2CAA-8017-4038F3B81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56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BA04D-9D5C-EB18-C5D0-F76A09B06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72525-56CB-7F89-4E11-9F3346C59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198E8-A9B1-48FB-F54D-A3A92D36D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21E517-63E9-95AE-DECC-CFC5865D18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42A0CC-FDD5-8EAE-60EC-D76CDDC97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DA6C08-7F94-962B-4B6D-4E592F0E2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6DBB8B-904B-340C-44C2-AEB8E734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57219B-396C-1FD3-E2D2-AE4347275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64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471B7-64C8-5681-B050-6630E1012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026AF0-FBD4-6543-A23B-33B8EC5C6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316-ECA6-24C4-30E6-F285BB5BB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F1D056-F9AE-1692-E81E-AF758FCCC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57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A10710-3846-C9D7-2144-F947912C5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8AC6AD-5E2E-A761-7126-579D50261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F490D8-22CE-08FF-C435-CF9436B20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12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C159F-BCFE-0041-5B65-0F7FC249D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DE978-B876-7F13-E812-15175B9B4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7065CE-0860-1EFD-1CD1-8D84398DFB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E4DE7-1714-6B66-42FD-77D069D7B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5CCE9F-F437-9F8B-15B0-8576AFF53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9748-1BAE-0CB1-1ED5-9FF402F0A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604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5094-D299-E460-49A2-D005A07AC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9A670-8C5F-885F-FB89-1940119E60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F02C41-9999-BFD6-AEAD-EB346FCC3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E5BE73-C51E-CB3B-FD3F-C461033F7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5D6684-3CE0-4A83-95A6-6EBB09496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73D51-51CE-D827-C1EE-C87D922E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015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36847-10A3-1E86-2365-C19719B4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F4D640-C06A-7E21-00D5-44964ADC6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FEB36-D0A3-DD5E-C201-B27A7169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6C4C8-11C3-310B-0494-5A9A39C6A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3FB9E-F285-F7AE-0E8F-94E443916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31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9591E1-25BE-1B7D-2747-B206B76901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C95D2-79AD-B457-5041-AF0BC72AD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D9B71-7EFC-DD71-1559-F745192F9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FD8D1-6C57-FE1E-C640-C760ABFFA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79F31-ACBF-4495-3650-1BBE0598F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17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CE12EA-8A8E-06EC-6E57-8E5E96C51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40FE1-91A8-46C3-32E1-30AAA21A9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 noProof="0"/>
              <a:t>Click to edit Master text styles</a:t>
            </a:r>
          </a:p>
          <a:p>
            <a:pPr lvl="1"/>
            <a:r>
              <a:rPr lang="es-ES_tradnl" noProof="0"/>
              <a:t>Second level</a:t>
            </a:r>
          </a:p>
          <a:p>
            <a:pPr lvl="2"/>
            <a:r>
              <a:rPr lang="es-ES_tradnl" noProof="0"/>
              <a:t>Third level</a:t>
            </a:r>
          </a:p>
          <a:p>
            <a:pPr lvl="3"/>
            <a:r>
              <a:rPr lang="es-ES_tradnl" noProof="0"/>
              <a:t>Fourth level</a:t>
            </a:r>
          </a:p>
          <a:p>
            <a:pPr lvl="4"/>
            <a:r>
              <a:rPr lang="es-ES_tradnl" noProof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69DB0-88CE-6331-AB80-0CB309875B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A7EB1630-065F-844C-B6A7-8C58AC6D2693}" type="datetimeFigureOut">
              <a:rPr lang="es-ES_tradnl" noProof="0" smtClean="0"/>
              <a:pPr/>
              <a:t>26/9/25</a:t>
            </a:fld>
            <a:endParaRPr lang="es-ES_tradnl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5CBFB-E83F-ED57-BB3C-53CCB66624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endParaRPr lang="es-ES_tradnl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DCCDE-D195-0527-335D-0AECD8803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278C1CC4-2077-434E-BCF1-5D01C08A9B17}" type="slidenum">
              <a:rPr lang="es-ES_tradnl" noProof="0" smtClean="0"/>
              <a:pPr/>
              <a:t>‹Nº›</a:t>
            </a:fld>
            <a:endParaRPr lang="es-ES_tradnl" noProof="0"/>
          </a:p>
        </p:txBody>
      </p:sp>
    </p:spTree>
    <p:extLst>
      <p:ext uri="{BB962C8B-B14F-4D97-AF65-F5344CB8AC3E}">
        <p14:creationId xmlns:p14="http://schemas.microsoft.com/office/powerpoint/2010/main" val="24809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2060"/>
          </a:solidFill>
          <a:latin typeface="Goudy Old Style" panose="02020502050305020303" pitchFamily="18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calendly.com/m-n-romero91/30min-office-hour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10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eaweb.org/articles?id=10.1257/jep.15.4.43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1.png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39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3.png"/><Relationship Id="rId5" Type="http://schemas.openxmlformats.org/officeDocument/2006/relationships/image" Target="../media/image41.png"/><Relationship Id="rId10" Type="http://schemas.openxmlformats.org/officeDocument/2006/relationships/image" Target="../media/image47.png"/><Relationship Id="rId4" Type="http://schemas.openxmlformats.org/officeDocument/2006/relationships/image" Target="../media/image27.png"/><Relationship Id="rId9" Type="http://schemas.openxmlformats.org/officeDocument/2006/relationships/image" Target="../media/image4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mailto:mromero@udesa.edu.a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2C8F4-54CC-EED9-C31F-8F80FFB62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46910"/>
            <a:ext cx="9144000" cy="2387600"/>
          </a:xfrm>
        </p:spPr>
        <p:txBody>
          <a:bodyPr>
            <a:normAutofit/>
          </a:bodyPr>
          <a:lstStyle/>
          <a:p>
            <a:r>
              <a:rPr lang="es-ES" sz="4400" kern="1400" dirty="0">
                <a:cs typeface="Times New Roman" panose="02020603050405020304" pitchFamily="18" charset="0"/>
              </a:rPr>
              <a:t>Problema de Clasificación:</a:t>
            </a:r>
            <a:br>
              <a:rPr lang="es-ES" sz="4400" kern="1400" dirty="0">
                <a:cs typeface="Times New Roman" panose="02020603050405020304" pitchFamily="18" charset="0"/>
              </a:rPr>
            </a:br>
            <a:r>
              <a:rPr lang="es-ES" sz="4400" kern="1400" dirty="0">
                <a:cs typeface="Times New Roman" panose="02020603050405020304" pitchFamily="18" charset="0"/>
              </a:rPr>
              <a:t>Logit, KNN y Curvas ROC</a:t>
            </a:r>
            <a:endParaRPr lang="en-US" sz="14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55BDD-1493-5FB8-8EDB-106F9B3629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9115"/>
            <a:ext cx="9144000" cy="1655762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rgbClr val="000000"/>
                </a:solidFill>
                <a:effectLst/>
                <a:latin typeface="Gill Sans Nova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María Noelia Romero</a:t>
            </a:r>
            <a:r>
              <a:rPr lang="en-US" sz="4000" dirty="0">
                <a:effectLst/>
              </a:rPr>
              <a:t> </a:t>
            </a:r>
            <a:endParaRPr lang="en-US" sz="4000" dirty="0"/>
          </a:p>
          <a:p>
            <a:r>
              <a:rPr lang="es-ES" sz="2800" dirty="0">
                <a:solidFill>
                  <a:srgbClr val="000000"/>
                </a:solidFill>
                <a:latin typeface="Gill Sans Nova Light" panose="020F0302020204030204" pitchFamily="34" charset="0"/>
                <a:cs typeface="Times New Roman" panose="02020603050405020304" pitchFamily="18" charset="0"/>
              </a:rPr>
              <a:t>Clase 6 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EADCD9-CEB1-5D1E-D7AC-167899E21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027F2D-CC52-462D-4A92-C7C4502C71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50" y="853123"/>
            <a:ext cx="1463040" cy="1463040"/>
          </a:xfrm>
          <a:prstGeom prst="rect">
            <a:avLst/>
          </a:prstGeom>
        </p:spPr>
      </p:pic>
      <p:pic>
        <p:nvPicPr>
          <p:cNvPr id="6" name="Picture 5" descr="A blue and yellow logo&#10;&#10;Description automatically generated">
            <a:extLst>
              <a:ext uri="{FF2B5EF4-FFF2-40B4-BE49-F238E27FC236}">
                <a16:creationId xmlns:a16="http://schemas.microsoft.com/office/drawing/2014/main" id="{939E0972-AB4F-C51D-7B38-9F10B613F9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2007" y="849631"/>
            <a:ext cx="1271793" cy="146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331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F5168-5457-EEB9-2127-27DFCC8EE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4400" dirty="0"/>
              <a:t>Cuestiones operativas del curso: </a:t>
            </a:r>
            <a:r>
              <a:rPr lang="es-ES_tradnl" sz="4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Próximos </a:t>
            </a:r>
            <a:r>
              <a:rPr lang="es-ES_tradnl" sz="4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Deadlines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83FBD-7284-DC97-84C0-7A38FB74C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s-ES_tradnl" dirty="0">
                <a:solidFill>
                  <a:srgbClr val="002060"/>
                </a:solidFill>
              </a:rPr>
              <a:t>TP3: </a:t>
            </a:r>
            <a:r>
              <a:rPr lang="es-ES_tradnl" dirty="0"/>
              <a:t>Disponible pronto. </a:t>
            </a:r>
            <a:r>
              <a:rPr lang="es-ES_tradnl" dirty="0">
                <a:solidFill>
                  <a:schemeClr val="accent2"/>
                </a:solidFill>
              </a:rPr>
              <a:t>Martes 14 de octubre</a:t>
            </a:r>
            <a:endParaRPr lang="es-ES_tradnl" dirty="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s-ES_tradnl" dirty="0">
                <a:solidFill>
                  <a:srgbClr val="002060"/>
                </a:solidFill>
              </a:rPr>
              <a:t>Consultas</a:t>
            </a:r>
            <a:r>
              <a:rPr lang="es-ES_tradnl" dirty="0"/>
              <a:t>: online </a:t>
            </a:r>
            <a:r>
              <a:rPr lang="es-ES_tradnl" dirty="0">
                <a:hlinkClick r:id="rId2"/>
              </a:rPr>
              <a:t>Calendly</a:t>
            </a:r>
            <a:r>
              <a:rPr lang="es-ES_tradnl" dirty="0"/>
              <a:t>, email para presencial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8B716-D772-C5D0-8F2B-0FC170A12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906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E00F5-C7EE-2CC9-E9BA-CD7EB57AF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En la clase de hoy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8327E-74B0-5F1D-D3E8-C9714B43F8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ES_tradnl" dirty="0"/>
              <a:t>0. Repaso y Preguntas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s-ES_tradnl" dirty="0"/>
              <a:t>Motivación: Clasificación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s-ES_tradnl" dirty="0"/>
              <a:t>Clasificador de Bayes -&gt; Intuitivamente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s-ES_tradnl" dirty="0"/>
              <a:t>Regresión logística -&gt; Repaso de MV &amp; Aplicación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s-ES_tradnl" dirty="0"/>
              <a:t>Vecinos cercanos -&gt; Aplicación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s-ES_tradnl" dirty="0"/>
              <a:t>Introducción al análisis discriminante</a:t>
            </a:r>
          </a:p>
          <a:p>
            <a:pPr marL="0" indent="0">
              <a:lnSpc>
                <a:spcPct val="150000"/>
              </a:lnSpc>
              <a:buNone/>
            </a:pP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4169880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9A790-8125-0419-9C63-AD7B89D79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De la Etapa Explorativa a la Predicción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08559E05-DBC3-8301-D584-275312741E4C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617621" y="1496447"/>
              <a:ext cx="10956757" cy="4724400"/>
            </p:xfrm>
            <a:graphic>
              <a:graphicData uri="http://schemas.openxmlformats.org/drawingml/2006/table">
                <a:tbl>
                  <a:tblPr firstRow="1" bandRow="1">
                    <a:tableStyleId>{F2DE63D5-997A-4646-A377-4702673A728D}</a:tableStyleId>
                  </a:tblPr>
                  <a:tblGrid>
                    <a:gridCol w="1540043">
                      <a:extLst>
                        <a:ext uri="{9D8B030D-6E8A-4147-A177-3AD203B41FA5}">
                          <a16:colId xmlns:a16="http://schemas.microsoft.com/office/drawing/2014/main" val="1029663632"/>
                        </a:ext>
                      </a:extLst>
                    </a:gridCol>
                    <a:gridCol w="1915804">
                      <a:extLst>
                        <a:ext uri="{9D8B030D-6E8A-4147-A177-3AD203B41FA5}">
                          <a16:colId xmlns:a16="http://schemas.microsoft.com/office/drawing/2014/main" val="3989478329"/>
                        </a:ext>
                      </a:extLst>
                    </a:gridCol>
                    <a:gridCol w="5265262">
                      <a:extLst>
                        <a:ext uri="{9D8B030D-6E8A-4147-A177-3AD203B41FA5}">
                          <a16:colId xmlns:a16="http://schemas.microsoft.com/office/drawing/2014/main" val="1368382703"/>
                        </a:ext>
                      </a:extLst>
                    </a:gridCol>
                    <a:gridCol w="2235648">
                      <a:extLst>
                        <a:ext uri="{9D8B030D-6E8A-4147-A177-3AD203B41FA5}">
                          <a16:colId xmlns:a16="http://schemas.microsoft.com/office/drawing/2014/main" val="995975348"/>
                        </a:ext>
                      </a:extLst>
                    </a:gridCol>
                  </a:tblGrid>
                  <a:tr h="749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Etapas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Tipo de Aprendizaje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Idea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Métodos</a:t>
                          </a: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67572"/>
                      </a:ext>
                    </a:extLst>
                  </a:tr>
                  <a:tr h="899255">
                    <a:tc rowSpan="2"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Explorativa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Aprendizaje No Supervisado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No hay un </a:t>
                          </a:r>
                          <a:r>
                            <a:rPr lang="es-ES_tradnl" sz="2200" dirty="0">
                              <a:solidFill>
                                <a:srgbClr val="002060"/>
                              </a:solidFill>
                              <a:latin typeface="Gill Sans Nova Light" panose="020B0302020104020203" pitchFamily="34" charset="0"/>
                            </a:rPr>
                            <a:t>output</a:t>
                          </a: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que se busca predecir</a:t>
                          </a:r>
                        </a:p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N observaciones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200" b="0" dirty="0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, …,</m:t>
                                  </m:r>
                                  <m:sSub>
                                    <m:sSubPr>
                                      <m:ctrlPr>
                                        <a:rPr lang="en-US" sz="22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200" b="0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PCA</a:t>
                          </a:r>
                        </a:p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Clusters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2145790582"/>
                      </a:ext>
                    </a:extLst>
                  </a:tr>
                  <a:tr h="1039834">
                    <a:tc v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Explorativa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Aprendizaje Supervisado</a:t>
                          </a:r>
                        </a:p>
                      </a:txBody>
                      <a:tcPr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Predecir distribución de un variable de interés </a:t>
                          </a:r>
                        </a:p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variable de interés</a:t>
                          </a:r>
                        </a:p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n-US" sz="2200" b="0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_tradnl" sz="2200" b="0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</m:oMath>
                          </a14:m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distribución de </a:t>
                          </a:r>
                          <a14:m>
                            <m:oMath xmlns:m="http://schemas.openxmlformats.org/officeDocument/2006/math">
                              <m:r>
                                <a:rPr lang="es-ES_tradnl" sz="2200" dirty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Histogramas</a:t>
                          </a:r>
                        </a:p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Kernels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33332684"/>
                      </a:ext>
                    </a:extLst>
                  </a:tr>
                  <a:tr h="1723164"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Modelos y Predicción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Aprendizaje Supervisado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b="1" dirty="0">
                              <a:latin typeface="Gill Sans Nova Light" panose="020B0302020104020203" pitchFamily="34" charset="0"/>
                            </a:rPr>
                            <a:t>Predecir</a:t>
                          </a: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: </a:t>
                          </a:r>
                          <a14:m>
                            <m:oMath xmlns:m="http://schemas.openxmlformats.org/officeDocument/2006/math"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= (</m:t>
                              </m:r>
                              <m:sSub>
                                <m:sSub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2200" b="0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200" b="0" dirty="0" smtClean="0">
                                  <a:latin typeface="Cambria Math" panose="02040503050406030204" pitchFamily="18" charset="0"/>
                                </a:rPr>
                                <m:t>,…, </m:t>
                              </m:r>
                              <m:sSub>
                                <m:sSub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Inputs: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= (</m:t>
                              </m:r>
                              <m:sSub>
                                <m:sSub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200" b="0" dirty="0" smtClean="0">
                                  <a:latin typeface="Cambria Math" panose="02040503050406030204" pitchFamily="18" charset="0"/>
                                </a:rPr>
                                <m:t>,…, </m:t>
                              </m:r>
                              <m:sSub>
                                <m:sSub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  <a:p>
                          <a:endParaRPr lang="es-ES_tradnl" sz="1200" dirty="0">
                            <a:latin typeface="Gill Sans Nova Light" panose="020B0302020104020203" pitchFamily="34" charset="0"/>
                          </a:endParaRPr>
                        </a:p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cuantitativo -&gt;</a:t>
                          </a:r>
                          <a:r>
                            <a:rPr lang="es-ES_tradnl" sz="2200" baseline="0" dirty="0">
                              <a:latin typeface="Gill Sans Nova Light" panose="020B0302020104020203" pitchFamily="34" charset="0"/>
                            </a:rPr>
                            <a:t> Regresión</a:t>
                          </a:r>
                        </a:p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binaria</a:t>
                          </a:r>
                          <a:r>
                            <a:rPr lang="es-ES_tradnl" sz="2200" baseline="0" dirty="0">
                              <a:latin typeface="Gill Sans Nova Light" panose="020B0302020104020203" pitchFamily="34" charset="0"/>
                            </a:rPr>
                            <a:t> o categórica -&gt; Clasificación</a:t>
                          </a:r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MCO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 err="1">
                              <a:latin typeface="Gill Sans Nova Light" panose="020B0302020104020203" pitchFamily="34" charset="0"/>
                            </a:rPr>
                            <a:t>Logit</a:t>
                          </a: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, LDA, QDA, KNN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Y otros…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154157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08559E05-DBC3-8301-D584-275312741E4C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31141794"/>
                  </p:ext>
                </p:extLst>
              </p:nvPr>
            </p:nvGraphicFramePr>
            <p:xfrm>
              <a:off x="617621" y="1496447"/>
              <a:ext cx="10956757" cy="4724400"/>
            </p:xfrm>
            <a:graphic>
              <a:graphicData uri="http://schemas.openxmlformats.org/drawingml/2006/table">
                <a:tbl>
                  <a:tblPr firstRow="1" bandRow="1">
                    <a:tableStyleId>{F2DE63D5-997A-4646-A377-4702673A728D}</a:tableStyleId>
                  </a:tblPr>
                  <a:tblGrid>
                    <a:gridCol w="1540043">
                      <a:extLst>
                        <a:ext uri="{9D8B030D-6E8A-4147-A177-3AD203B41FA5}">
                          <a16:colId xmlns:a16="http://schemas.microsoft.com/office/drawing/2014/main" val="1029663632"/>
                        </a:ext>
                      </a:extLst>
                    </a:gridCol>
                    <a:gridCol w="1915804">
                      <a:extLst>
                        <a:ext uri="{9D8B030D-6E8A-4147-A177-3AD203B41FA5}">
                          <a16:colId xmlns:a16="http://schemas.microsoft.com/office/drawing/2014/main" val="3989478329"/>
                        </a:ext>
                      </a:extLst>
                    </a:gridCol>
                    <a:gridCol w="5265262">
                      <a:extLst>
                        <a:ext uri="{9D8B030D-6E8A-4147-A177-3AD203B41FA5}">
                          <a16:colId xmlns:a16="http://schemas.microsoft.com/office/drawing/2014/main" val="1368382703"/>
                        </a:ext>
                      </a:extLst>
                    </a:gridCol>
                    <a:gridCol w="2235648">
                      <a:extLst>
                        <a:ext uri="{9D8B030D-6E8A-4147-A177-3AD203B41FA5}">
                          <a16:colId xmlns:a16="http://schemas.microsoft.com/office/drawing/2014/main" val="995975348"/>
                        </a:ext>
                      </a:extLst>
                    </a:gridCol>
                  </a:tblGrid>
                  <a:tr h="762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Etapas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Tipo de Aprendizaje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Idea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Métodos</a:t>
                          </a: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67572"/>
                      </a:ext>
                    </a:extLst>
                  </a:tr>
                  <a:tr h="1097280">
                    <a:tc rowSpan="2"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Explorativa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Aprendizaje No Supervisado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5783" t="-72414" r="-42651" b="-2655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PCA</a:t>
                          </a:r>
                        </a:p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Clusters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2145790582"/>
                      </a:ext>
                    </a:extLst>
                  </a:tr>
                  <a:tr h="1097280">
                    <a:tc v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Explorativa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Aprendizaje Supervisado</a:t>
                          </a:r>
                        </a:p>
                      </a:txBody>
                      <a:tcPr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5783" t="-174419" r="-42651" b="-1686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Histogramas</a:t>
                          </a:r>
                        </a:p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Kernels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33332684"/>
                      </a:ext>
                    </a:extLst>
                  </a:tr>
                  <a:tr h="1767840"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Modelos y Predicción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Aprendizaje Supervisado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5783" t="-168571" r="-42651" b="-3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MCO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 err="1">
                              <a:latin typeface="Gill Sans Nova Light" panose="020B0302020104020203" pitchFamily="34" charset="0"/>
                            </a:rPr>
                            <a:t>Logit</a:t>
                          </a: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, LDA, QDA, KNN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Y otros…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1541577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B742BB-420A-39A8-1250-F8C947C8F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411E09-9C93-2937-FA98-0414F500111B}"/>
              </a:ext>
            </a:extLst>
          </p:cNvPr>
          <p:cNvSpPr/>
          <p:nvPr/>
        </p:nvSpPr>
        <p:spPr>
          <a:xfrm>
            <a:off x="4058653" y="5727338"/>
            <a:ext cx="4812631" cy="4170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dirty="0"/>
              <a:t>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51059B-F693-3AB2-5ECB-B9BC8A48F24B}"/>
              </a:ext>
            </a:extLst>
          </p:cNvPr>
          <p:cNvSpPr/>
          <p:nvPr/>
        </p:nvSpPr>
        <p:spPr>
          <a:xfrm>
            <a:off x="9648281" y="4812184"/>
            <a:ext cx="1535534" cy="691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94729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2471-9418-E3E3-C7E5-30087178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Clasificación: Motivación y primeras definiciones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80597-6948-B78E-E6E3-6E4F9F13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 4.1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220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928D-A2F2-F5F0-0018-094C88CCA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Motivación: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Decisiones con varias opciones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51C54-6391-40F9-DD28-4D35AA1D7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s-ES_tradnl" b="1" dirty="0"/>
              <a:t>Consumidores u Hogares </a:t>
            </a:r>
            <a:r>
              <a:rPr lang="es-ES_tradnl" dirty="0"/>
              <a:t>: 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{comprar, no comprar} 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{trabajar, no trabajar}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{Estudiar curso online, Maestría, Doctorado}</a:t>
            </a:r>
          </a:p>
          <a:p>
            <a:pPr>
              <a:lnSpc>
                <a:spcPct val="150000"/>
              </a:lnSpc>
            </a:pPr>
            <a:r>
              <a:rPr lang="es-ES_tradnl" b="1" dirty="0"/>
              <a:t>Productores/inversores</a:t>
            </a:r>
            <a:r>
              <a:rPr lang="es-ES_tradnl" dirty="0"/>
              <a:t>: 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{contratar, no contratar}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{Asegurar, no asegurar}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{Vender acciones, retener las acciones, comprar nuevas acciones}</a:t>
            </a:r>
          </a:p>
          <a:p>
            <a:pPr marL="0" indent="0">
              <a:lnSpc>
                <a:spcPct val="150000"/>
              </a:lnSpc>
              <a:buNone/>
            </a:pP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5474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5C0F7-D8DE-067F-FCE3-CE63898B2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BCD33-E785-6087-D81C-5B1E1A0D6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Motivación: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Decisiones con varias opciones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687DC-C3AD-07D7-21D5-0DF04D9A3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s-ES_tradnl" b="1" dirty="0"/>
              <a:t>Gobierno sujeto a acuerdos y ciclo electoral</a:t>
            </a:r>
            <a:r>
              <a:rPr lang="es-ES_tradnl" dirty="0"/>
              <a:t>: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{Subir impuestos, no subir impuestos}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{Gastar, no gastar}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{reformar una ley, proponer una nueva ley, derogar una ley}</a:t>
            </a:r>
          </a:p>
          <a:p>
            <a:pPr marL="0" indent="0">
              <a:lnSpc>
                <a:spcPct val="150000"/>
              </a:lnSpc>
              <a:buNone/>
            </a:pP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44057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0E4FD-2DBC-AAD4-5AD2-71B1A7DA0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Teoría de decisión y Matriz de posibilidades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s-ES_tradnl" dirty="0"/>
                  <a:t>Observado (decisión)</a:t>
                </a:r>
                <a:r>
                  <a:rPr lang="es-ES_tradnl" b="0" dirty="0"/>
                  <a:t>: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d>
                      <m:dPr>
                        <m:begChr m:val="{"/>
                        <m:endChr m:val="}"/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s-ES_tradnl" dirty="0"/>
              </a:p>
              <a:p>
                <a:r>
                  <a:rPr lang="es-ES_tradnl" dirty="0"/>
                  <a:t>Predicciones de las acciones: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acc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d>
                      <m:dPr>
                        <m:begChr m:val="{"/>
                        <m:endChr m:val="}"/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s-ES_tradnl" dirty="0"/>
              </a:p>
              <a:p>
                <a:r>
                  <a:rPr lang="es-ES_tradnl" dirty="0"/>
                  <a:t>Matriz de confusión </a:t>
                </a:r>
              </a:p>
              <a:p>
                <a:pPr marL="0" indent="0"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  <a:blipFill>
                <a:blip r:embed="rId2"/>
                <a:stretch>
                  <a:fillRect l="-965" t="-11321" b="-471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ED466492-FF8A-2A15-5CE0-A53A1A8D55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130375"/>
                  </p:ext>
                </p:extLst>
              </p:nvPr>
            </p:nvGraphicFramePr>
            <p:xfrm>
              <a:off x="2014654" y="3286123"/>
              <a:ext cx="8162692" cy="320675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921672">
                      <a:extLst>
                        <a:ext uri="{9D8B030D-6E8A-4147-A177-3AD203B41FA5}">
                          <a16:colId xmlns:a16="http://schemas.microsoft.com/office/drawing/2014/main" val="4265273"/>
                        </a:ext>
                      </a:extLst>
                    </a:gridCol>
                    <a:gridCol w="1075429">
                      <a:extLst>
                        <a:ext uri="{9D8B030D-6E8A-4147-A177-3AD203B41FA5}">
                          <a16:colId xmlns:a16="http://schemas.microsoft.com/office/drawing/2014/main" val="2383779966"/>
                        </a:ext>
                      </a:extLst>
                    </a:gridCol>
                    <a:gridCol w="2644501">
                      <a:extLst>
                        <a:ext uri="{9D8B030D-6E8A-4147-A177-3AD203B41FA5}">
                          <a16:colId xmlns:a16="http://schemas.microsoft.com/office/drawing/2014/main" val="808224985"/>
                        </a:ext>
                      </a:extLst>
                    </a:gridCol>
                    <a:gridCol w="2521090">
                      <a:extLst>
                        <a:ext uri="{9D8B030D-6E8A-4147-A177-3AD203B41FA5}">
                          <a16:colId xmlns:a16="http://schemas.microsoft.com/office/drawing/2014/main" val="1798307737"/>
                        </a:ext>
                      </a:extLst>
                    </a:gridCol>
                  </a:tblGrid>
                  <a:tr h="801688">
                    <a:tc>
                      <a:txBody>
                        <a:bodyPr/>
                        <a:lstStyle/>
                        <a:p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s-ES_tradnl" sz="2300" b="0" i="1" noProof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: </a:t>
                          </a:r>
                          <a:r>
                            <a:rPr lang="es-ES_tradnl" sz="2300" b="0" noProof="0" dirty="0">
                              <a:latin typeface="Gill Sans Nova Light" panose="020B0302020104020203" pitchFamily="34" charset="0"/>
                            </a:rPr>
                            <a:t>Observación</a:t>
                          </a:r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49628750"/>
                      </a:ext>
                    </a:extLst>
                  </a:tr>
                  <a:tr h="801688"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es-ES_tradnl" sz="23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s-ES_tradnl" sz="23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oMath>
                          </a14:m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: Predicción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4435227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Verdadero Negativo </a:t>
                          </a:r>
                          <a14:m>
                            <m:oMath xmlns:m="http://schemas.openxmlformats.org/officeDocument/2006/math">
                              <m:r>
                                <a:rPr lang="es-ES_tradnl" sz="2300" i="1" noProof="0" dirty="0" smtClean="0">
                                  <a:latin typeface="Cambria Math" panose="02040503050406030204" pitchFamily="18" charset="0"/>
                                </a:rPr>
                                <m:t>𝑣𝑛</m:t>
                              </m:r>
                            </m:oMath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Falso negativo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i="1" noProof="0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sz="2300" b="0" i="1" noProof="0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283319013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Falso positivo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i="1" noProof="0" dirty="0" smtClean="0">
                                    <a:latin typeface="Cambria Math" panose="02040503050406030204" pitchFamily="18" charset="0"/>
                                  </a:rPr>
                                  <m:t>𝑓𝑝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Verdadero positivo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i="1" noProof="0" dirty="0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sz="2300" b="0" i="1" noProof="0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03389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ED466492-FF8A-2A15-5CE0-A53A1A8D55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130375"/>
                  </p:ext>
                </p:extLst>
              </p:nvPr>
            </p:nvGraphicFramePr>
            <p:xfrm>
              <a:off x="2014654" y="3286123"/>
              <a:ext cx="8162692" cy="320675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921672">
                      <a:extLst>
                        <a:ext uri="{9D8B030D-6E8A-4147-A177-3AD203B41FA5}">
                          <a16:colId xmlns:a16="http://schemas.microsoft.com/office/drawing/2014/main" val="4265273"/>
                        </a:ext>
                      </a:extLst>
                    </a:gridCol>
                    <a:gridCol w="1075429">
                      <a:extLst>
                        <a:ext uri="{9D8B030D-6E8A-4147-A177-3AD203B41FA5}">
                          <a16:colId xmlns:a16="http://schemas.microsoft.com/office/drawing/2014/main" val="2383779966"/>
                        </a:ext>
                      </a:extLst>
                    </a:gridCol>
                    <a:gridCol w="2644501">
                      <a:extLst>
                        <a:ext uri="{9D8B030D-6E8A-4147-A177-3AD203B41FA5}">
                          <a16:colId xmlns:a16="http://schemas.microsoft.com/office/drawing/2014/main" val="808224985"/>
                        </a:ext>
                      </a:extLst>
                    </a:gridCol>
                    <a:gridCol w="2521090">
                      <a:extLst>
                        <a:ext uri="{9D8B030D-6E8A-4147-A177-3AD203B41FA5}">
                          <a16:colId xmlns:a16="http://schemas.microsoft.com/office/drawing/2014/main" val="1798307737"/>
                        </a:ext>
                      </a:extLst>
                    </a:gridCol>
                  </a:tblGrid>
                  <a:tr h="801688">
                    <a:tc>
                      <a:txBody>
                        <a:bodyPr/>
                        <a:lstStyle/>
                        <a:p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894" t="-6250" r="-203" b="-304688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49628750"/>
                      </a:ext>
                    </a:extLst>
                  </a:tr>
                  <a:tr h="801688">
                    <a:tc row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35789" r="-32434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4435227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12919" t="-204688" r="-95694" b="-106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23618" t="-204688" r="-503" b="-10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3319013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12919" t="-309524" r="-95694" b="-79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23618" t="-309524" r="-503" b="-79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0338918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5452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C5FC6-D73C-1DCB-EECD-C422EB11A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Ilustraciones: Error tipo I y tipo II</a:t>
            </a:r>
          </a:p>
        </p:txBody>
      </p:sp>
      <p:pic>
        <p:nvPicPr>
          <p:cNvPr id="5" name="Content Placeholder 4" descr="Two people with a pregnant belly&#10;&#10;Description automatically generated">
            <a:extLst>
              <a:ext uri="{FF2B5EF4-FFF2-40B4-BE49-F238E27FC236}">
                <a16:creationId xmlns:a16="http://schemas.microsoft.com/office/drawing/2014/main" id="{A07E64BC-2092-0DC0-9958-C54E0C9147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00633" y="1549412"/>
            <a:ext cx="6990733" cy="5308588"/>
          </a:xfrm>
        </p:spPr>
      </p:pic>
    </p:spTree>
    <p:extLst>
      <p:ext uri="{BB962C8B-B14F-4D97-AF65-F5344CB8AC3E}">
        <p14:creationId xmlns:p14="http://schemas.microsoft.com/office/powerpoint/2010/main" val="35626278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68C4D-33F4-FC38-1684-41E7FB398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0FBAB-2D70-B0CC-D49D-148566971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Ejemplos y Errores: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¿qué error queremos minimizar?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5BA2C-08DB-A513-3E4A-8786DAF392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s-ES_tradnl" dirty="0"/>
              <a:t>Como banco, </a:t>
            </a:r>
          </a:p>
          <a:p>
            <a:pPr marL="514350" indent="-514350">
              <a:buFont typeface="+mj-lt"/>
              <a:buAutoNum type="arabicPeriod"/>
            </a:pPr>
            <a:r>
              <a:rPr lang="es-ES_tradnl" dirty="0"/>
              <a:t>Como expertos en salud durante el COVID19</a:t>
            </a:r>
          </a:p>
          <a:p>
            <a:pPr marL="514350" indent="-514350">
              <a:buFont typeface="+mj-lt"/>
              <a:buAutoNum type="arabicPeriod"/>
            </a:pPr>
            <a:r>
              <a:rPr lang="es-ES_tradnl" dirty="0"/>
              <a:t>Como investigador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E96988A6-AC1A-DD16-F4C9-CCB6F01E1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2329266"/>
                  </p:ext>
                </p:extLst>
              </p:nvPr>
            </p:nvGraphicFramePr>
            <p:xfrm>
              <a:off x="2014654" y="3286123"/>
              <a:ext cx="8162692" cy="320675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921672">
                      <a:extLst>
                        <a:ext uri="{9D8B030D-6E8A-4147-A177-3AD203B41FA5}">
                          <a16:colId xmlns:a16="http://schemas.microsoft.com/office/drawing/2014/main" val="4265273"/>
                        </a:ext>
                      </a:extLst>
                    </a:gridCol>
                    <a:gridCol w="1075429">
                      <a:extLst>
                        <a:ext uri="{9D8B030D-6E8A-4147-A177-3AD203B41FA5}">
                          <a16:colId xmlns:a16="http://schemas.microsoft.com/office/drawing/2014/main" val="2383779966"/>
                        </a:ext>
                      </a:extLst>
                    </a:gridCol>
                    <a:gridCol w="2644501">
                      <a:extLst>
                        <a:ext uri="{9D8B030D-6E8A-4147-A177-3AD203B41FA5}">
                          <a16:colId xmlns:a16="http://schemas.microsoft.com/office/drawing/2014/main" val="808224985"/>
                        </a:ext>
                      </a:extLst>
                    </a:gridCol>
                    <a:gridCol w="2521090">
                      <a:extLst>
                        <a:ext uri="{9D8B030D-6E8A-4147-A177-3AD203B41FA5}">
                          <a16:colId xmlns:a16="http://schemas.microsoft.com/office/drawing/2014/main" val="1798307737"/>
                        </a:ext>
                      </a:extLst>
                    </a:gridCol>
                  </a:tblGrid>
                  <a:tr h="801688">
                    <a:tc>
                      <a:txBody>
                        <a:bodyPr/>
                        <a:lstStyle/>
                        <a:p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s-ES_tradnl" sz="2300" b="0" i="1" noProof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: </a:t>
                          </a:r>
                          <a:r>
                            <a:rPr lang="es-ES_tradnl" sz="2300" b="0" noProof="0" dirty="0">
                              <a:latin typeface="Gill Sans Nova Light" panose="020B0302020104020203" pitchFamily="34" charset="0"/>
                            </a:rPr>
                            <a:t>Observación</a:t>
                          </a:r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49628750"/>
                      </a:ext>
                    </a:extLst>
                  </a:tr>
                  <a:tr h="801688"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es-ES_tradnl" sz="23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s-ES_tradnl" sz="23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oMath>
                          </a14:m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: Predicción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4435227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Verdadero Negativo </a:t>
                          </a:r>
                          <a14:m>
                            <m:oMath xmlns:m="http://schemas.openxmlformats.org/officeDocument/2006/math">
                              <m:r>
                                <a:rPr lang="es-ES_tradnl" sz="2300" i="1" noProof="0" dirty="0" smtClean="0">
                                  <a:latin typeface="Cambria Math" panose="02040503050406030204" pitchFamily="18" charset="0"/>
                                </a:rPr>
                                <m:t>𝑣𝑛</m:t>
                              </m:r>
                            </m:oMath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Falso negativo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i="1" noProof="0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sz="2300" b="0" i="1" noProof="0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283319013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Falso positivo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i="1" noProof="0" dirty="0" smtClean="0">
                                    <a:latin typeface="Cambria Math" panose="02040503050406030204" pitchFamily="18" charset="0"/>
                                  </a:rPr>
                                  <m:t>𝑓𝑝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Verdadero positivo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i="1" noProof="0" dirty="0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sz="2300" b="0" i="1" noProof="0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03389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E96988A6-AC1A-DD16-F4C9-CCB6F01E1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2329266"/>
                  </p:ext>
                </p:extLst>
              </p:nvPr>
            </p:nvGraphicFramePr>
            <p:xfrm>
              <a:off x="2014654" y="3286123"/>
              <a:ext cx="8162692" cy="320675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921672">
                      <a:extLst>
                        <a:ext uri="{9D8B030D-6E8A-4147-A177-3AD203B41FA5}">
                          <a16:colId xmlns:a16="http://schemas.microsoft.com/office/drawing/2014/main" val="4265273"/>
                        </a:ext>
                      </a:extLst>
                    </a:gridCol>
                    <a:gridCol w="1075429">
                      <a:extLst>
                        <a:ext uri="{9D8B030D-6E8A-4147-A177-3AD203B41FA5}">
                          <a16:colId xmlns:a16="http://schemas.microsoft.com/office/drawing/2014/main" val="2383779966"/>
                        </a:ext>
                      </a:extLst>
                    </a:gridCol>
                    <a:gridCol w="2644501">
                      <a:extLst>
                        <a:ext uri="{9D8B030D-6E8A-4147-A177-3AD203B41FA5}">
                          <a16:colId xmlns:a16="http://schemas.microsoft.com/office/drawing/2014/main" val="808224985"/>
                        </a:ext>
                      </a:extLst>
                    </a:gridCol>
                    <a:gridCol w="2521090">
                      <a:extLst>
                        <a:ext uri="{9D8B030D-6E8A-4147-A177-3AD203B41FA5}">
                          <a16:colId xmlns:a16="http://schemas.microsoft.com/office/drawing/2014/main" val="1798307737"/>
                        </a:ext>
                      </a:extLst>
                    </a:gridCol>
                  </a:tblGrid>
                  <a:tr h="801688">
                    <a:tc>
                      <a:txBody>
                        <a:bodyPr/>
                        <a:lstStyle/>
                        <a:p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es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894" t="-6250" r="-203" b="-304688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49628750"/>
                      </a:ext>
                    </a:extLst>
                  </a:tr>
                  <a:tr h="801688">
                    <a:tc rowSpan="3">
                      <a:txBody>
                        <a:bodyPr/>
                        <a:lstStyle/>
                        <a:p>
                          <a:endParaRPr lang="es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5789" r="-32434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4435227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s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2919" t="-204688" r="-95694" b="-106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23618" t="-204688" r="-503" b="-10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3319013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s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2919" t="-309524" r="-95694" b="-79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23618" t="-309524" r="-503" b="-79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0338918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08015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2471-9418-E3E3-C7E5-30087178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Clasificador de Bayes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80597-6948-B78E-E6E3-6E4F9F13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 2.2.3</a:t>
            </a:r>
          </a:p>
        </p:txBody>
      </p:sp>
    </p:spTree>
    <p:extLst>
      <p:ext uri="{BB962C8B-B14F-4D97-AF65-F5344CB8AC3E}">
        <p14:creationId xmlns:p14="http://schemas.microsoft.com/office/powerpoint/2010/main" val="190179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FDB9-75B6-9EFD-4843-5531A2503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Clasificador de Bayes: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Intuitivamente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D1657-DE6A-B473-CB8F-561A3DCD27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s-ES_tradnl" dirty="0"/>
                  <a:t>Para </a:t>
                </a:r>
                <a:r>
                  <a:rPr lang="es-ES_tradnl" dirty="0">
                    <a:solidFill>
                      <a:srgbClr val="002060"/>
                    </a:solidFill>
                  </a:rPr>
                  <a:t>minimizar</a:t>
                </a:r>
                <a:r>
                  <a:rPr lang="es-ES_tradnl" dirty="0"/>
                  <a:t> la </a:t>
                </a:r>
                <a:r>
                  <a:rPr lang="es-ES_tradnl" dirty="0">
                    <a:solidFill>
                      <a:srgbClr val="002060"/>
                    </a:solidFill>
                  </a:rPr>
                  <a:t>tasa de error de predicción afuera </a:t>
                </a:r>
                <a:r>
                  <a:rPr lang="es-ES_tradnl" dirty="0"/>
                  <a:t>de la muestra: </a:t>
                </a:r>
              </a:p>
              <a:p>
                <a:pPr marL="0" indent="0">
                  <a:buNone/>
                </a:pPr>
                <a:endParaRPr lang="es-ES_tradnl" dirty="0"/>
              </a:p>
              <a:p>
                <a:pPr marL="457200" lvl="1" indent="0">
                  <a:buNone/>
                </a:pPr>
                <a:endParaRPr lang="es-ES_tradnl" dirty="0"/>
              </a:p>
              <a:p>
                <a:pPr marL="457200" lvl="1" indent="0">
                  <a:buNone/>
                </a:pPr>
                <a:endParaRPr lang="es-ES_tradnl" dirty="0"/>
              </a:p>
              <a:p>
                <a:pPr marL="457200" lvl="1" indent="0">
                  <a:buNone/>
                </a:pPr>
                <a:endParaRPr lang="es-ES_tradnl" dirty="0"/>
              </a:p>
              <a:p>
                <a:r>
                  <a:rPr lang="es-ES_tradnl" dirty="0">
                    <a:solidFill>
                      <a:srgbClr val="002060"/>
                    </a:solidFill>
                  </a:rPr>
                  <a:t>Ejemplo</a:t>
                </a:r>
                <a:r>
                  <a:rPr lang="es-ES_tradnl" dirty="0"/>
                  <a:t>: </a:t>
                </a:r>
              </a:p>
              <a:p>
                <a:pPr lvl="1"/>
                <a:r>
                  <a:rPr lang="es-ES_tradnl" dirty="0"/>
                  <a:t>Si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𝐷𝑒𝑓𝑎𝑢𝑙𝑡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𝑒𝑑𝑎𝑑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𝑖𝑛𝑔𝑟𝑒𝑠𝑜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…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&gt;0.7</m:t>
                    </m:r>
                  </m:oMath>
                </a14:m>
                <a:r>
                  <a:rPr lang="es-ES_tradnl" dirty="0"/>
                  <a:t>, </a:t>
                </a:r>
                <a:r>
                  <a:rPr lang="es-ES_tradnl" i="1" dirty="0"/>
                  <a:t>¿</a:t>
                </a:r>
                <a:r>
                  <a:rPr lang="es-ES_tradnl" dirty="0"/>
                  <a:t>qué le predecimos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s-ES_tradnl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s-ES_tradnl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dirty="0"/>
                  <a:t> a dicha observación?  </a:t>
                </a:r>
              </a:p>
              <a:p>
                <a:pPr lvl="1"/>
                <a:r>
                  <a:rPr lang="es-ES_tradnl" dirty="0"/>
                  <a:t>Si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𝐷𝑒𝑓𝑎𝑢𝑙𝑡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𝑒𝑑𝑎𝑑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𝑖𝑛𝑔𝑟𝑒𝑠𝑜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…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&gt;0.2</m:t>
                    </m:r>
                  </m:oMath>
                </a14:m>
                <a:r>
                  <a:rPr lang="es-ES_tradnl" dirty="0"/>
                  <a:t> ¿qué valor le darían a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s-ES_tradnl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s-ES_tradnl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D1657-DE6A-B473-CB8F-561A3DCD27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90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5C4FFE-2BB2-5A38-A909-5D94778C9826}"/>
                  </a:ext>
                </a:extLst>
              </p:cNvPr>
              <p:cNvSpPr/>
              <p:nvPr/>
            </p:nvSpPr>
            <p:spPr>
              <a:xfrm>
                <a:off x="2007220" y="2497878"/>
                <a:ext cx="8720253" cy="1494264"/>
              </a:xfrm>
              <a:prstGeom prst="rect">
                <a:avLst/>
              </a:prstGeom>
              <a:solidFill>
                <a:schemeClr val="tx2">
                  <a:lumMod val="20000"/>
                  <a:lumOff val="80000"/>
                </a:schemeClr>
              </a:solidFill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457200" lvl="1" indent="0" algn="ctr">
                  <a:buNone/>
                </a:pPr>
                <a:r>
                  <a:rPr lang="es-ES_tradnl" sz="3200" dirty="0">
                    <a:solidFill>
                      <a:schemeClr val="tx1"/>
                    </a:solidFill>
                    <a:latin typeface="Gill Sans Nova Light" panose="020B0302020104020203" pitchFamily="34" charset="0"/>
                  </a:rPr>
                  <a:t>Asignar a cada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s-ES_tradnl" sz="3200" dirty="0">
                    <a:solidFill>
                      <a:schemeClr val="tx1"/>
                    </a:solidFill>
                    <a:latin typeface="Gill Sans Nova Light" panose="020B0302020104020203" pitchFamily="34" charset="0"/>
                  </a:rPr>
                  <a:t>, la categoría </a:t>
                </a:r>
                <a:r>
                  <a:rPr lang="es-ES_tradnl" sz="3200" dirty="0">
                    <a:solidFill>
                      <a:srgbClr val="00B050"/>
                    </a:solidFill>
                    <a:latin typeface="Gill Sans Nova Light" panose="020B0302020104020203" pitchFamily="34" charset="0"/>
                  </a:rPr>
                  <a:t>más probable</a:t>
                </a:r>
                <a:r>
                  <a:rPr lang="es-ES_tradnl" sz="3200" dirty="0">
                    <a:solidFill>
                      <a:schemeClr val="tx1"/>
                    </a:solidFill>
                    <a:latin typeface="Gill Sans Nova Light" panose="020B0302020104020203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s-ES_tradnl" sz="32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s-ES_tradnl" sz="32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3200" b="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3200" dirty="0">
                    <a:solidFill>
                      <a:schemeClr val="tx1"/>
                    </a:solidFill>
                    <a:latin typeface="Gill Sans Nova Light" panose="020B0302020104020203" pitchFamily="34" charset="0"/>
                  </a:rPr>
                  <a:t> dadas sus características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s-ES_tradnl" sz="3200" dirty="0">
                    <a:solidFill>
                      <a:schemeClr val="tx1"/>
                    </a:solidFill>
                    <a:latin typeface="Gill Sans Nova Light" panose="020B03020201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5C4FFE-2BB2-5A38-A909-5D94778C98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220" y="2497878"/>
                <a:ext cx="8720253" cy="14942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0880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9CDA2-FBFD-4435-09C4-88FAECC45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Posibles soluciones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E2FE6-2D21-0373-E669-031C93ACF9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Cuatro modelos para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ES_tradnl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s-ES_tradnl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s-ES_tradnl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s-ES_tradnl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ES_tradnl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s-ES_tradnl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s-ES_tradnl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r>
                  <a:rPr lang="es-ES_tradnl" dirty="0"/>
                  <a:t>: 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>
                    <a:solidFill>
                      <a:srgbClr val="00B050"/>
                    </a:solidFill>
                  </a:rPr>
                  <a:t>Logístico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>
                    <a:solidFill>
                      <a:srgbClr val="00B050"/>
                    </a:solidFill>
                  </a:rPr>
                  <a:t>Vecinos Cercanos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Análisis discriminante lineal (LDA) 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es-ES_tradnl" dirty="0"/>
                  <a:t>Extensión a múltiples categorías de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dirty="0"/>
                  <a:t> -&gt; QDA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Naive Bayes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Perdida asimétrica. Análisis ROC.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E2FE6-2D21-0373-E669-031C93ACF9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09" t="-1163" b="-872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A543662B-FFEF-E286-E53F-8EAD7BC31FB6}"/>
                  </a:ext>
                </a:extLst>
              </p:cNvPr>
              <p:cNvSpPr txBox="1"/>
              <p:nvPr/>
            </p:nvSpPr>
            <p:spPr>
              <a:xfrm>
                <a:off x="8389882" y="4009177"/>
                <a:ext cx="310318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_tradnl" sz="2400" dirty="0">
                    <a:latin typeface="Gill Sans Nova Light" panose="020B0302020104020203" pitchFamily="34" charset="0"/>
                  </a:rPr>
                  <a:t>Modelos lineales con supuestos </a:t>
                </a:r>
                <a:r>
                  <a:rPr lang="es-ES_tradnl" sz="2400" dirty="0">
                    <a:solidFill>
                      <a:schemeClr val="accent2"/>
                    </a:solidFill>
                    <a:latin typeface="Gill Sans Nova Light" panose="020B0302020104020203" pitchFamily="34" charset="0"/>
                  </a:rPr>
                  <a:t>más fuertes </a:t>
                </a:r>
                <a:r>
                  <a:rPr lang="es-ES_tradnl" sz="2400" dirty="0">
                    <a:latin typeface="Gill Sans Nova Light" panose="020B0302020104020203" pitchFamily="34" charset="0"/>
                  </a:rPr>
                  <a:t>sobre los predictores </a:t>
                </a:r>
                <a14:m>
                  <m:oMath xmlns:m="http://schemas.openxmlformats.org/officeDocument/2006/math">
                    <m:r>
                      <a:rPr lang="es-ES_tradnl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sz="2400" dirty="0">
                  <a:latin typeface="Gill Sans Nova Light" panose="020B0302020104020203" pitchFamily="34" charset="0"/>
                </a:endParaRPr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A543662B-FFEF-E286-E53F-8EAD7BC31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9882" y="4009177"/>
                <a:ext cx="3103180" cy="1200329"/>
              </a:xfrm>
              <a:prstGeom prst="rect">
                <a:avLst/>
              </a:prstGeom>
              <a:blipFill>
                <a:blip r:embed="rId3"/>
                <a:stretch>
                  <a:fillRect l="-2857" t="-3125" b="-1041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lave de cierre 5">
            <a:extLst>
              <a:ext uri="{FF2B5EF4-FFF2-40B4-BE49-F238E27FC236}">
                <a16:creationId xmlns:a16="http://schemas.microsoft.com/office/drawing/2014/main" id="{633D811B-F734-38A9-66F6-3185658BA389}"/>
              </a:ext>
            </a:extLst>
          </p:cNvPr>
          <p:cNvSpPr/>
          <p:nvPr/>
        </p:nvSpPr>
        <p:spPr>
          <a:xfrm>
            <a:off x="7646275" y="3714815"/>
            <a:ext cx="472966" cy="2112579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86348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E83D0DE-DCB7-E42A-D782-6E396A647B0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s-ES_tradnl" dirty="0"/>
                  <a:t>Modelo lineal para Clasificar: </a:t>
                </a:r>
                <a:r>
                  <a:rPr lang="es-ES_tradnl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¿Por qué no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ES_tradnl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b="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n-US" b="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s-ES_tradnl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?</a:t>
                </a:r>
                <a:endParaRPr lang="es-ES_tradnl" i="1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E83D0DE-DCB7-E42A-D782-6E396A647B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413" t="-14286" b="-21905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6CE70E-DF44-F112-1149-056C52EBB75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s-ES_tradnl" dirty="0"/>
                  <a:t>Se sale del rango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Relaciones no lineales entre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dirty="0"/>
                  <a:t> 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Correlaciones de los errores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Heteroscedasticidad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 err="1"/>
                  <a:t>Outliers</a:t>
                </a:r>
                <a:r>
                  <a:rPr lang="es-ES_tradnl" dirty="0"/>
                  <a:t> y Observaciones con mucha influencia en la predicción</a:t>
                </a:r>
                <a:r>
                  <a:rPr lang="es-ES_tradnl" dirty="0">
                    <a:sym typeface="Wingdings" pitchFamily="2" charset="2"/>
                  </a:rPr>
                  <a:t> medidas VIF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Problemas de alta multicolinealidad entre las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 err="1"/>
                  <a:t>logit</a:t>
                </a:r>
                <a:r>
                  <a:rPr lang="es-ES_tradnl" dirty="0"/>
                  <a:t>/análisis discriminante es </a:t>
                </a:r>
                <a:r>
                  <a:rPr lang="es-ES_tradnl" b="1" dirty="0"/>
                  <a:t>fácil</a:t>
                </a:r>
                <a:r>
                  <a:rPr lang="es-ES_tradnl" dirty="0"/>
                  <a:t> de generalizar al caso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ES_tradnl" dirty="0"/>
                  <a:t> categorías no ordenadas.</a:t>
                </a:r>
              </a:p>
              <a:p>
                <a:pPr>
                  <a:lnSpc>
                    <a:spcPct val="12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6CE70E-DF44-F112-1149-056C52EBB7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4"/>
                <a:stretch>
                  <a:fillRect l="-1222" t="-291" r="-244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Content Placeholder 5" descr="A graph with a line and a line&#10;&#10;Description automatically generated">
            <a:extLst>
              <a:ext uri="{FF2B5EF4-FFF2-40B4-BE49-F238E27FC236}">
                <a16:creationId xmlns:a16="http://schemas.microsoft.com/office/drawing/2014/main" id="{5BDE54AD-E4B7-6E7D-200E-C79D8A1DB71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6019800" y="1604963"/>
            <a:ext cx="5900615" cy="457200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EE4864-CBC5-C3AC-3FA2-3943E6E1B6BE}"/>
              </a:ext>
            </a:extLst>
          </p:cNvPr>
          <p:cNvSpPr txBox="1"/>
          <p:nvPr/>
        </p:nvSpPr>
        <p:spPr>
          <a:xfrm>
            <a:off x="6566014" y="6120984"/>
            <a:ext cx="5181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Witten, Hastie y Tibshirani, 2013. p.131 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8922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7C4D0-34F1-0A94-834E-05390C487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Regresión logística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66EBF-6119-C495-2250-DFAA6225C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</a:t>
            </a:r>
            <a:r>
              <a:rPr lang="en-US" dirty="0"/>
              <a:t> </a:t>
            </a:r>
            <a:r>
              <a:rPr lang="en-US" b="1" dirty="0"/>
              <a:t>4.3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41594695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E65CE-3653-8912-0E4D-181B4B3D8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Función logística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259E41-A60A-CCCC-3AFE-67CA19DCF38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Variable binaria/dicotómica (</a:t>
                </a:r>
                <a:r>
                  <a:rPr lang="es-ES_tradnl" dirty="0" err="1"/>
                  <a:t>outcome</a:t>
                </a:r>
                <a:r>
                  <a:rPr lang="es-ES_tradnl" dirty="0"/>
                  <a:t>) 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s-ES_tradnl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s-ES_tradnl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</a:t>
                </a:r>
                <a:r>
                  <a:rPr lang="es-ES_tradnl" dirty="0"/>
                  <a:t>Vector de predictores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s-ES_tradnl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Función de densidad logística:</a:t>
                </a:r>
                <a:r>
                  <a:rPr lang="es-ES_tradnl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s-ES_tradnl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𝑃𝑟</m:t>
                          </m:r>
                        </m:fName>
                        <m:e>
                          <m:d>
                            <m:dPr>
                              <m:ctrlP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=1|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s-ES_tradnl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p>
                        </m:den>
                      </m:f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_tradnl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es-ES_tradnl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259E41-A60A-CCCC-3AFE-67CA19DCF3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46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Content Placeholder 5" descr="A graph of a line&#10;&#10;Description automatically generated with medium confidence">
            <a:extLst>
              <a:ext uri="{FF2B5EF4-FFF2-40B4-BE49-F238E27FC236}">
                <a16:creationId xmlns:a16="http://schemas.microsoft.com/office/drawing/2014/main" id="{FF718610-2D5E-F8C5-A3CF-F3987934829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2" y="1604963"/>
            <a:ext cx="5804452" cy="457200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B1BEB2-9786-0130-0E56-9AC538835D5B}"/>
              </a:ext>
            </a:extLst>
          </p:cNvPr>
          <p:cNvSpPr txBox="1"/>
          <p:nvPr/>
        </p:nvSpPr>
        <p:spPr>
          <a:xfrm>
            <a:off x="6661264" y="5914817"/>
            <a:ext cx="5181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Witten, Hastie y Tibshirani, 2013. p.131 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1272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48A8E-867A-1845-51B5-5E77013F8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Interpretación de Efecto Marginal con </a:t>
            </a:r>
            <a:r>
              <a:rPr lang="es-ES_tradnl" dirty="0" err="1"/>
              <a:t>Logit</a:t>
            </a:r>
            <a:r>
              <a:rPr lang="es-ES_tradnl" dirty="0"/>
              <a:t> 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D0CD0C-3123-65DE-F303-6A482A61D5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 err="1">
                    <a:solidFill>
                      <a:srgbClr val="002060"/>
                    </a:solidFill>
                  </a:rPr>
                  <a:t>Odds</a:t>
                </a:r>
                <a:r>
                  <a:rPr lang="es-ES_tradnl" dirty="0"/>
                  <a:t> 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p>
                      </m:sSup>
                    </m:oMath>
                  </m:oMathPara>
                </a14:m>
                <a:endParaRPr lang="es-ES_tradnl" dirty="0"/>
              </a:p>
              <a:p>
                <a:pPr lvl="2">
                  <a:lnSpc>
                    <a:spcPct val="150000"/>
                  </a:lnSpc>
                </a:pPr>
                <a:r>
                  <a:rPr lang="es-ES_tradnl" dirty="0"/>
                  <a:t>Valores muy cerca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s-ES_tradnl" dirty="0"/>
                  <a:t> -&gt; muy </a:t>
                </a:r>
                <a:r>
                  <a:rPr lang="es-ES_tradnl" dirty="0">
                    <a:solidFill>
                      <a:srgbClr val="002060"/>
                    </a:solidFill>
                  </a:rPr>
                  <a:t>baja</a:t>
                </a:r>
                <a:r>
                  <a:rPr lang="es-ES_tradnl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endParaRPr lang="es-ES_tradnl" dirty="0"/>
              </a:p>
              <a:p>
                <a:pPr lvl="2">
                  <a:lnSpc>
                    <a:spcPct val="150000"/>
                  </a:lnSpc>
                </a:pPr>
                <a:r>
                  <a:rPr lang="es-ES_tradnl" dirty="0"/>
                  <a:t>Valores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s-ES_tradnl" dirty="0"/>
                  <a:t> -&gt; muy </a:t>
                </a:r>
                <a:r>
                  <a:rPr lang="es-ES_tradnl" dirty="0">
                    <a:solidFill>
                      <a:srgbClr val="002060"/>
                    </a:solidFill>
                  </a:rPr>
                  <a:t>alta</a:t>
                </a:r>
                <a:r>
                  <a:rPr lang="es-ES_tradnl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endParaRPr lang="es-ES_tradnl" dirty="0"/>
              </a:p>
              <a:p>
                <a:pPr lvl="2">
                  <a:lnSpc>
                    <a:spcPct val="150000"/>
                  </a:lnSpc>
                </a:pPr>
                <a:endParaRPr lang="es-ES_tradnl" sz="12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D0CD0C-3123-65DE-F303-6A482A61D5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18875-7EA8-32A0-48EE-5DA4DBC5D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344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0E2B9-E161-9DBA-68EC-1B8A9855B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B6C54-8503-5869-F3B0-A19E74E04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36766" cy="1325563"/>
          </a:xfrm>
        </p:spPr>
        <p:txBody>
          <a:bodyPr/>
          <a:lstStyle/>
          <a:p>
            <a:r>
              <a:rPr lang="es-ES_tradnl" dirty="0"/>
              <a:t>Interpretación de Efecto Marginal con </a:t>
            </a:r>
            <a:r>
              <a:rPr lang="es-ES_tradnl" dirty="0" err="1"/>
              <a:t>Logit</a:t>
            </a:r>
            <a:r>
              <a:rPr lang="es-ES_tradnl" dirty="0"/>
              <a:t>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EB2CA9-C70F-2C28-66CA-A3460AEF9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914400" lvl="2" indent="0">
                  <a:buNone/>
                </a:pPr>
                <a:endParaRPr lang="es-ES_tradnl" sz="1200" dirty="0"/>
              </a:p>
              <a:p>
                <a:r>
                  <a:rPr lang="es-ES_tradnl" dirty="0">
                    <a:solidFill>
                      <a:srgbClr val="002060"/>
                    </a:solidFill>
                  </a:rPr>
                  <a:t>Log-</a:t>
                </a:r>
                <a:r>
                  <a:rPr lang="es-ES_tradnl" dirty="0" err="1">
                    <a:solidFill>
                      <a:srgbClr val="002060"/>
                    </a:solidFill>
                  </a:rPr>
                  <a:t>odds</a:t>
                </a:r>
                <a:r>
                  <a:rPr lang="es-ES_tradnl" dirty="0">
                    <a:solidFill>
                      <a:srgbClr val="002060"/>
                    </a:solidFill>
                  </a:rPr>
                  <a:t> </a:t>
                </a:r>
                <a:r>
                  <a:rPr lang="es-ES_tradnl" dirty="0"/>
                  <a:t>ratio o </a:t>
                </a:r>
                <a:r>
                  <a:rPr lang="es-ES_tradnl" dirty="0" err="1">
                    <a:solidFill>
                      <a:srgbClr val="002060"/>
                    </a:solidFill>
                  </a:rPr>
                  <a:t>logit</a:t>
                </a:r>
                <a:r>
                  <a:rPr lang="es-ES_tradnl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2"/>
                <a:r>
                  <a:rPr lang="es-ES_tradnl" dirty="0"/>
                  <a:t>Lineal 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dirty="0"/>
              </a:p>
              <a:p>
                <a:pPr lvl="2"/>
                <a:r>
                  <a:rPr lang="es-ES_tradnl" dirty="0">
                    <a:solidFill>
                      <a:srgbClr val="002060"/>
                    </a:solidFill>
                  </a:rPr>
                  <a:t>Efecto marginal </a:t>
                </a:r>
                <a:r>
                  <a:rPr lang="es-ES_tradnl" dirty="0"/>
                  <a:t>de la k-ésimo predictor: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es-ES_tradnl" dirty="0"/>
              </a:p>
              <a:p>
                <a:pPr lvl="2"/>
                <a:r>
                  <a:rPr lang="es-ES_tradnl" dirty="0"/>
                  <a:t>El cambio marginal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r>
                  <a:rPr lang="es-ES_tradnl" dirty="0"/>
                  <a:t> depende del valor 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dirty="0"/>
              </a:p>
              <a:p>
                <a:pPr lvl="2"/>
                <a:r>
                  <a:rPr lang="es-ES_tradnl" dirty="0">
                    <a:solidFill>
                      <a:srgbClr val="00B050"/>
                    </a:solidFill>
                  </a:rPr>
                  <a:t>Signo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s-ES_tradnl" dirty="0">
                    <a:solidFill>
                      <a:srgbClr val="00B050"/>
                    </a:solidFill>
                  </a:rPr>
                  <a:t> importa</a:t>
                </a:r>
              </a:p>
              <a:p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EB2CA9-C70F-2C28-66CA-A3460AEF9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63AD5-2E74-2133-92E2-05E7D4DA9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57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9960B-86EC-DCB3-3C0A-4DC010F99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0EA53B2-2F29-32F7-AF05-F6F468D3882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es-ES_tradnl" dirty="0"/>
                  <a:t>¿Cómo estimamos los coeficientes de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s-ES_tradnl" dirty="0"/>
                  <a:t>donde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s-ES_tradnl" dirty="0"/>
                  <a:t> es vectores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s-ES_tradnl" dirty="0"/>
                  <a:t> coeficientes?  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0EA53B2-2F29-32F7-AF05-F6F468D388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136" t="-10177" r="-3257" b="-12832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ADC62-BDEA-CA2D-E52F-FDBE4BFC4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_tradnl" b="1" dirty="0">
                <a:solidFill>
                  <a:srgbClr val="00B050"/>
                </a:solidFill>
              </a:rPr>
              <a:t>Respuesta</a:t>
            </a:r>
            <a:r>
              <a:rPr lang="es-ES_tradnl" b="1" i="1" dirty="0"/>
              <a:t>: Método de Máxima Verosimilitud </a:t>
            </a:r>
            <a:r>
              <a:rPr lang="es-ES_tradnl" b="1" dirty="0"/>
              <a:t>(MLE)</a:t>
            </a:r>
          </a:p>
        </p:txBody>
      </p:sp>
    </p:spTree>
    <p:extLst>
      <p:ext uri="{BB962C8B-B14F-4D97-AF65-F5344CB8AC3E}">
        <p14:creationId xmlns:p14="http://schemas.microsoft.com/office/powerpoint/2010/main" val="39446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EB43B-E7CF-1161-BFE9-37A6F587C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Intro</a:t>
            </a:r>
            <a:r>
              <a:rPr lang="es-ES_tradnl" dirty="0"/>
              <a:t> a la estimación de Máxima verosimilitud (MLE)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Maxima verosimilitud 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𝑃𝑟</m:t>
                          </m:r>
                        </m:fName>
                        <m:e>
                          <m:d>
                            <m:dPr>
                              <m:ctrlP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es-ES_tradnl" dirty="0"/>
                  <a:t> es conocida, no así sus parámetros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s-ES_tradnl" dirty="0"/>
                  <a:t> Ejemplos</a:t>
                </a:r>
                <a:r>
                  <a:rPr lang="en-US" dirty="0"/>
                  <a:t>? </a:t>
                </a:r>
                <a:endParaRPr lang="es-ES_tradnl" dirty="0"/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B050"/>
                    </a:solidFill>
                  </a:rPr>
                  <a:t>Supuesto clave</a:t>
                </a:r>
                <a:r>
                  <a:rPr lang="es-ES_tradnl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_tradnl" dirty="0"/>
                  <a:t> es una muestra </a:t>
                </a:r>
                <a14:m>
                  <m:oMath xmlns:m="http://schemas.openxmlformats.org/officeDocument/2006/math"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𝑖𝑖𝑑</m:t>
                    </m:r>
                  </m:oMath>
                </a14:m>
                <a:r>
                  <a:rPr lang="es-ES_tradnl" i="1" dirty="0"/>
                  <a:t> </a:t>
                </a:r>
                <a:r>
                  <a:rPr lang="es-ES_tradnl" dirty="0"/>
                  <a:t>de tamaño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s-ES_tradnl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𝑃𝑟</m:t>
                          </m:r>
                        </m:fName>
                        <m:e>
                          <m:d>
                            <m:dPr>
                              <m:ctrlP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>
                  <a:lnSpc>
                    <a:spcPct val="15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998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EB43B-E7CF-1161-BFE9-37A6F587C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Estimación MLE 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s-ES_tradnl" dirty="0"/>
                  <a:t>Verosimilitud </a:t>
                </a:r>
                <a:r>
                  <a:rPr lang="es-ES_tradnl" dirty="0">
                    <a:solidFill>
                      <a:srgbClr val="002060"/>
                    </a:solidFill>
                  </a:rPr>
                  <a:t>teórica</a:t>
                </a:r>
                <a:r>
                  <a:rPr lang="es-ES_tradnl" dirty="0"/>
                  <a:t>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 lvl="1">
                  <a:lnSpc>
                    <a:spcPct val="12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Roles cambiados: </a:t>
                </a:r>
                <a:r>
                  <a:rPr lang="es-ES_tradnl" dirty="0"/>
                  <a:t>probabilidad de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s-ES_tradnl" dirty="0"/>
                  <a:t> haya ocurrido, para distintos valores de </a:t>
                </a:r>
                <a14:m>
                  <m:oMath xmlns:m="http://schemas.openxmlformats.org/officeDocument/2006/math">
                    <m:r>
                      <a:rPr lang="es-ES_tradnl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Verosimilitud </a:t>
                </a:r>
                <a:r>
                  <a:rPr lang="es-ES_tradnl" dirty="0">
                    <a:solidFill>
                      <a:srgbClr val="002060"/>
                    </a:solidFill>
                  </a:rPr>
                  <a:t>muestral</a:t>
                </a:r>
                <a:r>
                  <a:rPr lang="es-ES_tradnl" dirty="0"/>
                  <a:t>: </a:t>
                </a:r>
                <a14:m>
                  <m:oMath xmlns:m="http://schemas.openxmlformats.org/officeDocument/2006/math">
                    <m:r>
                      <a:rPr lang="es-ES_tradnl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  <m:r>
                      <a:rPr lang="es-ES_tradnl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_tradnl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s-ES_tradnl" dirty="0"/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s-ES_tradnl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_tradnl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s-ES_tradnl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s-ES_tradnl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s-ES_tradnl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s-ES_tradnl" dirty="0"/>
                  <a:t>Si</a:t>
                </a:r>
                <a:r>
                  <a:rPr lang="es-ES_tradnl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ES_tradnl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s-ES_tradnl" dirty="0"/>
                  <a:t> es </a:t>
                </a:r>
                <a14:m>
                  <m:oMath xmlns:m="http://schemas.openxmlformats.org/officeDocument/2006/math">
                    <m:r>
                      <a:rPr lang="es-ES_tradnl" i="1" dirty="0">
                        <a:latin typeface="Cambria Math" panose="02040503050406030204" pitchFamily="18" charset="0"/>
                      </a:rPr>
                      <m:t>𝑖𝑖𝑑</m:t>
                    </m:r>
                  </m:oMath>
                </a14:m>
                <a:r>
                  <a:rPr lang="es-ES_tradnl" dirty="0"/>
                  <a:t> entonces la probabilidad conjunta será: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s-ES_tradnl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subSup"/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s-ES_tradnl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s-ES_tradnl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581" b="-45640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49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EB43B-E7CF-1161-BFE9-37A6F587C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Estimación MLE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s-ES_tradnl" dirty="0"/>
                  <a:t>Estimador máximo verosímil: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ES_tradnl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∏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s-ES_tradnl" dirty="0"/>
              </a:p>
              <a:p>
                <a:pPr lvl="1"/>
                <a:r>
                  <a:rPr lang="es-ES_tradnl" dirty="0"/>
                  <a:t>Ingeniería reversa</a:t>
                </a:r>
              </a:p>
              <a:p>
                <a:r>
                  <a:rPr lang="es-ES_tradnl" dirty="0">
                    <a:solidFill>
                      <a:srgbClr val="002060"/>
                    </a:solidFill>
                  </a:rPr>
                  <a:t>Propiedades de estos estimadores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ES_tradnl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s-ES_tradnl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s-ES_tradnl" dirty="0">
                    <a:solidFill>
                      <a:srgbClr val="002060"/>
                    </a:solidFill>
                  </a:rPr>
                  <a:t> por MLE: </a:t>
                </a:r>
              </a:p>
              <a:p>
                <a:pPr lvl="1"/>
                <a:r>
                  <a:rPr lang="es-ES_tradnl" dirty="0"/>
                  <a:t>Consistente, asintóticamente normal, asintóticamente eficiente, invariante.</a:t>
                </a:r>
              </a:p>
              <a:p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t="-2819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7568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EB43B-E7CF-1161-BFE9-37A6F587C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Logit</a:t>
            </a:r>
            <a:r>
              <a:rPr lang="es-ES_tradnl" dirty="0"/>
              <a:t> por estimación de MLE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s-ES_tradnl" dirty="0"/>
                  <a:t>En el caso </a:t>
                </a:r>
                <a:r>
                  <a:rPr lang="es-ES_tradnl" dirty="0" err="1"/>
                  <a:t>logit</a:t>
                </a:r>
                <a:r>
                  <a:rPr lang="es-ES_tradnl" dirty="0"/>
                  <a:t>, recordar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p>
                        </m:sSup>
                      </m:den>
                    </m:f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endParaRPr lang="es-ES_tradnl" dirty="0"/>
              </a:p>
              <a:p>
                <a:r>
                  <a:rPr lang="es-ES_tradnl" dirty="0"/>
                  <a:t>Entonces: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s-ES_tradnl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supHide m:val="on"/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nary>
                        <m:naryPr>
                          <m:chr m:val="∏"/>
                          <m:supHide m:val="on"/>
                          <m:ctrlPr>
                            <a:rPr lang="es-ES_tradnl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s-ES_tradnl" dirty="0"/>
              </a:p>
              <a:p>
                <a:r>
                  <a:rPr lang="es-ES_tradnl" dirty="0"/>
                  <a:t>Detalles (</a:t>
                </a:r>
                <a:r>
                  <a:rPr lang="es-ES_tradnl" dirty="0">
                    <a:solidFill>
                      <a:srgbClr val="002060"/>
                    </a:solidFill>
                  </a:rPr>
                  <a:t>maestría</a:t>
                </a:r>
                <a:r>
                  <a:rPr lang="es-ES_tradnl" dirty="0"/>
                  <a:t>): la maximización no tiene una forma cerrada. Es un problema computacional.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t="-2907" r="-2413" b="-2412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90275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2459A-B6A1-2CCA-5E0E-23BF1BE3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Resumen en la práctica: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8F4542-3B9D-667C-3123-72163B70A6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s-ES_tradnl" dirty="0"/>
                  <a:t>Observamos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=1,2,,…,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s-ES_tradnl" dirty="0"/>
              </a:p>
              <a:p>
                <a:r>
                  <a:rPr lang="es-ES_tradnl" dirty="0"/>
                  <a:t>Modelo </a:t>
                </a:r>
                <a:r>
                  <a:rPr lang="es-ES_tradnl" dirty="0" err="1"/>
                  <a:t>logit</a:t>
                </a:r>
                <a:endParaRPr lang="es-ES_tradnl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p>
                          </m:sSup>
                        </m:den>
                      </m:f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_tradnl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s-ES_tradnl" dirty="0"/>
                  <a:t> por máxima verosimilitud</a:t>
                </a:r>
              </a:p>
              <a:p>
                <a:r>
                  <a:rPr lang="es-ES_tradnl" dirty="0"/>
                  <a:t>Predicción para cada observación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highlight>
                                <a:srgbClr val="00FF00"/>
                              </a:highligh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highlight>
                                    <a:srgbClr val="00FF00"/>
                                  </a:highligh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highlight>
                                    <a:srgbClr val="00FF00"/>
                                  </a:highligh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highlight>
                                <a:srgbClr val="00FF00"/>
                              </a:highligh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sup>
                          </m:sSup>
                        </m:den>
                      </m:f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_tradnl" dirty="0"/>
              </a:p>
              <a:p>
                <a:pPr lvl="1"/>
                <a:r>
                  <a:rPr lang="es-ES_tradnl" dirty="0">
                    <a:solidFill>
                      <a:srgbClr val="00B050"/>
                    </a:solidFill>
                  </a:rPr>
                  <a:t>Ventaja</a:t>
                </a:r>
                <a:r>
                  <a:rPr lang="es-ES_tradnl" dirty="0"/>
                  <a:t>: Asíntotas en 0,1</a:t>
                </a:r>
              </a:p>
              <a:p>
                <a:r>
                  <a:rPr lang="es-ES_tradnl" dirty="0">
                    <a:solidFill>
                      <a:srgbClr val="00B0F0"/>
                    </a:solidFill>
                  </a:rPr>
                  <a:t>Clasificación (Bayes):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&gt;0.5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endParaRPr lang="es-ES_tradnl" dirty="0"/>
              </a:p>
              <a:p>
                <a:pPr marL="0" indent="0"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8F4542-3B9D-667C-3123-72163B70A6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319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7328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7C4D0-34F1-0A94-834E-05390C487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Aplicación de Regresión logística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66EBF-6119-C495-2250-DFAA6225C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dirty="0">
                <a:effectLst/>
                <a:latin typeface="Gill Sans Nova Light" panose="020B0302020104020203" pitchFamily="34" charset="0"/>
              </a:rPr>
              <a:t>Horowitz &amp; </a:t>
            </a:r>
            <a:r>
              <a:rPr lang="en-US" sz="2400" dirty="0" err="1">
                <a:effectLst/>
                <a:latin typeface="Gill Sans Nova Light" panose="020B0302020104020203" pitchFamily="34" charset="0"/>
              </a:rPr>
              <a:t>Savin</a:t>
            </a:r>
            <a:r>
              <a:rPr lang="en-US" sz="2400" dirty="0">
                <a:effectLst/>
                <a:latin typeface="Gill Sans Nova Light" panose="020B0302020104020203" pitchFamily="34" charset="0"/>
              </a:rPr>
              <a:t> (2001)</a:t>
            </a:r>
            <a:r>
              <a:rPr lang="es-ES_tradnl" dirty="0"/>
              <a:t> </a:t>
            </a:r>
            <a:r>
              <a:rPr lang="es-ES_tradnl" dirty="0">
                <a:hlinkClick r:id="rId2"/>
              </a:rPr>
              <a:t>https://www.aeaweb.org/articles?id=10.1257/jep.15.4.43</a:t>
            </a:r>
            <a:r>
              <a:rPr lang="es-ES_tradnl" dirty="0"/>
              <a:t>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4834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499C2-19E6-D1B7-0AD4-BC31DF8C5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Visualización de efectos marginales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801C48B-43C0-E7CD-AFA7-EA83BE1C8B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L</a:t>
                </a:r>
                <a:r>
                  <a:rPr lang="en-US" b="0" dirty="0">
                    <a:ea typeface="Cambria Math" panose="02040503050406030204" pitchFamily="18" charset="0"/>
                  </a:rPr>
                  <a:t>inea de </a:t>
                </a:r>
                <a:r>
                  <a:rPr lang="es-ES_tradnl" b="0" dirty="0">
                    <a:ea typeface="Cambria Math" panose="02040503050406030204" pitchFamily="18" charset="0"/>
                  </a:rPr>
                  <a:t>pobreza</a:t>
                </a:r>
                <a:r>
                  <a:rPr lang="en-US" b="0" dirty="0">
                    <a:ea typeface="Cambria Math" panose="02040503050406030204" pitchFamily="18" charset="0"/>
                  </a:rPr>
                  <a:t> (EEUU, 1993): </a:t>
                </a:r>
                <a:r>
                  <a:rPr lang="en-US" b="1" dirty="0">
                    <a:ea typeface="Cambria Math" panose="02040503050406030204" pitchFamily="18" charset="0"/>
                  </a:rPr>
                  <a:t>280 USD</a:t>
                </a:r>
              </a:p>
              <a:p>
                <a:pPr marL="0" indent="0">
                  <a:buNone/>
                </a:pPr>
                <a:endParaRPr lang="en-US" sz="1600" b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=1| 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𝑒𝑑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2800" dirty="0"/>
              </a:p>
              <a:p>
                <a:pPr marL="0" indent="0">
                  <a:buNone/>
                </a:pPr>
                <a:endParaRPr lang="en-US" sz="16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𝑒𝑑</m:t>
                    </m:r>
                  </m:oMath>
                </a14:m>
                <a:r>
                  <a:rPr lang="es-ES_tradnl" dirty="0"/>
                  <a:t> años de educación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𝑒𝑥</m:t>
                    </m:r>
                  </m:oMath>
                </a14:m>
                <a:r>
                  <a:rPr lang="es-ES_tradnl" dirty="0"/>
                  <a:t> años de experiencia</a:t>
                </a:r>
              </a:p>
              <a:p>
                <a:pPr marL="0" indent="0"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801C48B-43C0-E7CD-AFA7-EA83BE1C8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689" t="-2907" r="-244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 descr="A graph of a number of people&#10;&#10;Description automatically generated">
            <a:extLst>
              <a:ext uri="{FF2B5EF4-FFF2-40B4-BE49-F238E27FC236}">
                <a16:creationId xmlns:a16="http://schemas.microsoft.com/office/drawing/2014/main" id="{28A9ECC0-0536-6059-74EC-3B6F3966307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4"/>
          <a:srcRect b="8922"/>
          <a:stretch/>
        </p:blipFill>
        <p:spPr>
          <a:xfrm>
            <a:off x="5619749" y="1825625"/>
            <a:ext cx="6480901" cy="4012784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415560-5822-657B-9F30-7E448C394BF6}"/>
              </a:ext>
            </a:extLst>
          </p:cNvPr>
          <p:cNvSpPr txBox="1"/>
          <p:nvPr/>
        </p:nvSpPr>
        <p:spPr>
          <a:xfrm>
            <a:off x="5877803" y="5862222"/>
            <a:ext cx="5181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Horowitz &amp; </a:t>
            </a:r>
            <a:r>
              <a:rPr lang="en-US" sz="1600" dirty="0" err="1">
                <a:effectLst/>
                <a:latin typeface="Gill Sans Nova Light" panose="020B0302020104020203" pitchFamily="34" charset="0"/>
              </a:rPr>
              <a:t>Savin</a:t>
            </a:r>
            <a:r>
              <a:rPr lang="en-US" sz="1600" dirty="0">
                <a:effectLst/>
                <a:latin typeface="Gill Sans Nova Light" panose="020B0302020104020203" pitchFamily="34" charset="0"/>
              </a:rPr>
              <a:t> (2001)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  <p:sp>
        <p:nvSpPr>
          <p:cNvPr id="3" name="Forma libre 2">
            <a:extLst>
              <a:ext uri="{FF2B5EF4-FFF2-40B4-BE49-F238E27FC236}">
                <a16:creationId xmlns:a16="http://schemas.microsoft.com/office/drawing/2014/main" id="{3BB7D988-CE92-2B9F-015C-580A0C43C51A}"/>
              </a:ext>
            </a:extLst>
          </p:cNvPr>
          <p:cNvSpPr/>
          <p:nvPr/>
        </p:nvSpPr>
        <p:spPr>
          <a:xfrm>
            <a:off x="7666072" y="2966484"/>
            <a:ext cx="3466215" cy="1898041"/>
          </a:xfrm>
          <a:custGeom>
            <a:avLst/>
            <a:gdLst>
              <a:gd name="connsiteX0" fmla="*/ 0 w 3540642"/>
              <a:gd name="connsiteY0" fmla="*/ 0 h 1971581"/>
              <a:gd name="connsiteX1" fmla="*/ 1254642 w 3540642"/>
              <a:gd name="connsiteY1" fmla="*/ 1818168 h 1971581"/>
              <a:gd name="connsiteX2" fmla="*/ 3540642 w 3540642"/>
              <a:gd name="connsiteY2" fmla="*/ 1871330 h 1971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40642" h="1971581">
                <a:moveTo>
                  <a:pt x="0" y="0"/>
                </a:moveTo>
                <a:cubicBezTo>
                  <a:pt x="332267" y="753140"/>
                  <a:pt x="664535" y="1506280"/>
                  <a:pt x="1254642" y="1818168"/>
                </a:cubicBezTo>
                <a:cubicBezTo>
                  <a:pt x="1844749" y="2130056"/>
                  <a:pt x="3152554" y="1869558"/>
                  <a:pt x="3540642" y="1871330"/>
                </a:cubicBezTo>
              </a:path>
            </a:pathLst>
          </a:cu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49AA2198-75DD-5341-BC20-173EEA2BED77}"/>
              </a:ext>
            </a:extLst>
          </p:cNvPr>
          <p:cNvCxnSpPr/>
          <p:nvPr/>
        </p:nvCxnSpPr>
        <p:spPr>
          <a:xfrm>
            <a:off x="8250865" y="2721935"/>
            <a:ext cx="425302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orma libre 9">
            <a:extLst>
              <a:ext uri="{FF2B5EF4-FFF2-40B4-BE49-F238E27FC236}">
                <a16:creationId xmlns:a16="http://schemas.microsoft.com/office/drawing/2014/main" id="{CD9D11F0-45BA-50C6-0C5C-627CC60E655F}"/>
              </a:ext>
            </a:extLst>
          </p:cNvPr>
          <p:cNvSpPr/>
          <p:nvPr/>
        </p:nvSpPr>
        <p:spPr>
          <a:xfrm>
            <a:off x="7740502" y="4001317"/>
            <a:ext cx="3254763" cy="979320"/>
          </a:xfrm>
          <a:custGeom>
            <a:avLst/>
            <a:gdLst>
              <a:gd name="connsiteX0" fmla="*/ 0 w 3221665"/>
              <a:gd name="connsiteY0" fmla="*/ 0 h 967562"/>
              <a:gd name="connsiteX1" fmla="*/ 712381 w 3221665"/>
              <a:gd name="connsiteY1" fmla="*/ 797442 h 967562"/>
              <a:gd name="connsiteX2" fmla="*/ 3221665 w 3221665"/>
              <a:gd name="connsiteY2" fmla="*/ 967562 h 967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21665" h="967562">
                <a:moveTo>
                  <a:pt x="0" y="0"/>
                </a:moveTo>
                <a:cubicBezTo>
                  <a:pt x="87718" y="318091"/>
                  <a:pt x="175437" y="636182"/>
                  <a:pt x="712381" y="797442"/>
                </a:cubicBezTo>
                <a:cubicBezTo>
                  <a:pt x="1249325" y="958702"/>
                  <a:pt x="2235495" y="963132"/>
                  <a:pt x="3221665" y="967562"/>
                </a:cubicBezTo>
              </a:path>
            </a:pathLst>
          </a:cu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8C939574-6C89-6279-D716-CFDEC10972D2}"/>
              </a:ext>
            </a:extLst>
          </p:cNvPr>
          <p:cNvCxnSpPr/>
          <p:nvPr/>
        </p:nvCxnSpPr>
        <p:spPr>
          <a:xfrm>
            <a:off x="8233138" y="3193322"/>
            <a:ext cx="425302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75C8F76-F895-CF9B-BEFA-D4646F173229}"/>
              </a:ext>
            </a:extLst>
          </p:cNvPr>
          <p:cNvCxnSpPr/>
          <p:nvPr/>
        </p:nvCxnSpPr>
        <p:spPr>
          <a:xfrm>
            <a:off x="7591643" y="5001903"/>
            <a:ext cx="406164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08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7C4D0-34F1-0A94-834E-05390C487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Vecinos cercanos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66EBF-6119-C495-2250-DFAA6225C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 2.2.3</a:t>
            </a:r>
          </a:p>
        </p:txBody>
      </p:sp>
    </p:spTree>
    <p:extLst>
      <p:ext uri="{BB962C8B-B14F-4D97-AF65-F5344CB8AC3E}">
        <p14:creationId xmlns:p14="http://schemas.microsoft.com/office/powerpoint/2010/main" val="36616920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47C5-1CF1-5BD7-8E22-5FD0B175D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Vecinos cercanos 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DEC7B7-FFAA-1B1E-300A-35BAE8E1B1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Método de fuerza bruta pero efectivo 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Idea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Observamos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=1,2,,…,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s-ES_tradnl" dirty="0"/>
              </a:p>
              <a:p>
                <a:pPr lvl="2">
                  <a:lnSpc>
                    <a:spcPct val="150000"/>
                  </a:lnSpc>
                </a:pPr>
                <a:r>
                  <a:rPr lang="es-ES_tradnl" dirty="0"/>
                  <a:t>Ejemplo: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𝐸𝑚𝑝𝑙𝑒𝑎𝑑𝑜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𝑒𝑥𝑝𝑒𝑟𝑖𝑒𝑛𝑐𝑖𝑎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𝑒𝑑𝑢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Problema</a:t>
                </a:r>
                <a:r>
                  <a:rPr lang="es-ES_tradnl" dirty="0"/>
                  <a:t>: predecir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dirty="0"/>
                  <a:t> dado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¿Qué le predecimos 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es-ES_tradnl" dirty="0"/>
                  <a:t> en donde está la x?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DEC7B7-FFAA-1B1E-300A-35BAE8E1B1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b="-4070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5" descr="A two images of a face and a face&#10;&#10;Description automatically generated with medium confidence">
            <a:extLst>
              <a:ext uri="{FF2B5EF4-FFF2-40B4-BE49-F238E27FC236}">
                <a16:creationId xmlns:a16="http://schemas.microsoft.com/office/drawing/2014/main" id="{1DCF33D8-3560-1298-6013-2F58A947D3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779"/>
          <a:stretch/>
        </p:blipFill>
        <p:spPr>
          <a:xfrm>
            <a:off x="7594169" y="1119799"/>
            <a:ext cx="4169045" cy="49180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6130B0-0298-F29E-A09C-DD0EBF3C4FE6}"/>
                  </a:ext>
                </a:extLst>
              </p:cNvPr>
              <p:cNvSpPr txBox="1"/>
              <p:nvPr/>
            </p:nvSpPr>
            <p:spPr>
              <a:xfrm>
                <a:off x="7276453" y="1240850"/>
                <a:ext cx="635431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s-ES_tradnl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6130B0-0298-F29E-A09C-DD0EBF3C4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3" y="1240850"/>
                <a:ext cx="635431" cy="584775"/>
              </a:xfrm>
              <a:prstGeom prst="rect">
                <a:avLst/>
              </a:prstGeom>
              <a:blipFill>
                <a:blip r:embed="rId4"/>
                <a:stretch>
                  <a:fillRect l="-5882" b="-212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C3AAE33-3AB1-0797-D4E3-468FADC61863}"/>
                  </a:ext>
                </a:extLst>
              </p:cNvPr>
              <p:cNvSpPr txBox="1"/>
              <p:nvPr/>
            </p:nvSpPr>
            <p:spPr>
              <a:xfrm>
                <a:off x="10923076" y="5153426"/>
                <a:ext cx="635431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s-ES_tradnl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C3AAE33-3AB1-0797-D4E3-468FADC61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3076" y="5153426"/>
                <a:ext cx="635431" cy="584775"/>
              </a:xfrm>
              <a:prstGeom prst="rect">
                <a:avLst/>
              </a:prstGeom>
              <a:blipFill>
                <a:blip r:embed="rId5"/>
                <a:stretch>
                  <a:fillRect l="-5882" b="-4255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DABFEB-6E9E-A4D1-0214-EA3F9BD4D7DE}"/>
                  </a:ext>
                </a:extLst>
              </p:cNvPr>
              <p:cNvSpPr txBox="1"/>
              <p:nvPr/>
            </p:nvSpPr>
            <p:spPr>
              <a:xfrm>
                <a:off x="9159498" y="2302508"/>
                <a:ext cx="71679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es-ES_tradnl" sz="32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DABFEB-6E9E-A4D1-0214-EA3F9BD4D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9498" y="2302508"/>
                <a:ext cx="716796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02B61C6-5905-8622-9360-2D0B6571F82D}"/>
                  </a:ext>
                </a:extLst>
              </p:cNvPr>
              <p:cNvSpPr txBox="1"/>
              <p:nvPr/>
            </p:nvSpPr>
            <p:spPr>
              <a:xfrm>
                <a:off x="9149814" y="3509977"/>
                <a:ext cx="71679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𝑁𝐸</m:t>
                      </m:r>
                    </m:oMath>
                  </m:oMathPara>
                </a14:m>
                <a:endParaRPr lang="es-ES_tradnl" sz="32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02B61C6-5905-8622-9360-2D0B6571F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814" y="3509977"/>
                <a:ext cx="716796" cy="584775"/>
              </a:xfrm>
              <a:prstGeom prst="rect">
                <a:avLst/>
              </a:prstGeom>
              <a:blipFill>
                <a:blip r:embed="rId7"/>
                <a:stretch>
                  <a:fillRect l="-5172" r="-689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540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0E702-38B3-8FEF-6697-28D8332C7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5A802-445D-E045-EACF-50CF4617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Vecinos cercanos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3483BB-31D3-2FF0-8B06-FBEBA14AAE4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 lvl="1">
                  <a:lnSpc>
                    <a:spcPct val="120000"/>
                  </a:lnSpc>
                </a:pPr>
                <a:r>
                  <a:rPr lang="es-ES_tradnl" dirty="0" err="1">
                    <a:solidFill>
                      <a:srgbClr val="00B050"/>
                    </a:solidFill>
                  </a:rPr>
                  <a:t>Solucion</a:t>
                </a:r>
                <a:r>
                  <a:rPr lang="es-ES_tradnl" dirty="0"/>
                  <a:t>: computar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limLoc m:val="subSup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es-ES_tradnl" dirty="0"/>
              </a:p>
              <a:p>
                <a:pPr lvl="2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_tradnl" dirty="0"/>
                  <a:t>distancia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_tradnl" dirty="0"/>
                  <a:t>.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es-ES_tradnl" dirty="0"/>
                  <a:t>K vecinos cercanos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s-ES_tradnl" dirty="0"/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Predecir de acuerdo a la regla de Bayes (voto por mayoría)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3483BB-31D3-2FF0-8B06-FBEBA14AAE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t="-1453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Content Placeholder 5" descr="A two images of a face and a face&#10;&#10;Description automatically generated with medium confidence">
            <a:extLst>
              <a:ext uri="{FF2B5EF4-FFF2-40B4-BE49-F238E27FC236}">
                <a16:creationId xmlns:a16="http://schemas.microsoft.com/office/drawing/2014/main" id="{166A0F63-17AB-BA2F-91A0-2418BF049D3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019800" y="2074127"/>
            <a:ext cx="5686011" cy="3301555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0A0DD8-459C-3DD2-E460-71476488E716}"/>
              </a:ext>
            </a:extLst>
          </p:cNvPr>
          <p:cNvSpPr txBox="1"/>
          <p:nvPr/>
        </p:nvSpPr>
        <p:spPr>
          <a:xfrm>
            <a:off x="6095999" y="5408740"/>
            <a:ext cx="5181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Witten, Hastie y Tibshirani, 2013 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B25F78-1CD3-12AE-1896-EFC47D914BF6}"/>
              </a:ext>
            </a:extLst>
          </p:cNvPr>
          <p:cNvSpPr txBox="1"/>
          <p:nvPr/>
        </p:nvSpPr>
        <p:spPr>
          <a:xfrm>
            <a:off x="7088868" y="1698880"/>
            <a:ext cx="35478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_tradnl" sz="2000" b="1" dirty="0">
                <a:effectLst/>
                <a:latin typeface="Goudy Old Style" panose="02020502050305020303" pitchFamily="18" charset="77"/>
              </a:rPr>
              <a:t>Visualización Vecinos Cercanos</a:t>
            </a:r>
            <a:endParaRPr lang="es-ES_tradnl" sz="5400" b="1" dirty="0">
              <a:effectLst/>
              <a:latin typeface="Goudy Old Style" panose="02020502050305020303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627062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3270B-25B6-4487-F447-507C3FD74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Para distinto número K: ¿Qué ocurre con la clasificación?</a:t>
            </a:r>
          </a:p>
        </p:txBody>
      </p:sp>
      <p:pic>
        <p:nvPicPr>
          <p:cNvPr id="9" name="Content Placeholder 8" descr="A screenshot of a graph showing a map of different colored dots&#10;&#10;Description automatically generated">
            <a:extLst>
              <a:ext uri="{FF2B5EF4-FFF2-40B4-BE49-F238E27FC236}">
                <a16:creationId xmlns:a16="http://schemas.microsoft.com/office/drawing/2014/main" id="{DF3F7D04-BB43-EEB4-5940-601168C22C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90894" y="1825625"/>
            <a:ext cx="7610212" cy="4351338"/>
          </a:xfrm>
        </p:spPr>
      </p:pic>
    </p:spTree>
    <p:extLst>
      <p:ext uri="{BB962C8B-B14F-4D97-AF65-F5344CB8AC3E}">
        <p14:creationId xmlns:p14="http://schemas.microsoft.com/office/powerpoint/2010/main" val="30150203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11454-436C-4419-BA99-C094772FA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Consideraciones de Vecinos Cercanos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D27DE8-06D4-5CEC-CBDE-AE7FECB28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Método </a:t>
                </a:r>
                <a:r>
                  <a:rPr lang="es-ES_tradnl" dirty="0">
                    <a:solidFill>
                      <a:srgbClr val="002060"/>
                    </a:solidFill>
                  </a:rPr>
                  <a:t>no paramétrico </a:t>
                </a:r>
                <a:r>
                  <a:rPr lang="es-ES_tradnl" dirty="0"/>
                  <a:t>muy </a:t>
                </a:r>
                <a:r>
                  <a:rPr lang="es-ES_tradnl" dirty="0">
                    <a:solidFill>
                      <a:srgbClr val="00B050"/>
                    </a:solidFill>
                  </a:rPr>
                  <a:t>flexible</a:t>
                </a:r>
                <a:r>
                  <a:rPr lang="es-ES_tradnl" dirty="0"/>
                  <a:t> y </a:t>
                </a:r>
                <a:r>
                  <a:rPr lang="es-ES_tradnl" dirty="0">
                    <a:solidFill>
                      <a:srgbClr val="00B050"/>
                    </a:solidFill>
                  </a:rPr>
                  <a:t>generalizable</a:t>
                </a:r>
                <a:r>
                  <a:rPr lang="es-ES_tradnl" dirty="0"/>
                  <a:t>.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Elección de K (</a:t>
                </a:r>
                <a:r>
                  <a:rPr lang="es-ES_tradnl" dirty="0">
                    <a:solidFill>
                      <a:srgbClr val="002060"/>
                    </a:solidFill>
                  </a:rPr>
                  <a:t>número de vecinos</a:t>
                </a:r>
                <a:r>
                  <a:rPr lang="es-ES_tradnl" dirty="0"/>
                  <a:t>): </a:t>
                </a:r>
                <a:r>
                  <a:rPr lang="es-ES_tradnl" dirty="0">
                    <a:solidFill>
                      <a:srgbClr val="FF0000"/>
                    </a:solidFill>
                  </a:rPr>
                  <a:t>crucial</a:t>
                </a:r>
                <a:r>
                  <a:rPr lang="es-ES_tradnl" dirty="0"/>
                  <a:t>. 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Elección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s-ES_tradnl" dirty="0"/>
                  <a:t>: No trivial fuera de la distancia euclídea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¿Más de un predictor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s-ES_tradnl" dirty="0"/>
                  <a:t>? “</a:t>
                </a:r>
                <a:r>
                  <a:rPr lang="es-ES_tradnl" dirty="0">
                    <a:solidFill>
                      <a:srgbClr val="002060"/>
                    </a:solidFill>
                  </a:rPr>
                  <a:t>maldición de la dimensionalidad</a:t>
                </a:r>
                <a:r>
                  <a:rPr lang="es-ES_tradnl" dirty="0"/>
                  <a:t>”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B050"/>
                    </a:solidFill>
                  </a:rPr>
                  <a:t>Ventaja</a:t>
                </a:r>
                <a:r>
                  <a:rPr lang="es-ES_tradnl" dirty="0"/>
                  <a:t>: Funciona muy bien con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_tradnl" dirty="0"/>
                  <a:t> grande y pocos predictores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Desventaja</a:t>
                </a:r>
                <a:r>
                  <a:rPr lang="es-ES_tradnl" dirty="0"/>
                  <a:t>: No nos dice qué predictores son importantes</a:t>
                </a:r>
              </a:p>
              <a:p>
                <a:pPr lvl="1">
                  <a:lnSpc>
                    <a:spcPct val="15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D27DE8-06D4-5CEC-CBDE-AE7FECB28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b="-581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890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7C4D0-34F1-0A94-834E-05390C487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Aplicación de Vecinos Cercanos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66EBF-6119-C495-2250-DFAA6225C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Mougenot</a:t>
            </a:r>
            <a:r>
              <a:rPr lang="en-US" dirty="0"/>
              <a:t>, B., Amaya, E., </a:t>
            </a:r>
            <a:r>
              <a:rPr lang="en-US" dirty="0" err="1"/>
              <a:t>Mezones</a:t>
            </a:r>
            <a:r>
              <a:rPr lang="en-US" dirty="0"/>
              <a:t>-Holguin, E., Rodriguez-Morales, A. J., &amp; </a:t>
            </a:r>
            <a:r>
              <a:rPr lang="en-US" dirty="0" err="1"/>
              <a:t>Cabieses</a:t>
            </a:r>
            <a:r>
              <a:rPr lang="en-US" dirty="0"/>
              <a:t>, B. (2021). Immigration, perceived discrimination and mental health: evidence from Venezuelan population living in Peru. </a:t>
            </a:r>
            <a:r>
              <a:rPr lang="en-US" i="1" dirty="0"/>
              <a:t>Globalization and health</a:t>
            </a:r>
            <a:r>
              <a:rPr lang="en-US" dirty="0"/>
              <a:t>, 17, 1-9.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3563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22796-D566-47EC-C073-F01C17B72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Versión simplificada de </a:t>
            </a:r>
            <a:r>
              <a:rPr lang="es-ES_tradnl" dirty="0" err="1"/>
              <a:t>Propensity</a:t>
            </a:r>
            <a:r>
              <a:rPr lang="es-ES_tradnl" dirty="0"/>
              <a:t> Score </a:t>
            </a:r>
            <a:r>
              <a:rPr lang="es-ES_tradnl" dirty="0" err="1"/>
              <a:t>Matching</a:t>
            </a:r>
            <a:r>
              <a:rPr lang="es-ES_tradnl" dirty="0"/>
              <a:t> (PSM)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283404-0B45-6C01-CB7E-BF28514CE4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s-ES_tradnl" dirty="0">
                    <a:solidFill>
                      <a:srgbClr val="002060"/>
                    </a:solidFill>
                  </a:rPr>
                  <a:t>Idea</a:t>
                </a:r>
                <a:r>
                  <a:rPr lang="es-ES_tradnl" dirty="0"/>
                  <a:t>: </a:t>
                </a:r>
              </a:p>
              <a:p>
                <a:pPr lvl="1"/>
                <a:r>
                  <a:rPr lang="es-ES_tradnl" dirty="0"/>
                  <a:t>Para predecir la probabilidad de ser tratado: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s-ES_tradnl" dirty="0"/>
              </a:p>
              <a:p>
                <a:pPr lvl="1"/>
                <a:r>
                  <a:rPr lang="es-ES_tradnl" dirty="0"/>
                  <a:t>Queremos características balanceadas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dirty="0"/>
              </a:p>
              <a:p>
                <a:r>
                  <a:rPr lang="es-ES_tradnl" dirty="0"/>
                  <a:t>Luego se evalúa el efecto del tratamiento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s-ES_tradnl" dirty="0"/>
                  <a:t> en el </a:t>
                </a:r>
                <a:r>
                  <a:rPr lang="es-ES_tradnl" dirty="0" err="1"/>
                  <a:t>outcome</a:t>
                </a:r>
                <a:r>
                  <a:rPr lang="es-ES_tradnl" dirty="0"/>
                  <a:t> de interés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dirty="0"/>
                  <a:t> (con observaciones </a:t>
                </a:r>
                <a:r>
                  <a:rPr lang="es-ES_tradnl" dirty="0">
                    <a:solidFill>
                      <a:srgbClr val="002060"/>
                    </a:solidFill>
                  </a:rPr>
                  <a:t>parecidas</a:t>
                </a:r>
                <a:r>
                  <a:rPr lang="es-ES_tradnl" dirty="0"/>
                  <a:t> como control)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283404-0B45-6C01-CB7E-BF28514CE4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27" t="-290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CC8F6C27-61DC-2FFC-98C5-4E5983FC4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" y="4310764"/>
            <a:ext cx="10420350" cy="2290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0757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0BA3AFF-4C30-75B1-EA54-63BC0F68B39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s-ES_tradnl" dirty="0"/>
                  <a:t>Herramientas para predecir la probabilidad condicional: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𝑃𝑟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n-US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r>
                  <a:rPr lang="es-ES_tradnl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:endParaRPr lang="es-ES_tradnl" i="1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0BA3AFF-4C30-75B1-EA54-63BC0F68B3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413" t="-14286" b="-21905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EFDADF-17BD-8373-7746-DEAB13173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>
                <a:solidFill>
                  <a:srgbClr val="002060"/>
                </a:solidFill>
              </a:rPr>
              <a:t>Regresión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0731D4-40C5-CA09-E658-E3DC93F841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p>
                          </m:sSup>
                        </m:den>
                      </m:f>
                      <m:r>
                        <m:rPr>
                          <m:lit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_tradnl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s-ES_tradnl" dirty="0"/>
                  <a:t> por máxima verosimilitud</a:t>
                </a:r>
              </a:p>
              <a:p>
                <a:r>
                  <a:rPr lang="es-ES_tradnl" dirty="0"/>
                  <a:t>Predicción para cada observación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sup>
                          </m:sSup>
                        </m:den>
                      </m:f>
                      <m:r>
                        <m:rPr>
                          <m:lit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_tradnl" dirty="0"/>
              </a:p>
              <a:p>
                <a:r>
                  <a:rPr lang="es-ES_tradnl" dirty="0"/>
                  <a:t>Clasificación (</a:t>
                </a:r>
                <a:r>
                  <a:rPr lang="es-ES_tradnl" dirty="0">
                    <a:solidFill>
                      <a:srgbClr val="002060"/>
                    </a:solidFill>
                  </a:rPr>
                  <a:t>Bayes</a:t>
                </a:r>
                <a:r>
                  <a:rPr lang="es-ES_tradnl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&gt;0.5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>
                  <a:lnSpc>
                    <a:spcPct val="160000"/>
                  </a:lnSpc>
                </a:pPr>
                <a:endParaRPr lang="es-ES_tradnl" b="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160000"/>
                  </a:lnSpc>
                </a:pPr>
                <a:endParaRPr lang="es-ES_tradnl" dirty="0"/>
              </a:p>
              <a:p>
                <a:pPr>
                  <a:lnSpc>
                    <a:spcPct val="160000"/>
                  </a:lnSpc>
                </a:pPr>
                <a:endParaRPr lang="es-ES_tradnl" dirty="0"/>
              </a:p>
              <a:p>
                <a:pPr marL="0" indent="0">
                  <a:lnSpc>
                    <a:spcPct val="160000"/>
                  </a:lnSpc>
                  <a:buNone/>
                </a:pPr>
                <a:endParaRPr lang="es-ES_tradnl" dirty="0"/>
              </a:p>
              <a:p>
                <a:pPr>
                  <a:lnSpc>
                    <a:spcPct val="160000"/>
                  </a:lnSpc>
                </a:pPr>
                <a:endParaRPr lang="es-ES_tradnl" dirty="0"/>
              </a:p>
              <a:p>
                <a:pPr marL="971550" lvl="1" indent="-514350">
                  <a:lnSpc>
                    <a:spcPct val="160000"/>
                  </a:lnSpc>
                  <a:buFont typeface="+mj-lt"/>
                  <a:buAutoNum type="arabicPeriod"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0731D4-40C5-CA09-E658-E3DC93F841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4"/>
                <a:stretch>
                  <a:fillRect l="-1966" t="-1031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CC5851-20E6-C587-A5EF-F7C91BE518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_tradnl" dirty="0">
                <a:solidFill>
                  <a:srgbClr val="002060"/>
                </a:solidFill>
              </a:rPr>
              <a:t>Vecino Cercanos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6BACDA9E-B485-0092-6E75-36573A90CDA6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s-ES_tradnl" dirty="0"/>
                  <a:t>Predecir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dirty="0"/>
                  <a:t> dado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_tradnl" dirty="0"/>
                  <a:t> distancia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_tradnl" dirty="0"/>
                  <a:t>.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K vecinos cercanos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Computar: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limLoc m:val="subSup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Predecir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s-ES_tradnl" dirty="0"/>
                  <a:t> con el </a:t>
                </a:r>
                <a:r>
                  <a:rPr lang="es-ES_tradnl" dirty="0">
                    <a:solidFill>
                      <a:srgbClr val="002060"/>
                    </a:solidFill>
                  </a:rPr>
                  <a:t>voto por mayoría</a:t>
                </a:r>
              </a:p>
              <a:p>
                <a:endParaRPr lang="es-ES_tradnl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6BACDA9E-B485-0092-6E75-36573A90CD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blipFill>
                <a:blip r:embed="rId5"/>
                <a:stretch>
                  <a:fillRect l="-1956" t="-1031" r="-1956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31278E-9575-60C9-483E-D3E506BC6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354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7C4D0-34F1-0A94-834E-05390C487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Análisis ROC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66EBF-6119-C495-2250-DFAA6225C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</a:t>
            </a:r>
            <a:r>
              <a:rPr lang="en-US" dirty="0"/>
              <a:t> </a:t>
            </a:r>
            <a:r>
              <a:rPr lang="en-US" b="1" dirty="0"/>
              <a:t>4.4</a:t>
            </a:r>
            <a:endParaRPr lang="en-US" b="1" i="1" dirty="0"/>
          </a:p>
          <a:p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9EB7E0-0C95-55A1-4B97-C5CF64BEC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7602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A3AFF-4C30-75B1-EA54-63BC0F68B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Intuiciones I: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Motivación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0731D4-40C5-CA09-E658-E3DC93F841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es-ES_tradnl" dirty="0"/>
                  <a:t>Relajar la simetría del Clasificador de Bayes</a:t>
                </a:r>
              </a:p>
              <a:p>
                <a:pPr lvl="1">
                  <a:lnSpc>
                    <a:spcPct val="200000"/>
                  </a:lnSpc>
                </a:pPr>
                <a:r>
                  <a:rPr lang="es-ES_tradnl" dirty="0"/>
                  <a:t>Variar el umbral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s-ES_tradnl" dirty="0"/>
                  <a:t>, para hacer la predicción de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ES_trad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s-ES_trad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es-ES_tradnl" dirty="0"/>
                  <a:t> si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s-ES_tradnl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s-ES_tradnl" dirty="0"/>
                  <a:t> (asimetría)</a:t>
                </a:r>
              </a:p>
              <a:p>
                <a:pPr lvl="1">
                  <a:lnSpc>
                    <a:spcPct val="200000"/>
                  </a:lnSpc>
                </a:pPr>
                <a:r>
                  <a:rPr lang="es-ES_tradnl" dirty="0"/>
                  <a:t>Mas o menos predicciones positivas -&gt; altera errores de </a:t>
                </a:r>
                <a:r>
                  <a:rPr lang="es-ES_tradnl" dirty="0" err="1"/>
                  <a:t>fp</a:t>
                </a:r>
                <a:r>
                  <a:rPr lang="es-ES_tradnl" dirty="0"/>
                  <a:t> y </a:t>
                </a:r>
                <a:r>
                  <a:rPr lang="es-ES_tradnl" dirty="0" err="1"/>
                  <a:t>fn</a:t>
                </a:r>
                <a:endParaRPr lang="es-ES_tradnl" dirty="0"/>
              </a:p>
              <a:p>
                <a:pPr lvl="1">
                  <a:lnSpc>
                    <a:spcPct val="20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Trade-off clave: </a:t>
                </a:r>
                <a:r>
                  <a:rPr lang="es-ES_tradnl" dirty="0"/>
                  <a:t>reducir un error, aumenta el otro </a:t>
                </a:r>
              </a:p>
              <a:p>
                <a:pPr marL="971550" lvl="1" indent="-514350">
                  <a:lnSpc>
                    <a:spcPct val="200000"/>
                  </a:lnSpc>
                  <a:buFont typeface="+mj-lt"/>
                  <a:buAutoNum type="arabicPeriod"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0731D4-40C5-CA09-E658-E3DC93F841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27" r="-724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7AC449-1B37-7AA1-D6A2-5EC25F521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0386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4BE6-17DC-3E73-671A-9A939DE3D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78A4A-8EE2-F035-3B2D-77CB97607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Intuición II: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Ejemplo de Default con LDA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Placeholder 6">
                <a:extLst>
                  <a:ext uri="{FF2B5EF4-FFF2-40B4-BE49-F238E27FC236}">
                    <a16:creationId xmlns:a16="http://schemas.microsoft.com/office/drawing/2014/main" id="{AB9A6073-ACC5-8D67-50F9-D789BF22EAF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_tradnl" dirty="0"/>
                  <a:t>Con Clasificador de Bayes: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_trad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s-ES_tradnl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s-ES_tradnl" b="0" i="1" smtClean="0">
                        <a:latin typeface="Cambria Math" panose="02040503050406030204" pitchFamily="18" charset="0"/>
                      </a:rPr>
                      <m:t>&gt;0.5</m:t>
                    </m:r>
                  </m:oMath>
                </a14:m>
                <a:r>
                  <a:rPr lang="es-ES_tradnl" dirty="0"/>
                  <a:t> </a:t>
                </a:r>
              </a:p>
            </p:txBody>
          </p:sp>
        </mc:Choice>
        <mc:Fallback xmlns="">
          <p:sp>
            <p:nvSpPr>
              <p:cNvPr id="7" name="Text Placeholder 6">
                <a:extLst>
                  <a:ext uri="{FF2B5EF4-FFF2-40B4-BE49-F238E27FC236}">
                    <a16:creationId xmlns:a16="http://schemas.microsoft.com/office/drawing/2014/main" id="{AB9A6073-ACC5-8D67-50F9-D789BF22EA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1966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Content Placeholder 11" descr="A table with numbers and symbols&#10;&#10;Description automatically generated">
            <a:extLst>
              <a:ext uri="{FF2B5EF4-FFF2-40B4-BE49-F238E27FC236}">
                <a16:creationId xmlns:a16="http://schemas.microsoft.com/office/drawing/2014/main" id="{B35105BB-9939-3417-2A53-284F6A61EA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961231" y="3528219"/>
            <a:ext cx="4914900" cy="16383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Placeholder 8">
                <a:extLst>
                  <a:ext uri="{FF2B5EF4-FFF2-40B4-BE49-F238E27FC236}">
                    <a16:creationId xmlns:a16="http://schemas.microsoft.com/office/drawing/2014/main" id="{48A0A7A0-1D8C-8C98-FAA5-C540D3B65D6C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/>
            <p:txBody>
              <a:bodyPr/>
              <a:lstStyle/>
              <a:p>
                <a:r>
                  <a:rPr lang="es-ES_tradnl" dirty="0"/>
                  <a:t>Con otro criterio: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_trad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s-ES_tradnl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s-ES_tradnl" b="0" i="1" smtClean="0">
                        <a:latin typeface="Cambria Math" panose="02040503050406030204" pitchFamily="18" charset="0"/>
                      </a:rPr>
                      <m:t>&gt;0.2</m:t>
                    </m:r>
                  </m:oMath>
                </a14:m>
                <a:endParaRPr lang="es-ES_tradnl" dirty="0"/>
              </a:p>
            </p:txBody>
          </p:sp>
        </mc:Choice>
        <mc:Fallback xmlns="">
          <p:sp>
            <p:nvSpPr>
              <p:cNvPr id="9" name="Text Placeholder 8">
                <a:extLst>
                  <a:ext uri="{FF2B5EF4-FFF2-40B4-BE49-F238E27FC236}">
                    <a16:creationId xmlns:a16="http://schemas.microsoft.com/office/drawing/2014/main" id="{48A0A7A0-1D8C-8C98-FAA5-C540D3B65D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blipFill>
                <a:blip r:embed="rId5"/>
                <a:stretch>
                  <a:fillRect l="-1956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Content Placeholder 13" descr="A table with numbers and text&#10;&#10;Description automatically generated">
            <a:extLst>
              <a:ext uri="{FF2B5EF4-FFF2-40B4-BE49-F238E27FC236}">
                <a16:creationId xmlns:a16="http://schemas.microsoft.com/office/drawing/2014/main" id="{E9407452-EA84-8B24-45B9-E66834AF44D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6"/>
          <a:stretch>
            <a:fillRect/>
          </a:stretch>
        </p:blipFill>
        <p:spPr>
          <a:xfrm>
            <a:off x="6261894" y="3445669"/>
            <a:ext cx="5003800" cy="18034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1722E-2ACF-0E14-8AC7-9BA264B2B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DD8051B-89DB-AFBD-8A6B-51418CF334EF}"/>
                  </a:ext>
                </a:extLst>
              </p:cNvPr>
              <p:cNvSpPr txBox="1"/>
              <p:nvPr/>
            </p:nvSpPr>
            <p:spPr>
              <a:xfrm>
                <a:off x="575468" y="4347369"/>
                <a:ext cx="803564" cy="376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s-ES_tradnl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ES_tradnl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DD8051B-89DB-AFBD-8A6B-51418CF33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468" y="4347369"/>
                <a:ext cx="803564" cy="37677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C976D90-1215-51C4-DCC1-CB2FDDAD704D}"/>
                  </a:ext>
                </a:extLst>
              </p:cNvPr>
              <p:cNvSpPr txBox="1"/>
              <p:nvPr/>
            </p:nvSpPr>
            <p:spPr>
              <a:xfrm>
                <a:off x="5966076" y="4347369"/>
                <a:ext cx="803564" cy="376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s-ES_tradnl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ES_tradnl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C976D90-1215-51C4-DCC1-CB2FDDAD70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6076" y="4347369"/>
                <a:ext cx="803564" cy="376770"/>
              </a:xfrm>
              <a:prstGeom prst="rect">
                <a:avLst/>
              </a:prstGeom>
              <a:blipFill>
                <a:blip r:embed="rId8"/>
                <a:stretch>
                  <a:fillRect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2F31DB5-7CBF-67ED-672C-365A8B604EB0}"/>
                  </a:ext>
                </a:extLst>
              </p:cNvPr>
              <p:cNvSpPr txBox="1"/>
              <p:nvPr/>
            </p:nvSpPr>
            <p:spPr>
              <a:xfrm>
                <a:off x="3844089" y="3264205"/>
                <a:ext cx="87229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sz="1800" b="0" i="1" noProof="0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2F31DB5-7CBF-67ED-672C-365A8B604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089" y="3264205"/>
                <a:ext cx="87229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E7079E6-D204-1C0E-1683-95706900C4FA}"/>
                  </a:ext>
                </a:extLst>
              </p:cNvPr>
              <p:cNvSpPr txBox="1"/>
              <p:nvPr/>
            </p:nvSpPr>
            <p:spPr>
              <a:xfrm>
                <a:off x="9179091" y="3158887"/>
                <a:ext cx="87229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sz="1800" b="0" i="1" noProof="0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E7079E6-D204-1C0E-1683-95706900C4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9091" y="3158887"/>
                <a:ext cx="87229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E971A373-906F-7D44-EBC0-DFE04CF4B8EC}"/>
              </a:ext>
            </a:extLst>
          </p:cNvPr>
          <p:cNvGrpSpPr/>
          <p:nvPr/>
        </p:nvGrpSpPr>
        <p:grpSpPr>
          <a:xfrm>
            <a:off x="4280234" y="4535754"/>
            <a:ext cx="5882711" cy="207557"/>
            <a:chOff x="4280234" y="4535754"/>
            <a:chExt cx="5882711" cy="2075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211536C-789F-B7FE-463E-41FAC92BECAB}"/>
                </a:ext>
              </a:extLst>
            </p:cNvPr>
            <p:cNvSpPr/>
            <p:nvPr/>
          </p:nvSpPr>
          <p:spPr>
            <a:xfrm>
              <a:off x="4280234" y="4535754"/>
              <a:ext cx="554182" cy="20755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5368DCB-CFF2-D3A8-ADF2-609C1C4F76D5}"/>
                </a:ext>
              </a:extLst>
            </p:cNvPr>
            <p:cNvSpPr/>
            <p:nvPr/>
          </p:nvSpPr>
          <p:spPr>
            <a:xfrm>
              <a:off x="9608763" y="4535754"/>
              <a:ext cx="554182" cy="20755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12466FA-ED93-4FBE-8934-08263A0B1049}"/>
              </a:ext>
            </a:extLst>
          </p:cNvPr>
          <p:cNvGrpSpPr/>
          <p:nvPr/>
        </p:nvGrpSpPr>
        <p:grpSpPr>
          <a:xfrm>
            <a:off x="3578143" y="4535237"/>
            <a:ext cx="5882711" cy="207557"/>
            <a:chOff x="4280234" y="4535754"/>
            <a:chExt cx="5882711" cy="207557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D0EE345-22C9-3F96-5761-EE1107992A61}"/>
                </a:ext>
              </a:extLst>
            </p:cNvPr>
            <p:cNvSpPr/>
            <p:nvPr/>
          </p:nvSpPr>
          <p:spPr>
            <a:xfrm>
              <a:off x="4280234" y="4535754"/>
              <a:ext cx="554182" cy="20755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4D0663D-CB0C-4DA3-5B05-9E952A059484}"/>
                </a:ext>
              </a:extLst>
            </p:cNvPr>
            <p:cNvSpPr/>
            <p:nvPr/>
          </p:nvSpPr>
          <p:spPr>
            <a:xfrm>
              <a:off x="9608763" y="4535754"/>
              <a:ext cx="554182" cy="20755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592BBA7-FE64-CF42-DB46-AB037E15096B}"/>
              </a:ext>
            </a:extLst>
          </p:cNvPr>
          <p:cNvGrpSpPr/>
          <p:nvPr/>
        </p:nvGrpSpPr>
        <p:grpSpPr>
          <a:xfrm>
            <a:off x="4280234" y="4243590"/>
            <a:ext cx="5882711" cy="207557"/>
            <a:chOff x="4280234" y="4535754"/>
            <a:chExt cx="5882711" cy="20755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6A06916-CB22-1491-BFBE-54262E6A4D78}"/>
                </a:ext>
              </a:extLst>
            </p:cNvPr>
            <p:cNvSpPr/>
            <p:nvPr/>
          </p:nvSpPr>
          <p:spPr>
            <a:xfrm>
              <a:off x="4280234" y="4535754"/>
              <a:ext cx="554182" cy="20755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ED418CE-1FA9-5A9B-50E0-92F1A4DBD903}"/>
                </a:ext>
              </a:extLst>
            </p:cNvPr>
            <p:cNvSpPr/>
            <p:nvPr/>
          </p:nvSpPr>
          <p:spPr>
            <a:xfrm>
              <a:off x="9608763" y="4535754"/>
              <a:ext cx="554182" cy="20755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</p:grpSp>
    </p:spTree>
    <p:extLst>
      <p:ext uri="{BB962C8B-B14F-4D97-AF65-F5344CB8AC3E}">
        <p14:creationId xmlns:p14="http://schemas.microsoft.com/office/powerpoint/2010/main" val="2400231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079D6-C978-91AD-A9D5-15BE7F23B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0BF8F-E358-E628-0A35-A82F00C3F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Intuiciones III: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Idea de Curva ROC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26EEEC-67AD-DAAF-3C98-A591A047C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s-ES_tradnl" dirty="0"/>
              <a:t>Relajar la simetría del Clasificador de Bayes</a:t>
            </a:r>
          </a:p>
          <a:p>
            <a:pPr lvl="1">
              <a:lnSpc>
                <a:spcPct val="150000"/>
              </a:lnSpc>
            </a:pPr>
            <a:r>
              <a:rPr lang="es-ES_tradnl" dirty="0">
                <a:solidFill>
                  <a:srgbClr val="FF0000"/>
                </a:solidFill>
              </a:rPr>
              <a:t>Trade-off: </a:t>
            </a:r>
            <a:r>
              <a:rPr lang="es-ES_tradnl" dirty="0"/>
              <a:t>reducir un error, aumenta el otro </a:t>
            </a:r>
          </a:p>
          <a:p>
            <a:pPr>
              <a:lnSpc>
                <a:spcPct val="150000"/>
              </a:lnSpc>
            </a:pPr>
            <a:r>
              <a:rPr lang="es-ES_tradnl" dirty="0">
                <a:solidFill>
                  <a:srgbClr val="002060"/>
                </a:solidFill>
              </a:rPr>
              <a:t>Curva ROC </a:t>
            </a:r>
            <a:r>
              <a:rPr lang="es-ES_tradnl" dirty="0">
                <a:solidFill>
                  <a:srgbClr val="00B050"/>
                </a:solidFill>
              </a:rPr>
              <a:t>ilustra</a:t>
            </a:r>
            <a:r>
              <a:rPr lang="es-ES_tradnl" dirty="0"/>
              <a:t> ese </a:t>
            </a:r>
            <a:r>
              <a:rPr lang="es-ES_tradnl" dirty="0" err="1"/>
              <a:t>trade</a:t>
            </a:r>
            <a:r>
              <a:rPr lang="es-ES_tradnl" dirty="0"/>
              <a:t>-off</a:t>
            </a:r>
          </a:p>
          <a:p>
            <a:pPr>
              <a:lnSpc>
                <a:spcPct val="150000"/>
              </a:lnSpc>
            </a:pPr>
            <a:r>
              <a:rPr lang="es-ES_tradnl" dirty="0"/>
              <a:t>Permite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s-ES_tradnl" dirty="0">
                <a:solidFill>
                  <a:srgbClr val="002060"/>
                </a:solidFill>
              </a:rPr>
              <a:t>Medir</a:t>
            </a:r>
            <a:r>
              <a:rPr lang="es-ES_tradnl" dirty="0"/>
              <a:t> la capacidad </a:t>
            </a:r>
            <a:r>
              <a:rPr lang="es-ES_tradnl" dirty="0">
                <a:solidFill>
                  <a:srgbClr val="002060"/>
                </a:solidFill>
              </a:rPr>
              <a:t>predictiva</a:t>
            </a:r>
            <a:r>
              <a:rPr lang="es-ES_tradnl" dirty="0"/>
              <a:t> de modelos de clasificación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s-ES_tradnl" dirty="0">
                <a:solidFill>
                  <a:srgbClr val="002060"/>
                </a:solidFill>
              </a:rPr>
              <a:t>Comparar</a:t>
            </a:r>
            <a:r>
              <a:rPr lang="es-ES_tradnl" dirty="0"/>
              <a:t> métodos de clasificación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endParaRPr lang="es-ES_trad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8799E-31C4-242F-4BE9-60D966A90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8576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53E0F-A88D-0129-851B-D24B787E0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Notación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6854A7-B097-BE14-A12D-B5A6693977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s-ES_tradnl" sz="32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s-ES_tradnl" sz="3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s-ES_tradnl" sz="3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s-ES_tradnl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_tradnl" sz="3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s-ES_tradnl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s-ES_tradnl" sz="3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_tradnl" sz="3200" b="0" dirty="0"/>
                  <a:t> total de positivos</a:t>
                </a:r>
              </a:p>
              <a:p>
                <a14:m>
                  <m:oMath xmlns:m="http://schemas.openxmlformats.org/officeDocument/2006/math">
                    <m:r>
                      <a:rPr lang="es-ES_tradnl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s-ES_tradnl" sz="3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_tradnl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s-ES_tradnl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s-ES_tradnl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_tradnl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s-ES_tradnl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s-ES_tradnl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_tradnl" dirty="0"/>
                  <a:t> total de negativos</a:t>
                </a:r>
              </a:p>
              <a:p>
                <a14:m>
                  <m:oMath xmlns:m="http://schemas.openxmlformats.org/officeDocument/2006/math">
                    <m:r>
                      <a:rPr lang="es-ES_tradnl" sz="32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s-ES_tradnl" sz="3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_tradnl" sz="32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s-ES_tradnl" sz="3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s-ES_tradnl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s-ES_tradnl" sz="3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_tradnl" sz="3200" b="0" i="1" smtClean="0">
                        <a:latin typeface="Cambria Math" panose="02040503050406030204" pitchFamily="18" charset="0"/>
                      </a:rPr>
                      <m:t>𝑡𝑜𝑡𝑎𝑙</m:t>
                    </m:r>
                  </m:oMath>
                </a14:m>
                <a:endParaRPr lang="es-ES_tradnl" sz="3200" b="0" dirty="0"/>
              </a:p>
              <a:p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𝑣𝑝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_tradnl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s-ES_tradnl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̂"/>
                            <m:ctrlPr>
                              <a:rPr lang="es-ES_tradn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s-ES_tradnl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_tradnl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s-ES_tradnl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  <m:sSub>
                          <m:sSubPr>
                            <m:ctrlPr>
                              <a:rPr lang="es-ES_tradnl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_tradnl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s-ES_tradnl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s-ES_tradnl" dirty="0"/>
              </a:p>
              <a:p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𝑓𝑝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_tradnl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s-ES_tradnl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̂"/>
                            <m:ctrlPr>
                              <a:rPr lang="es-ES_tradn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s-ES_tradnl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_tradnl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s-ES_tradnl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s-ES_tradnl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_tradnl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s-ES_tradnl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s-ES_tradnl" dirty="0"/>
              </a:p>
              <a:p>
                <a:pPr marL="0" indent="0">
                  <a:buNone/>
                </a:pPr>
                <a:endParaRPr lang="es-ES_tradnl" sz="2400" dirty="0"/>
              </a:p>
              <a:p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𝑡𝑓𝑝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𝑓𝑝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s-ES_tradnl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𝑡𝑣𝑝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𝑣𝑝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6854A7-B097-BE14-A12D-B5A6693977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t="-2005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4B5C96-C3B9-9940-6FAB-59179E350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1837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0E4FD-2DBC-AAD4-5AD2-71B1A7DA0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Medidas de error de clasificación -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1325563"/>
              </a:xfrm>
            </p:spPr>
            <p:txBody>
              <a:bodyPr>
                <a:normAutofit/>
              </a:bodyPr>
              <a:lstStyle/>
              <a:p>
                <a:r>
                  <a:rPr lang="es-ES_tradnl" sz="2800" dirty="0"/>
                  <a:t>Tasa de falsos positivos: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𝑡𝑓𝑝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𝑓𝑝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𝐸𝑟𝑟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=1−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𝑠𝑝𝑒𝑐𝑖𝑓𝑖𝑐𝑖𝑡𝑦</m:t>
                    </m:r>
                  </m:oMath>
                </a14:m>
                <a:endParaRPr lang="es-ES_tradnl" sz="2800" dirty="0"/>
              </a:p>
              <a:p>
                <a:r>
                  <a:rPr lang="es-ES_tradnl" sz="2800" dirty="0"/>
                  <a:t>Tasa de verdaderos positivos: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𝑡𝑣𝑝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𝑣𝑝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den>
                    </m:f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=1−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𝐸𝑟𝑟𝐼𝐼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𝑠𝑒𝑛𝑠𝑖𝑡𝑖𝑣𝑖𝑡𝑦</m:t>
                    </m:r>
                  </m:oMath>
                </a14:m>
                <a:endParaRPr lang="es-ES_tradnl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1325563"/>
              </a:xfrm>
              <a:blipFill>
                <a:blip r:embed="rId2"/>
                <a:stretch>
                  <a:fillRect l="-1086" t="-52830" b="-50943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ED466492-FF8A-2A15-5CE0-A53A1A8D559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063930" y="2977241"/>
              <a:ext cx="7488280" cy="34584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21115">
                      <a:extLst>
                        <a:ext uri="{9D8B030D-6E8A-4147-A177-3AD203B41FA5}">
                          <a16:colId xmlns:a16="http://schemas.microsoft.com/office/drawing/2014/main" val="4265273"/>
                        </a:ext>
                      </a:extLst>
                    </a:gridCol>
                    <a:gridCol w="811091">
                      <a:extLst>
                        <a:ext uri="{9D8B030D-6E8A-4147-A177-3AD203B41FA5}">
                          <a16:colId xmlns:a16="http://schemas.microsoft.com/office/drawing/2014/main" val="2383779966"/>
                        </a:ext>
                      </a:extLst>
                    </a:gridCol>
                    <a:gridCol w="2644156">
                      <a:extLst>
                        <a:ext uri="{9D8B030D-6E8A-4147-A177-3AD203B41FA5}">
                          <a16:colId xmlns:a16="http://schemas.microsoft.com/office/drawing/2014/main" val="808224985"/>
                        </a:ext>
                      </a:extLst>
                    </a:gridCol>
                    <a:gridCol w="2303498">
                      <a:extLst>
                        <a:ext uri="{9D8B030D-6E8A-4147-A177-3AD203B41FA5}">
                          <a16:colId xmlns:a16="http://schemas.microsoft.com/office/drawing/2014/main" val="1798307737"/>
                        </a:ext>
                      </a:extLst>
                    </a:gridCol>
                    <a:gridCol w="908420">
                      <a:extLst>
                        <a:ext uri="{9D8B030D-6E8A-4147-A177-3AD203B41FA5}">
                          <a16:colId xmlns:a16="http://schemas.microsoft.com/office/drawing/2014/main" val="3560947047"/>
                        </a:ext>
                      </a:extLst>
                    </a:gridCol>
                  </a:tblGrid>
                  <a:tr h="382626">
                    <a:tc>
                      <a:txBody>
                        <a:bodyPr/>
                        <a:lstStyle/>
                        <a:p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b="0" i="1" noProof="0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049628750"/>
                      </a:ext>
                    </a:extLst>
                  </a:tr>
                  <a:tr h="437932"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es-ES_tradnl" sz="2300" b="0" i="1" noProof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s-ES_tradnl" sz="2300" b="0" i="1" noProof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4435227"/>
                      </a:ext>
                    </a:extLst>
                  </a:tr>
                  <a:tr h="98955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Verdadero Negativo (</a:t>
                          </a:r>
                          <a:r>
                            <a:rPr lang="es-ES_tradnl" sz="2300" noProof="0" dirty="0" err="1">
                              <a:latin typeface="Gill Sans Nova Light" panose="020B0302020104020203" pitchFamily="34" charset="0"/>
                            </a:rPr>
                            <a:t>vn</a:t>
                          </a:r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Falso negativo</a:t>
                          </a:r>
                        </a:p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(</a:t>
                          </a:r>
                          <a:r>
                            <a:rPr lang="es-ES_tradnl" sz="2300" noProof="0" dirty="0" err="1">
                              <a:latin typeface="Gill Sans Nova Light" panose="020B0302020104020203" pitchFamily="34" charset="0"/>
                            </a:rPr>
                            <a:t>fn</a:t>
                          </a:r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)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283319013"/>
                      </a:ext>
                    </a:extLst>
                  </a:tr>
                  <a:tr h="98955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Falso positivo</a:t>
                          </a:r>
                        </a:p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(</a:t>
                          </a:r>
                          <a:r>
                            <a:rPr lang="es-ES_tradnl" sz="2300" noProof="0" dirty="0" err="1">
                              <a:latin typeface="Gill Sans Nova Light" panose="020B0302020104020203" pitchFamily="34" charset="0"/>
                            </a:rPr>
                            <a:t>fp</a:t>
                          </a:r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Verdadero positivo</a:t>
                          </a:r>
                        </a:p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(</a:t>
                          </a:r>
                          <a:r>
                            <a:rPr lang="es-ES_tradnl" sz="2300" noProof="0" dirty="0" err="1">
                              <a:latin typeface="Gill Sans Nova Light" panose="020B0302020104020203" pitchFamily="34" charset="0"/>
                            </a:rPr>
                            <a:t>vp</a:t>
                          </a:r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)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s-ES_tradnl" sz="28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03389189"/>
                      </a:ext>
                    </a:extLst>
                  </a:tr>
                  <a:tr h="437932"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3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300" b="0" i="1" noProof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6325893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ED466492-FF8A-2A15-5CE0-A53A1A8D55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7086876"/>
                  </p:ext>
                </p:extLst>
              </p:nvPr>
            </p:nvGraphicFramePr>
            <p:xfrm>
              <a:off x="2063930" y="2977241"/>
              <a:ext cx="7488280" cy="34584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21115">
                      <a:extLst>
                        <a:ext uri="{9D8B030D-6E8A-4147-A177-3AD203B41FA5}">
                          <a16:colId xmlns:a16="http://schemas.microsoft.com/office/drawing/2014/main" val="4265273"/>
                        </a:ext>
                      </a:extLst>
                    </a:gridCol>
                    <a:gridCol w="811091">
                      <a:extLst>
                        <a:ext uri="{9D8B030D-6E8A-4147-A177-3AD203B41FA5}">
                          <a16:colId xmlns:a16="http://schemas.microsoft.com/office/drawing/2014/main" val="2383779966"/>
                        </a:ext>
                      </a:extLst>
                    </a:gridCol>
                    <a:gridCol w="2644156">
                      <a:extLst>
                        <a:ext uri="{9D8B030D-6E8A-4147-A177-3AD203B41FA5}">
                          <a16:colId xmlns:a16="http://schemas.microsoft.com/office/drawing/2014/main" val="808224985"/>
                        </a:ext>
                      </a:extLst>
                    </a:gridCol>
                    <a:gridCol w="2303498">
                      <a:extLst>
                        <a:ext uri="{9D8B030D-6E8A-4147-A177-3AD203B41FA5}">
                          <a16:colId xmlns:a16="http://schemas.microsoft.com/office/drawing/2014/main" val="1798307737"/>
                        </a:ext>
                      </a:extLst>
                    </a:gridCol>
                    <a:gridCol w="908420">
                      <a:extLst>
                        <a:ext uri="{9D8B030D-6E8A-4147-A177-3AD203B41FA5}">
                          <a16:colId xmlns:a16="http://schemas.microsoft.com/office/drawing/2014/main" val="3560947047"/>
                        </a:ext>
                      </a:extLst>
                    </a:gridCol>
                  </a:tblGrid>
                  <a:tr h="441960">
                    <a:tc>
                      <a:txBody>
                        <a:bodyPr/>
                        <a:lstStyle/>
                        <a:p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4317" r="-15859" b="-68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049628750"/>
                      </a:ext>
                    </a:extLst>
                  </a:tr>
                  <a:tr h="441960">
                    <a:tc row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17241" r="-809231" b="-172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4435227"/>
                      </a:ext>
                    </a:extLst>
                  </a:tr>
                  <a:tr h="98955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Verdadero Negativo (</a:t>
                          </a:r>
                          <a:r>
                            <a:rPr lang="es-ES_tradnl" sz="2300" noProof="0" dirty="0" err="1">
                              <a:latin typeface="Gill Sans Nova Light" panose="020B0302020104020203" pitchFamily="34" charset="0"/>
                            </a:rPr>
                            <a:t>vn</a:t>
                          </a:r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Falso negativo</a:t>
                          </a:r>
                        </a:p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(</a:t>
                          </a:r>
                          <a:r>
                            <a:rPr lang="es-ES_tradnl" sz="2300" noProof="0" dirty="0" err="1">
                              <a:latin typeface="Gill Sans Nova Light" panose="020B0302020104020203" pitchFamily="34" charset="0"/>
                            </a:rPr>
                            <a:t>fn</a:t>
                          </a:r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)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20833" t="-89744" b="-1602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3319013"/>
                      </a:ext>
                    </a:extLst>
                  </a:tr>
                  <a:tr h="114300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Falso positivo</a:t>
                          </a:r>
                        </a:p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(</a:t>
                          </a:r>
                          <a:r>
                            <a:rPr lang="es-ES_tradnl" sz="2300" noProof="0" dirty="0" err="1">
                              <a:latin typeface="Gill Sans Nova Light" panose="020B0302020104020203" pitchFamily="34" charset="0"/>
                            </a:rPr>
                            <a:t>fp</a:t>
                          </a:r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Verdadero positivo</a:t>
                          </a:r>
                        </a:p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(</a:t>
                          </a:r>
                          <a:r>
                            <a:rPr lang="es-ES_tradnl" sz="2300" noProof="0" dirty="0" err="1">
                              <a:latin typeface="Gill Sans Nova Light" panose="020B0302020104020203" pitchFamily="34" charset="0"/>
                            </a:rPr>
                            <a:t>vp</a:t>
                          </a:r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)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20833" t="-164444" b="-38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03389189"/>
                      </a:ext>
                    </a:extLst>
                  </a:tr>
                  <a:tr h="441960"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61722" t="-680000" r="-1210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86740" t="-680000" r="-397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63258935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FC0E77-F3C0-A87F-49F9-4878E2221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5316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3BB58-5855-ACF9-ED81-BEC9A8A85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Medidas de Error y Curva ROC - grafico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6326567-2749-1F0C-A234-8D38FD16C72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60000"/>
                  </a:lnSpc>
                </a:pPr>
                <a:r>
                  <a:rPr lang="en-US" dirty="0"/>
                  <a:t>ROC: </a:t>
                </a:r>
                <a:r>
                  <a:rPr lang="en-US" dirty="0">
                    <a:solidFill>
                      <a:srgbClr val="002060"/>
                    </a:solidFill>
                  </a:rPr>
                  <a:t>receiver operating characteristics</a:t>
                </a:r>
              </a:p>
              <a:p>
                <a:pPr>
                  <a:lnSpc>
                    <a:spcPct val="160000"/>
                  </a:lnSpc>
                </a:pPr>
                <a:r>
                  <a:rPr lang="en-US" dirty="0" err="1">
                    <a:solidFill>
                      <a:srgbClr val="FF0000"/>
                    </a:solidFill>
                  </a:rPr>
                  <a:t>Curva</a:t>
                </a:r>
                <a:r>
                  <a:rPr lang="en-US" dirty="0">
                    <a:solidFill>
                      <a:srgbClr val="FF0000"/>
                    </a:solidFill>
                  </a:rPr>
                  <a:t> ROC </a:t>
                </a:r>
                <a:r>
                  <a:rPr lang="en-US" i="1" dirty="0">
                    <a:solidFill>
                      <a:srgbClr val="FF0000"/>
                    </a:solidFill>
                  </a:rPr>
                  <a:t>:</a:t>
                </a:r>
              </a:p>
              <a:p>
                <a:pPr lvl="1">
                  <a:lnSpc>
                    <a:spcPct val="160000"/>
                  </a:lnSpc>
                </a:pPr>
                <a:r>
                  <a:rPr lang="en-US" dirty="0" err="1">
                    <a:solidFill>
                      <a:srgbClr val="002060"/>
                    </a:solidFill>
                  </a:rPr>
                  <a:t>Eje</a:t>
                </a:r>
                <a:r>
                  <a:rPr lang="en-US" dirty="0">
                    <a:solidFill>
                      <a:srgbClr val="002060"/>
                    </a:solidFill>
                  </a:rPr>
                  <a:t> x: </a:t>
                </a:r>
                <a:r>
                  <a:rPr lang="es-ES_tradnl" dirty="0"/>
                  <a:t>Tasa de falsos positivos </a:t>
                </a:r>
              </a:p>
              <a:p>
                <a:pPr marL="457200" lvl="1" indent="0">
                  <a:lnSpc>
                    <a:spcPct val="16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𝑡𝑓𝑝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𝑓𝑝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i="1" dirty="0"/>
              </a:p>
              <a:p>
                <a:pPr lvl="1">
                  <a:lnSpc>
                    <a:spcPct val="160000"/>
                  </a:lnSpc>
                </a:pPr>
                <a:r>
                  <a:rPr lang="en-US" dirty="0" err="1"/>
                  <a:t>Eje</a:t>
                </a:r>
                <a:r>
                  <a:rPr lang="en-US" dirty="0"/>
                  <a:t> Y: </a:t>
                </a:r>
                <a:r>
                  <a:rPr lang="es-ES_tradnl" dirty="0"/>
                  <a:t>Tasa de verdaderos positivos</a:t>
                </a:r>
                <a:endParaRPr lang="en-US" dirty="0"/>
              </a:p>
              <a:p>
                <a:pPr marL="457200" lvl="1" indent="0">
                  <a:lnSpc>
                    <a:spcPct val="16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𝑡𝑣𝑝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𝑣𝑝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>
                  <a:lnSpc>
                    <a:spcPct val="160000"/>
                  </a:lnSpc>
                </a:pPr>
                <a:r>
                  <a:rPr lang="en-US" dirty="0">
                    <a:solidFill>
                      <a:srgbClr val="002060"/>
                    </a:solidFill>
                  </a:rPr>
                  <a:t>Accuracy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en-US" dirty="0"/>
                  <a:t>. Similar 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>
                  <a:lnSpc>
                    <a:spcPct val="160000"/>
                  </a:lnSpc>
                </a:pPr>
                <a:endParaRPr lang="en-US" i="1" dirty="0"/>
              </a:p>
              <a:p>
                <a:pPr>
                  <a:lnSpc>
                    <a:spcPct val="160000"/>
                  </a:lnSpc>
                </a:pPr>
                <a:endParaRPr lang="en-US" i="1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6326567-2749-1F0C-A234-8D38FD16C7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467" b="-319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 descr="A graph of a curve&#10;&#10;Description automatically generated">
            <a:extLst>
              <a:ext uri="{FF2B5EF4-FFF2-40B4-BE49-F238E27FC236}">
                <a16:creationId xmlns:a16="http://schemas.microsoft.com/office/drawing/2014/main" id="{E07EEF54-105D-F402-7367-E2DA7A7B47E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4"/>
          <a:srcRect l="8151" r="18370"/>
          <a:stretch/>
        </p:blipFill>
        <p:spPr>
          <a:xfrm>
            <a:off x="6628360" y="1604963"/>
            <a:ext cx="4725440" cy="45720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CB09-AEB1-A75A-06EF-05BE71250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C31EA3-181A-392B-C96A-0F5B5413CFAC}"/>
              </a:ext>
            </a:extLst>
          </p:cNvPr>
          <p:cNvSpPr txBox="1"/>
          <p:nvPr/>
        </p:nvSpPr>
        <p:spPr>
          <a:xfrm>
            <a:off x="6019801" y="6130509"/>
            <a:ext cx="5942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G., Witten, D., Hastie, T., Tibshirani, R., &amp; Taylor, J. (2023). p.155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2734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3BB58-5855-ACF9-ED81-BEC9A8A85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Medidas de Error y Curva ROC: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Intuición 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6326567-2749-1F0C-A234-8D38FD16C72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Clasificador binario: 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s-ES_tradnl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s-ES_tradnl" i="1" dirty="0" smtClean="0">
                          <a:latin typeface="Cambria Math" panose="02040503050406030204" pitchFamily="18" charset="0"/>
                        </a:rPr>
                        <m:t>= 1 [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_tradnl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s-ES_tradnl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s-ES_tradnl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s-ES_tradnl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s-ES_tradnl" dirty="0"/>
              </a:p>
              <a:p>
                <a:pPr marL="23495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 ∈ [0, 1]</m:t>
                    </m:r>
                  </m:oMath>
                </a14:m>
                <a:r>
                  <a:rPr lang="es-ES_tradnl" dirty="0"/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Con el </a:t>
                </a:r>
                <a:r>
                  <a:rPr lang="es-ES_tradnl" dirty="0">
                    <a:solidFill>
                      <a:srgbClr val="002060"/>
                    </a:solidFill>
                  </a:rPr>
                  <a:t>Clasificador de Bayes</a:t>
                </a:r>
                <a:r>
                  <a:rPr lang="es-ES_tradnl" dirty="0"/>
                  <a:t>: </a:t>
                </a:r>
                <a14:m>
                  <m:oMath xmlns:m="http://schemas.openxmlformats.org/officeDocument/2006/math"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s-ES_tradnl" dirty="0"/>
                  <a:t> (simetría)</a:t>
                </a:r>
              </a:p>
              <a:p>
                <a:pPr>
                  <a:lnSpc>
                    <a:spcPct val="15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6326567-2749-1F0C-A234-8D38FD16C7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689" r="-489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 descr="A graph of a curve&#10;&#10;Description automatically generated">
            <a:extLst>
              <a:ext uri="{FF2B5EF4-FFF2-40B4-BE49-F238E27FC236}">
                <a16:creationId xmlns:a16="http://schemas.microsoft.com/office/drawing/2014/main" id="{E07EEF54-105D-F402-7367-E2DA7A7B47E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3"/>
          <a:srcRect l="8151" r="18370"/>
          <a:stretch/>
        </p:blipFill>
        <p:spPr>
          <a:xfrm>
            <a:off x="6628360" y="1604963"/>
            <a:ext cx="4725440" cy="45720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0163B-4A02-D25B-A1B6-2CE477F5A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48B2E4-F39D-78DC-68AA-511CA8BDBBB0}"/>
              </a:ext>
            </a:extLst>
          </p:cNvPr>
          <p:cNvSpPr txBox="1"/>
          <p:nvPr/>
        </p:nvSpPr>
        <p:spPr>
          <a:xfrm>
            <a:off x="6019801" y="6130509"/>
            <a:ext cx="5942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G., Witten, D., Hastie, T., Tibshirani, R., &amp; Taylor, J. (2023). p.155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8920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93BBC-F7A5-A72F-2518-A50F054F9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BECB0-2EEE-B6D7-5834-2A87F2FC8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Medidas de Error y Curva ROC: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Intuición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A02B312-56D9-BE3D-3578-1FBA8F754B5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lnSpc>
                    <a:spcPct val="160000"/>
                  </a:lnSpc>
                  <a:buNone/>
                </a:pPr>
                <a:r>
                  <a:rPr lang="es-ES_tradnl" dirty="0"/>
                  <a:t>¿Asimetría?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endParaRPr lang="es-ES_tradnl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160000"/>
                  </a:lnSpc>
                </a:pPr>
                <a14:m>
                  <m:oMath xmlns:m="http://schemas.openxmlformats.org/officeDocument/2006/math"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s-ES_tradnl" dirty="0"/>
                  <a:t> todos clasificados negativos</a:t>
                </a:r>
              </a:p>
              <a:p>
                <a:pPr lvl="1">
                  <a:lnSpc>
                    <a:spcPct val="160000"/>
                  </a:lnSpc>
                </a:pPr>
                <a14:m>
                  <m:oMath xmlns:m="http://schemas.openxmlformats.org/officeDocument/2006/math"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𝑡𝑣𝑝</m:t>
                    </m:r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 =0</m:t>
                    </m:r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r>
                      <a:rPr lang="es-ES_tradnl" i="1" dirty="0">
                        <a:latin typeface="Cambria Math" panose="02040503050406030204" pitchFamily="18" charset="0"/>
                      </a:rPr>
                      <m:t>𝑡𝑓𝑝</m:t>
                    </m:r>
                    <m:r>
                      <a:rPr lang="es-ES_tradnl" i="1" dirty="0">
                        <a:latin typeface="Cambria Math" panose="02040503050406030204" pitchFamily="18" charset="0"/>
                      </a:rPr>
                      <m:t> =0</m:t>
                    </m:r>
                  </m:oMath>
                </a14:m>
                <a:endParaRPr lang="en-US" b="0" dirty="0"/>
              </a:p>
              <a:p>
                <a:pPr>
                  <a:lnSpc>
                    <a:spcPct val="160000"/>
                  </a:lnSpc>
                </a:pPr>
                <a14:m>
                  <m:oMath xmlns:m="http://schemas.openxmlformats.org/officeDocument/2006/math"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s-ES_tradnl" dirty="0"/>
                  <a:t> todos clasificados positivos</a:t>
                </a:r>
              </a:p>
              <a:p>
                <a:pPr lvl="1">
                  <a:lnSpc>
                    <a:spcPct val="160000"/>
                  </a:lnSpc>
                </a:pPr>
                <a14:m>
                  <m:oMath xmlns:m="http://schemas.openxmlformats.org/officeDocument/2006/math"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𝑡𝑣𝑝</m:t>
                    </m:r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 =1</m:t>
                    </m:r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r>
                      <a:rPr lang="es-ES_tradnl" i="1" dirty="0">
                        <a:latin typeface="Cambria Math" panose="02040503050406030204" pitchFamily="18" charset="0"/>
                      </a:rPr>
                      <m:t>𝑡𝑓𝑝</m:t>
                    </m:r>
                    <m:r>
                      <a:rPr lang="es-ES_tradnl" i="1" dirty="0">
                        <a:latin typeface="Cambria Math" panose="02040503050406030204" pitchFamily="18" charset="0"/>
                      </a:rPr>
                      <m:t> =1</m:t>
                    </m:r>
                  </m:oMath>
                </a14:m>
                <a:endParaRPr lang="en-US" b="0" dirty="0"/>
              </a:p>
              <a:p>
                <a:pPr>
                  <a:lnSpc>
                    <a:spcPct val="16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Curva ROC</a:t>
                </a:r>
                <a:r>
                  <a:rPr lang="es-ES_tradnl" dirty="0"/>
                  <a:t>: (</a:t>
                </a:r>
                <a:r>
                  <a:rPr lang="es-ES_tradnl" dirty="0" err="1"/>
                  <a:t>tfp</a:t>
                </a:r>
                <a:r>
                  <a:rPr lang="es-ES_tradnl" dirty="0"/>
                  <a:t>, </a:t>
                </a:r>
                <a:r>
                  <a:rPr lang="es-ES_tradnl" dirty="0" err="1"/>
                  <a:t>tvp</a:t>
                </a:r>
                <a:r>
                  <a:rPr lang="es-ES_tradnl" dirty="0"/>
                  <a:t>) para todos los valores posibles de c ∈ [0, 1].</a:t>
                </a:r>
              </a:p>
              <a:p>
                <a:pPr>
                  <a:lnSpc>
                    <a:spcPct val="16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Idealmente</a:t>
                </a:r>
                <a:r>
                  <a:rPr lang="es-ES_tradnl" dirty="0"/>
                  <a:t>: </a:t>
                </a:r>
                <a14:m>
                  <m:oMath xmlns:m="http://schemas.openxmlformats.org/officeDocument/2006/math"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𝑡𝑣𝑝</m:t>
                    </m:r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 = 1 </m:t>
                    </m:r>
                  </m:oMath>
                </a14:m>
                <a:r>
                  <a:rPr lang="es-ES_tradnl" dirty="0"/>
                  <a:t>y </a:t>
                </a:r>
                <a14:m>
                  <m:oMath xmlns:m="http://schemas.openxmlformats.org/officeDocument/2006/math"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𝑡𝑓𝑝</m:t>
                    </m:r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 = 0</m:t>
                    </m:r>
                  </m:oMath>
                </a14:m>
                <a:endParaRPr lang="es-ES_tradnl" dirty="0"/>
              </a:p>
              <a:p>
                <a:pPr>
                  <a:lnSpc>
                    <a:spcPct val="16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A02B312-56D9-BE3D-3578-1FBA8F754B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46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 descr="A graph of a curve&#10;&#10;Description automatically generated">
            <a:extLst>
              <a:ext uri="{FF2B5EF4-FFF2-40B4-BE49-F238E27FC236}">
                <a16:creationId xmlns:a16="http://schemas.microsoft.com/office/drawing/2014/main" id="{2350B163-5496-D257-3E77-AF13E063BC2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3"/>
          <a:srcRect l="8151" r="18370"/>
          <a:stretch/>
        </p:blipFill>
        <p:spPr>
          <a:xfrm>
            <a:off x="6628360" y="1604963"/>
            <a:ext cx="4725440" cy="457200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B571A74-113E-A36E-DAA5-472051E34AEC}"/>
              </a:ext>
            </a:extLst>
          </p:cNvPr>
          <p:cNvSpPr txBox="1"/>
          <p:nvPr/>
        </p:nvSpPr>
        <p:spPr>
          <a:xfrm>
            <a:off x="6019801" y="6130509"/>
            <a:ext cx="5942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G., Witten, D., Hastie, T., Tibshirani, R., &amp; Taylor, J. (2023). p.155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6AD85B-1FCB-4733-24C3-D92E4715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21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0E4FD-2DBC-AAD4-5AD2-71B1A7DA0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Usos de ROC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¿Curva ROC ideal?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AROC (AUC)</a:t>
                </a:r>
                <a:r>
                  <a:rPr lang="es-ES_tradnl" dirty="0"/>
                  <a:t>: </a:t>
                </a:r>
                <a:r>
                  <a:rPr lang="es-ES_tradnl" dirty="0" err="1">
                    <a:solidFill>
                      <a:srgbClr val="002060"/>
                    </a:solidFill>
                  </a:rPr>
                  <a:t>Area</a:t>
                </a:r>
                <a:r>
                  <a:rPr lang="es-ES_tradnl" dirty="0">
                    <a:solidFill>
                      <a:srgbClr val="002060"/>
                    </a:solidFill>
                  </a:rPr>
                  <a:t> </a:t>
                </a:r>
                <a:r>
                  <a:rPr lang="es-ES_tradnl" dirty="0" err="1">
                    <a:solidFill>
                      <a:srgbClr val="002060"/>
                    </a:solidFill>
                  </a:rPr>
                  <a:t>under</a:t>
                </a:r>
                <a:r>
                  <a:rPr lang="es-ES_tradnl" dirty="0">
                    <a:solidFill>
                      <a:srgbClr val="002060"/>
                    </a:solidFill>
                  </a:rPr>
                  <a:t> ROC </a:t>
                </a:r>
                <a:r>
                  <a:rPr lang="es-ES_tradnl" dirty="0"/>
                  <a:t>(suerte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s-ES_tradnl" dirty="0"/>
                  <a:t>) 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Herramienta para comparar clasificadores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¿Elección de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s-ES_tradnl" dirty="0"/>
                  <a:t>? Fijar un máximo tolerable para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𝑡𝑓𝑝</m:t>
                    </m:r>
                  </m:oMath>
                </a14:m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25709E-9A15-12B5-D60D-55BA71D5F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2331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0E4FD-2DBC-AAD4-5AD2-71B1A7DA0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Otras tasas que pueden ser de interés 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Sensibilidad: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𝑡𝑣𝑝</m:t>
                    </m:r>
                  </m:oMath>
                </a14:m>
                <a:endParaRPr lang="es-ES_tradnl" dirty="0"/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Razón de falsos positivos: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𝑡𝑓𝑝</m:t>
                    </m:r>
                  </m:oMath>
                </a14:m>
                <a:r>
                  <a:rPr lang="es-ES_tradnl" dirty="0"/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Exactitud/Precisión: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s-ES_tradnl" dirty="0"/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Especificidad: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s-ES_tradnl" dirty="0"/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Valor predictivo positivo: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s-ES_tradnl" dirty="0"/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Valor predictivo negativo: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ES_tradnl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9919D-9F5C-A184-5F72-3E9AD2BD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7492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57CD-60DB-7599-DBBF-E7E34F55F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Comparación empírica de los clasificadores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E002C-8C25-F567-04EE-6365B0376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¿Cuál método es mejor?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</a:t>
            </a:r>
            <a:r>
              <a:rPr lang="en-US" dirty="0"/>
              <a:t> </a:t>
            </a:r>
            <a:r>
              <a:rPr lang="en-US" b="1" dirty="0"/>
              <a:t>4.5.2</a:t>
            </a:r>
            <a:endParaRPr lang="en-US" b="1" i="1" dirty="0"/>
          </a:p>
          <a:p>
            <a:endParaRPr lang="es-ES_tradnl" dirty="0"/>
          </a:p>
          <a:p>
            <a:endParaRPr lang="es-ES_trad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7E429F-0EF3-0F6D-291B-C4403C792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459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47C5-1CF1-5BD7-8E22-5FD0B175D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Comparación Escenarios 1 a 3: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límite de Bayes lineal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FC4A5B-2BF2-2C26-3AF5-0B023D20993E}"/>
              </a:ext>
            </a:extLst>
          </p:cNvPr>
          <p:cNvSpPr txBox="1"/>
          <p:nvPr/>
        </p:nvSpPr>
        <p:spPr>
          <a:xfrm>
            <a:off x="1421876" y="6154321"/>
            <a:ext cx="78016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G., Witten, D., Hastie, T., Tibshirani, R., &amp; Taylor, J. (2023). p.165 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1CA82B-3EA4-40E2-593C-1AA98D1EE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47</a:t>
            </a:fld>
            <a:endParaRPr lang="en-US"/>
          </a:p>
        </p:txBody>
      </p:sp>
      <p:pic>
        <p:nvPicPr>
          <p:cNvPr id="9" name="Content Placeholder 8" descr="A group of boxes with different colored squares&#10;&#10;Description automatically generated">
            <a:extLst>
              <a:ext uri="{FF2B5EF4-FFF2-40B4-BE49-F238E27FC236}">
                <a16:creationId xmlns:a16="http://schemas.microsoft.com/office/drawing/2014/main" id="{9963BAD0-A99B-2F3F-14E1-F02F5A583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81519" y="1825625"/>
            <a:ext cx="8428962" cy="4351338"/>
          </a:xfrm>
        </p:spPr>
      </p:pic>
    </p:spTree>
    <p:extLst>
      <p:ext uri="{BB962C8B-B14F-4D97-AF65-F5344CB8AC3E}">
        <p14:creationId xmlns:p14="http://schemas.microsoft.com/office/powerpoint/2010/main" val="14193394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47C5-1CF1-5BD7-8E22-5FD0B175D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Comparación Escenarios 4 a 6: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límite de Bayes no lineal</a:t>
            </a:r>
            <a:endParaRPr lang="es-ES_trad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CDE4A7-6714-132C-9A6B-DE90B5172828}"/>
              </a:ext>
            </a:extLst>
          </p:cNvPr>
          <p:cNvSpPr txBox="1"/>
          <p:nvPr/>
        </p:nvSpPr>
        <p:spPr>
          <a:xfrm>
            <a:off x="1644316" y="6230521"/>
            <a:ext cx="724126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G., Witten, D., Hastie, T., Tibshirani, R., &amp; Taylor, J. (2023). p.166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BEFFBA-A811-07A3-1A19-0851782C5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48</a:t>
            </a:fld>
            <a:endParaRPr lang="en-US"/>
          </a:p>
        </p:txBody>
      </p:sp>
      <p:pic>
        <p:nvPicPr>
          <p:cNvPr id="9" name="Content Placeholder 8" descr="A group of boxes with different colored squares&#10;&#10;Description automatically generated">
            <a:extLst>
              <a:ext uri="{FF2B5EF4-FFF2-40B4-BE49-F238E27FC236}">
                <a16:creationId xmlns:a16="http://schemas.microsoft.com/office/drawing/2014/main" id="{DC140E2B-D80A-C468-1A40-4235EAC608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57348" y="1825625"/>
            <a:ext cx="8277304" cy="4351338"/>
          </a:xfrm>
        </p:spPr>
      </p:pic>
    </p:spTree>
    <p:extLst>
      <p:ext uri="{BB962C8B-B14F-4D97-AF65-F5344CB8AC3E}">
        <p14:creationId xmlns:p14="http://schemas.microsoft.com/office/powerpoint/2010/main" val="4028464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57CD-60DB-7599-DBBF-E7E34F55F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Conclusiones finales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E002C-8C25-F567-04EE-6365B0376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¿Qué aprendimos hoy?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580811-4E8A-0CFA-2D7A-CC97B0990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0561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3BB58-5855-ACF9-ED81-BEC9A8A85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¿Que aprendimos hoy?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A5571-2769-CCAB-A4A1-42266B991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70000"/>
              </a:lnSpc>
            </a:pPr>
            <a:r>
              <a:rPr lang="es-ES_tradnl" dirty="0">
                <a:solidFill>
                  <a:srgbClr val="002060"/>
                </a:solidFill>
              </a:rPr>
              <a:t>Partimos</a:t>
            </a:r>
            <a:r>
              <a:rPr lang="es-ES_tradnl" dirty="0"/>
              <a:t> de las tomas de decisiones como </a:t>
            </a:r>
            <a:r>
              <a:rPr lang="es-ES_tradnl" dirty="0">
                <a:solidFill>
                  <a:srgbClr val="002060"/>
                </a:solidFill>
              </a:rPr>
              <a:t>motivación</a:t>
            </a:r>
            <a:r>
              <a:rPr lang="es-ES_tradnl" dirty="0"/>
              <a:t> para la clasificación</a:t>
            </a:r>
          </a:p>
          <a:p>
            <a:pPr>
              <a:lnSpc>
                <a:spcPct val="170000"/>
              </a:lnSpc>
            </a:pPr>
            <a:r>
              <a:rPr lang="es-ES_tradnl" dirty="0">
                <a:solidFill>
                  <a:srgbClr val="002060"/>
                </a:solidFill>
              </a:rPr>
              <a:t>Definimos</a:t>
            </a:r>
            <a:r>
              <a:rPr lang="es-ES_tradnl" dirty="0"/>
              <a:t> la función de riesgo para introducir </a:t>
            </a:r>
            <a:r>
              <a:rPr lang="es-ES_tradnl" dirty="0">
                <a:solidFill>
                  <a:srgbClr val="002060"/>
                </a:solidFill>
              </a:rPr>
              <a:t>formalmente</a:t>
            </a:r>
            <a:r>
              <a:rPr lang="es-ES_tradnl" dirty="0"/>
              <a:t> el Clasificador de Bayes </a:t>
            </a:r>
          </a:p>
          <a:p>
            <a:pPr>
              <a:lnSpc>
                <a:spcPct val="170000"/>
              </a:lnSpc>
            </a:pPr>
            <a:r>
              <a:rPr lang="es-ES_tradnl" dirty="0">
                <a:solidFill>
                  <a:srgbClr val="002060"/>
                </a:solidFill>
              </a:rPr>
              <a:t>Desarrollamos</a:t>
            </a:r>
            <a:r>
              <a:rPr lang="es-ES_tradnl" dirty="0"/>
              <a:t> métodos más usados de Clasificación y </a:t>
            </a:r>
            <a:r>
              <a:rPr lang="es-ES_tradnl" dirty="0">
                <a:solidFill>
                  <a:srgbClr val="002060"/>
                </a:solidFill>
              </a:rPr>
              <a:t>mencionamos</a:t>
            </a:r>
            <a:r>
              <a:rPr lang="es-ES_tradnl" dirty="0"/>
              <a:t> un par de aplicaciones</a:t>
            </a:r>
          </a:p>
          <a:p>
            <a:pPr lvl="1">
              <a:lnSpc>
                <a:spcPct val="120000"/>
              </a:lnSpc>
            </a:pPr>
            <a:r>
              <a:rPr lang="es-ES_tradnl" dirty="0">
                <a:solidFill>
                  <a:srgbClr val="002060"/>
                </a:solidFill>
              </a:rPr>
              <a:t>Regresión Logística </a:t>
            </a:r>
            <a:r>
              <a:rPr lang="es-ES_tradnl" dirty="0"/>
              <a:t>con introducción estimador de </a:t>
            </a:r>
            <a:r>
              <a:rPr lang="es-ES_tradnl" dirty="0">
                <a:solidFill>
                  <a:srgbClr val="00B050"/>
                </a:solidFill>
              </a:rPr>
              <a:t>máxima verosimilitud</a:t>
            </a:r>
          </a:p>
          <a:p>
            <a:pPr lvl="1">
              <a:lnSpc>
                <a:spcPct val="120000"/>
              </a:lnSpc>
            </a:pPr>
            <a:r>
              <a:rPr lang="es-ES_tradnl" dirty="0">
                <a:solidFill>
                  <a:srgbClr val="002060"/>
                </a:solidFill>
              </a:rPr>
              <a:t>Describimos </a:t>
            </a:r>
            <a:r>
              <a:rPr lang="es-ES_tradnl" dirty="0"/>
              <a:t>el problema y solución práctica para </a:t>
            </a:r>
            <a:r>
              <a:rPr lang="es-ES_tradnl" dirty="0">
                <a:solidFill>
                  <a:srgbClr val="002060"/>
                </a:solidFill>
              </a:rPr>
              <a:t>Vecinos cercanos </a:t>
            </a:r>
            <a:r>
              <a:rPr lang="es-ES_tradnl" dirty="0"/>
              <a:t>estimador no paramétrico</a:t>
            </a:r>
          </a:p>
          <a:p>
            <a:pPr lvl="2">
              <a:lnSpc>
                <a:spcPct val="120000"/>
              </a:lnSpc>
            </a:pPr>
            <a:endParaRPr lang="es-ES_tradnl" dirty="0"/>
          </a:p>
          <a:p>
            <a:pPr lvl="1">
              <a:lnSpc>
                <a:spcPct val="170000"/>
              </a:lnSpc>
            </a:pP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9673808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99168-AA67-F1BE-BEB5-BFF50FDBF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¿Qué aprendimos hoy?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66B93-964D-A72E-FB12-DE627F299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s-ES_tradnl" dirty="0">
                <a:solidFill>
                  <a:srgbClr val="002060"/>
                </a:solidFill>
              </a:rPr>
              <a:t>Discutimos</a:t>
            </a:r>
            <a:r>
              <a:rPr lang="es-ES_tradnl" dirty="0"/>
              <a:t> sobre la construcción de la curva ROC 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Aprendimos sobre la </a:t>
            </a:r>
            <a:r>
              <a:rPr lang="es-ES_tradnl" dirty="0">
                <a:solidFill>
                  <a:srgbClr val="002060"/>
                </a:solidFill>
              </a:rPr>
              <a:t>pendiente positiva de ROC </a:t>
            </a:r>
            <a:r>
              <a:rPr lang="es-ES_tradnl" dirty="0"/>
              <a:t>&amp; que está por </a:t>
            </a:r>
            <a:r>
              <a:rPr lang="es-ES_tradnl" dirty="0">
                <a:solidFill>
                  <a:srgbClr val="002060"/>
                </a:solidFill>
              </a:rPr>
              <a:t>arriba de línea 45</a:t>
            </a:r>
          </a:p>
          <a:p>
            <a:pPr>
              <a:lnSpc>
                <a:spcPct val="150000"/>
              </a:lnSpc>
            </a:pPr>
            <a:r>
              <a:rPr lang="es-ES_tradnl" dirty="0">
                <a:solidFill>
                  <a:srgbClr val="002060"/>
                </a:solidFill>
              </a:rPr>
              <a:t>Comparamos</a:t>
            </a:r>
            <a:r>
              <a:rPr lang="es-ES_tradnl" dirty="0"/>
              <a:t> los métodos de clasificación para 6 escenarios distintos: 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Lección principal: </a:t>
            </a:r>
            <a:r>
              <a:rPr lang="es-ES_tradnl" dirty="0">
                <a:solidFill>
                  <a:srgbClr val="FF0000"/>
                </a:solidFill>
              </a:rPr>
              <a:t>Ningún método domina siempre</a:t>
            </a:r>
            <a:r>
              <a:rPr lang="es-ES_tradnl" dirty="0"/>
              <a:t>. Depende del contexto.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7E39AB-00F5-ADEE-08FA-C6F284265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001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D55B1-4C9E-9A68-CAC5-2D5211025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_tradnl" dirty="0"/>
              <a:t>¿Dudas, consultas?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6DE542-4031-D126-7AAF-A0332014D1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s-ES_tradnl" dirty="0"/>
              <a:t>Consultas: </a:t>
            </a:r>
            <a:r>
              <a:rPr lang="es-ES_tradnl" dirty="0">
                <a:hlinkClick r:id="rId2"/>
              </a:rPr>
              <a:t>mromero@udesa.edu.ar</a:t>
            </a:r>
            <a:r>
              <a:rPr lang="es-ES_tradnl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2557C-64E1-99EA-732F-3F53925CF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285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2226</TotalTime>
  <Words>2468</Words>
  <Application>Microsoft Macintosh PowerPoint</Application>
  <PresentationFormat>Panorámica</PresentationFormat>
  <Paragraphs>404</Paragraphs>
  <Slides>52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52</vt:i4>
      </vt:variant>
    </vt:vector>
  </HeadingPairs>
  <TitlesOfParts>
    <vt:vector size="61" baseType="lpstr">
      <vt:lpstr>Arial</vt:lpstr>
      <vt:lpstr>Calibri</vt:lpstr>
      <vt:lpstr>Cambria Math</vt:lpstr>
      <vt:lpstr>Gill Sans Nova Light</vt:lpstr>
      <vt:lpstr>Goudy Old Style</vt:lpstr>
      <vt:lpstr>Times</vt:lpstr>
      <vt:lpstr>Times New Roman</vt:lpstr>
      <vt:lpstr>Wingdings</vt:lpstr>
      <vt:lpstr>Office Theme</vt:lpstr>
      <vt:lpstr>Problema de Clasificación: Logit, KNN y Curvas ROC</vt:lpstr>
      <vt:lpstr>Cuestiones operativas del curso: Próximos Deadlines</vt:lpstr>
      <vt:lpstr>En la clase de hoy</vt:lpstr>
      <vt:lpstr>De la Etapa Explorativa a la Predicción</vt:lpstr>
      <vt:lpstr>Clasificación: Motivación y primeras definiciones</vt:lpstr>
      <vt:lpstr>Motivación: Decisiones con varias opciones</vt:lpstr>
      <vt:lpstr>Motivación: Decisiones con varias opciones</vt:lpstr>
      <vt:lpstr>Teoría de decisión y Matriz de posibilidades</vt:lpstr>
      <vt:lpstr>Ilustraciones: Error tipo I y tipo II</vt:lpstr>
      <vt:lpstr>Ejemplos y Errores: ¿qué error queremos minimizar?</vt:lpstr>
      <vt:lpstr>Clasificador de Bayes</vt:lpstr>
      <vt:lpstr>Clasificador de Bayes: Intuitivamente</vt:lpstr>
      <vt:lpstr>Posibles soluciones</vt:lpstr>
      <vt:lpstr>Modelo lineal para Clasificar: ¿Por qué no p=Pr⁡(Y=1|X)=Xβ?</vt:lpstr>
      <vt:lpstr>Regresión logística</vt:lpstr>
      <vt:lpstr>Función logística   </vt:lpstr>
      <vt:lpstr>Interpretación de Efecto Marginal con Logit I</vt:lpstr>
      <vt:lpstr>Interpretación de Efecto Marginal con Logit II</vt:lpstr>
      <vt:lpstr>¿Cómo estimamos los coeficientes de p=e^z/(1+e^z ) \ donde z≡Xβ es vectores de K coeficientes?   </vt:lpstr>
      <vt:lpstr>Intro a la estimación de Máxima verosimilitud (MLE)</vt:lpstr>
      <vt:lpstr>Estimación MLE I</vt:lpstr>
      <vt:lpstr>Estimación MLE II</vt:lpstr>
      <vt:lpstr>Logit por estimación de MLE</vt:lpstr>
      <vt:lpstr>Resumen en la práctica:</vt:lpstr>
      <vt:lpstr>Aplicación de Regresión logística</vt:lpstr>
      <vt:lpstr>Visualización de efectos marginales</vt:lpstr>
      <vt:lpstr>Vecinos cercanos</vt:lpstr>
      <vt:lpstr>Vecinos cercanos I</vt:lpstr>
      <vt:lpstr>Vecinos cercanos II</vt:lpstr>
      <vt:lpstr>Para distinto número K: ¿Qué ocurre con la clasificación?</vt:lpstr>
      <vt:lpstr>Consideraciones de Vecinos Cercanos</vt:lpstr>
      <vt:lpstr>Aplicación de Vecinos Cercanos</vt:lpstr>
      <vt:lpstr>Versión simplificada de Propensity Score Matching (PSM)</vt:lpstr>
      <vt:lpstr>Herramientas para predecir la probabilidad condicional: p=Pr⁡(Y=1|X) </vt:lpstr>
      <vt:lpstr>Análisis ROC</vt:lpstr>
      <vt:lpstr>Intuiciones I: Motivación</vt:lpstr>
      <vt:lpstr>Intuición II: Ejemplo de Default con LDA</vt:lpstr>
      <vt:lpstr>Intuiciones III: Idea de Curva ROC</vt:lpstr>
      <vt:lpstr>Notación</vt:lpstr>
      <vt:lpstr>Medidas de error de clasificación - Performance</vt:lpstr>
      <vt:lpstr>Medidas de Error y Curva ROC - grafico </vt:lpstr>
      <vt:lpstr>Medidas de Error y Curva ROC: Intuición I</vt:lpstr>
      <vt:lpstr>Medidas de Error y Curva ROC: Intuición II</vt:lpstr>
      <vt:lpstr>Usos de ROC</vt:lpstr>
      <vt:lpstr>Otras tasas que pueden ser de interés …</vt:lpstr>
      <vt:lpstr>Comparación empírica de los clasificadores</vt:lpstr>
      <vt:lpstr>Comparación Escenarios 1 a 3: límite de Bayes lineal</vt:lpstr>
      <vt:lpstr>Comparación Escenarios 4 a 6: límite de Bayes no lineal</vt:lpstr>
      <vt:lpstr>Conclusiones finales</vt:lpstr>
      <vt:lpstr>¿Que aprendimos hoy?</vt:lpstr>
      <vt:lpstr>¿Qué aprendimos hoy?</vt:lpstr>
      <vt:lpstr>¿Dudas, consultas?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data, Aprendizaje y Minería de Datos:  Perspectivas, ideas y herramientas para economistas</dc:title>
  <dc:creator>Romero, Maria Noelia</dc:creator>
  <cp:lastModifiedBy>Noelia Romero</cp:lastModifiedBy>
  <cp:revision>398</cp:revision>
  <dcterms:created xsi:type="dcterms:W3CDTF">2023-06-12T20:51:31Z</dcterms:created>
  <dcterms:modified xsi:type="dcterms:W3CDTF">2025-09-26T19:45:05Z</dcterms:modified>
</cp:coreProperties>
</file>