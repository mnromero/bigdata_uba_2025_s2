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493" r:id="rId2"/>
    <p:sldId id="494" r:id="rId3"/>
    <p:sldId id="259" r:id="rId4"/>
    <p:sldId id="406" r:id="rId5"/>
    <p:sldId id="303" r:id="rId6"/>
    <p:sldId id="257" r:id="rId7"/>
    <p:sldId id="410" r:id="rId8"/>
    <p:sldId id="267" r:id="rId9"/>
    <p:sldId id="275" r:id="rId10"/>
    <p:sldId id="412" r:id="rId11"/>
    <p:sldId id="322" r:id="rId12"/>
    <p:sldId id="413" r:id="rId13"/>
    <p:sldId id="486" r:id="rId14"/>
    <p:sldId id="323" r:id="rId15"/>
    <p:sldId id="304" r:id="rId16"/>
    <p:sldId id="272" r:id="rId17"/>
    <p:sldId id="338" r:id="rId18"/>
    <p:sldId id="415" r:id="rId19"/>
    <p:sldId id="416" r:id="rId20"/>
    <p:sldId id="277" r:id="rId21"/>
    <p:sldId id="278" r:id="rId22"/>
    <p:sldId id="279" r:id="rId23"/>
    <p:sldId id="280" r:id="rId24"/>
    <p:sldId id="487" r:id="rId25"/>
    <p:sldId id="314" r:id="rId26"/>
    <p:sldId id="325" r:id="rId27"/>
    <p:sldId id="521" r:id="rId28"/>
    <p:sldId id="305" r:id="rId29"/>
    <p:sldId id="261" r:id="rId30"/>
    <p:sldId id="417" r:id="rId31"/>
    <p:sldId id="408" r:id="rId32"/>
    <p:sldId id="284" r:id="rId33"/>
    <p:sldId id="319" r:id="rId34"/>
    <p:sldId id="324" r:id="rId35"/>
    <p:sldId id="492" r:id="rId36"/>
    <p:sldId id="306" r:id="rId37"/>
    <p:sldId id="488" r:id="rId38"/>
    <p:sldId id="445" r:id="rId39"/>
    <p:sldId id="422" r:id="rId40"/>
    <p:sldId id="302" r:id="rId41"/>
    <p:sldId id="308" r:id="rId42"/>
    <p:sldId id="489" r:id="rId43"/>
    <p:sldId id="309" r:id="rId44"/>
    <p:sldId id="420" r:id="rId45"/>
    <p:sldId id="311" r:id="rId46"/>
    <p:sldId id="312" r:id="rId47"/>
    <p:sldId id="313" r:id="rId48"/>
    <p:sldId id="490" r:id="rId49"/>
    <p:sldId id="336" r:id="rId50"/>
    <p:sldId id="337" r:id="rId51"/>
    <p:sldId id="300" r:id="rId52"/>
    <p:sldId id="491" r:id="rId53"/>
    <p:sldId id="407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93"/>
            <p14:sldId id="494"/>
            <p14:sldId id="259"/>
            <p14:sldId id="406"/>
          </p14:sldIdLst>
        </p14:section>
        <p14:section name="Introduccion a clasificacion: Motivacion" id="{F06AC147-1820-E64A-873C-8C467231AE8F}">
          <p14:sldIdLst>
            <p14:sldId id="303"/>
            <p14:sldId id="257"/>
            <p14:sldId id="410"/>
            <p14:sldId id="267"/>
            <p14:sldId id="275"/>
            <p14:sldId id="412"/>
          </p14:sldIdLst>
        </p14:section>
        <p14:section name="Clasificador de Bayes y Modelo de Regresion" id="{75D31724-3B6C-E842-978D-4FEEBABBFA4D}">
          <p14:sldIdLst>
            <p14:sldId id="322"/>
            <p14:sldId id="413"/>
            <p14:sldId id="486"/>
            <p14:sldId id="323"/>
          </p14:sldIdLst>
        </p14:section>
        <p14:section name="Regresion logistica" id="{2E57ED2F-9D3F-B24B-9EE9-DAF2BAA9B52E}">
          <p14:sldIdLst>
            <p14:sldId id="304"/>
            <p14:sldId id="272"/>
            <p14:sldId id="338"/>
            <p14:sldId id="415"/>
          </p14:sldIdLst>
        </p14:section>
        <p14:section name="Maxima Verosimilitud" id="{C7B1B21F-2FF4-3348-A0A0-B4FC4E7A73E8}">
          <p14:sldIdLst>
            <p14:sldId id="416"/>
            <p14:sldId id="277"/>
            <p14:sldId id="278"/>
            <p14:sldId id="279"/>
            <p14:sldId id="280"/>
            <p14:sldId id="487"/>
          </p14:sldIdLst>
        </p14:section>
        <p14:section name="Aplicacion Logit" id="{A93DBF9C-5601-B84F-AF0F-1BE4C76D83D4}">
          <p14:sldIdLst>
            <p14:sldId id="314"/>
            <p14:sldId id="325"/>
            <p14:sldId id="521"/>
          </p14:sldIdLst>
        </p14:section>
        <p14:section name="Vecinos ceranos" id="{5623DDE8-0602-0D4F-AFA1-3B05F3F0BCCE}">
          <p14:sldIdLst>
            <p14:sldId id="305"/>
            <p14:sldId id="261"/>
            <p14:sldId id="417"/>
            <p14:sldId id="408"/>
            <p14:sldId id="284"/>
          </p14:sldIdLst>
        </p14:section>
        <p14:section name="Aplicacion de Vecinos Cercanos" id="{A95A98F8-39CB-444E-BFB7-60CD4FFF73DC}">
          <p14:sldIdLst>
            <p14:sldId id="319"/>
            <p14:sldId id="324"/>
            <p14:sldId id="492"/>
          </p14:sldIdLst>
        </p14:section>
        <p14:section name="Analisis ROC" id="{2E190116-1E3A-0542-A6E8-462CAAD56ED1}">
          <p14:sldIdLst>
            <p14:sldId id="306"/>
            <p14:sldId id="488"/>
            <p14:sldId id="445"/>
            <p14:sldId id="422"/>
            <p14:sldId id="302"/>
            <p14:sldId id="308"/>
            <p14:sldId id="489"/>
            <p14:sldId id="309"/>
            <p14:sldId id="420"/>
            <p14:sldId id="311"/>
            <p14:sldId id="312"/>
          </p14:sldIdLst>
        </p14:section>
        <p14:section name="Comparacion empírica de los clasificadoeres" id="{6B6EB91E-ADAE-2C4E-9155-F5CFFB3076BE}">
          <p14:sldIdLst>
            <p14:sldId id="313"/>
            <p14:sldId id="490"/>
            <p14:sldId id="336"/>
          </p14:sldIdLst>
        </p14:section>
        <p14:section name="Conclusiones finales" id="{30AE4762-25DE-C74D-AF95-4AEC0CC37FB0}">
          <p14:sldIdLst>
            <p14:sldId id="337"/>
            <p14:sldId id="300"/>
            <p14:sldId id="491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37"/>
    <p:restoredTop sz="79353"/>
  </p:normalViewPr>
  <p:slideViewPr>
    <p:cSldViewPr snapToGrid="0">
      <p:cViewPr varScale="1">
        <p:scale>
          <a:sx n="83" d="100"/>
          <a:sy n="83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47155-560D-CC43-A75F-B08C641787EA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30DE0-2491-4445-BD47-B1B1930FC5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1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43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6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1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7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* Revisar sección: </a:t>
            </a:r>
            <a:r>
              <a:rPr lang="en-US" dirty="0"/>
              <a:t>Chapter 3.3.1 </a:t>
            </a:r>
            <a:r>
              <a:rPr lang="en-US" dirty="0" err="1"/>
              <a:t>en</a:t>
            </a:r>
            <a:r>
              <a:rPr lang="en-US" dirty="0"/>
              <a:t> JAMES, G., WITTEN, D., HASTIE, T. U TIBSHIRANI, T. (2014) </a:t>
            </a:r>
            <a:r>
              <a:rPr lang="en-US" i="1" dirty="0"/>
              <a:t>An Introduction to Statistical Learning</a:t>
            </a: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02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56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22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b="1" dirty="0"/>
              <a:t>Interpretación: </a:t>
            </a:r>
            <a:r>
              <a:rPr lang="es-ES_tradnl" b="0" dirty="0"/>
              <a:t>“Si el delito más grave del caso fue un delito contra la propiedad con violencia, las probabilidades de reincidencia violenta son 176% mayores, manteniendo todas las demás variables constantes.” (p.579)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b="0" dirty="0"/>
              <a:t>“El país de nacimiento muestra que nacer en algunos países conlleva un gran aumento en la probabilidad de violencia. Los perpetradores nacidos en las Antillas Neerlandesas, Aruba o Surinam tienen aproximadamente un 30 % más de probabilidades de reincidencia, independientemente de las demás características.” (p.579 y 580)</a:t>
            </a:r>
          </a:p>
          <a:p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83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16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91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  <a:p>
            <a:r>
              <a:rPr lang="es-ES_tradnl" b="1" dirty="0"/>
              <a:t>Link al </a:t>
            </a:r>
            <a:r>
              <a:rPr lang="es-ES_tradnl" b="1" dirty="0" err="1"/>
              <a:t>paper</a:t>
            </a:r>
            <a:r>
              <a:rPr lang="es-ES_tradnl" b="1" dirty="0"/>
              <a:t>: </a:t>
            </a:r>
            <a:r>
              <a:rPr lang="es-ES_tradnl" dirty="0"/>
              <a:t>https://</a:t>
            </a:r>
            <a:r>
              <a:rPr lang="es-ES_tradnl" dirty="0" err="1"/>
              <a:t>link.springer.com</a:t>
            </a:r>
            <a:r>
              <a:rPr lang="es-ES_tradnl" dirty="0"/>
              <a:t>/</a:t>
            </a:r>
            <a:r>
              <a:rPr lang="es-ES_tradnl" dirty="0" err="1"/>
              <a:t>article</a:t>
            </a:r>
            <a:r>
              <a:rPr lang="es-ES_tradnl" dirty="0"/>
              <a:t>/10.1186/s12992-020-00655-3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62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50313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689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96BF-C587-B9A8-E410-E9AAA957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C4C3F-5F4E-23D6-CAA5-B0D7EA1BE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C0B8B-B175-AD18-20C8-1AD2540DE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D425D-7A35-B6C3-6B99-A21AC6D56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44865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AC975-F2EF-03C7-EA3B-277F3D7A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BA471-39E5-B5EF-73B8-D7B2FB703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AB477-B585-909D-1D84-47BF8B5BE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0CD81-AA6A-6466-4B6D-965B9A06B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23500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4750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6359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50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A7EB1630-065F-844C-B6A7-8C58AC6D2693}" type="datetimeFigureOut">
              <a:rPr lang="es-ES_tradnl" noProof="0" smtClean="0"/>
              <a:pPr/>
              <a:t>30/9/25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m-n-romero91/30min-office-hour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aweb.org/articles?id=10.1257/jep.15.4.43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41.png"/><Relationship Id="rId10" Type="http://schemas.openxmlformats.org/officeDocument/2006/relationships/image" Target="../media/image47.png"/><Relationship Id="rId4" Type="http://schemas.openxmlformats.org/officeDocument/2006/relationships/image" Target="../media/image35.png"/><Relationship Id="rId9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mailto:mromero@udesa.edu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Problema de Clasificación:</a:t>
            </a:r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Logit, KNN y Curvas ROC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6 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F5168-5457-EEB9-2127-27DFCC8E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4400" dirty="0"/>
              <a:t>Cuestiones operativas del curso: </a:t>
            </a:r>
            <a:r>
              <a:rPr lang="es-ES_tradnl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</a:t>
            </a:r>
            <a:r>
              <a:rPr lang="es-ES_tradnl" sz="4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Deadlines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3FBD-7284-DC97-84C0-7A38FB74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TP3: </a:t>
            </a:r>
            <a:r>
              <a:rPr lang="es-ES_tradnl" dirty="0"/>
              <a:t>Disponible. </a:t>
            </a:r>
            <a:r>
              <a:rPr lang="es-ES_tradnl" dirty="0">
                <a:solidFill>
                  <a:schemeClr val="accent2"/>
                </a:solidFill>
              </a:rPr>
              <a:t>Martes 14 de octubre</a:t>
            </a:r>
            <a:endParaRPr lang="es-ES_tradnl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online </a:t>
            </a:r>
            <a:r>
              <a:rPr lang="es-ES_tradnl" dirty="0">
                <a:hlinkClick r:id="rId2"/>
              </a:rPr>
              <a:t>Calendly</a:t>
            </a:r>
            <a:r>
              <a:rPr lang="es-ES_tradnl" dirty="0"/>
              <a:t>, email para presencial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8B716-D772-C5D0-8F2B-0FC170A1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0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Repaso y Preguntas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Motivación: Clasificación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Clasificador de Bayes -&gt; Intuitivamente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Regresión logística -&gt; Repaso de MV &amp; Aplicación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Vecinos cercanos -&gt; Aplicación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Introducción al análisis discriminante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A790-8125-0419-9C63-AD7B89D7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 la Etapa Explorativa a la Predicción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49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899255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No hay un </a:t>
                          </a:r>
                          <a:r>
                            <a:rPr lang="es-ES_tradnl" sz="220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output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que se busca predecir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 observaciones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, …,</m:t>
                                  </m:r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3983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Predecir distribución de un variable de interés 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variable de interés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distribución de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23164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b="1" dirty="0">
                              <a:latin typeface="Gill Sans Nova Light" panose="020B0302020104020203" pitchFamily="34" charset="0"/>
                            </a:rPr>
                            <a:t>Predecir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Inputs: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1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cuantitativo -&gt;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Regresión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binaria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o categórica -&gt; Clasificación</a:t>
                          </a: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31141794"/>
                  </p:ext>
                </p:extLst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1097280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783" t="-72414" r="-42651" b="-2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9728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74419" r="-42651" b="-168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67840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68571" r="-4265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742BB-420A-39A8-1250-F8C947C8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11E09-9C93-2937-FA98-0414F500111B}"/>
              </a:ext>
            </a:extLst>
          </p:cNvPr>
          <p:cNvSpPr/>
          <p:nvPr/>
        </p:nvSpPr>
        <p:spPr>
          <a:xfrm>
            <a:off x="4058653" y="5727338"/>
            <a:ext cx="4812631" cy="417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1059B-F693-3AB2-5ECB-B9BC8A48F24B}"/>
              </a:ext>
            </a:extLst>
          </p:cNvPr>
          <p:cNvSpPr/>
          <p:nvPr/>
        </p:nvSpPr>
        <p:spPr>
          <a:xfrm>
            <a:off x="9648281" y="4812184"/>
            <a:ext cx="1535534" cy="691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47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Clasificación: Motivación y primeras definiciones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4.1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22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Decisiones con varias opciones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b="1" dirty="0"/>
              <a:t>Consumidores u Hogares </a:t>
            </a:r>
            <a:r>
              <a:rPr lang="es-ES_tradnl" dirty="0"/>
              <a:t>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{comprar, no comprar}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{trabajar, no trabajar}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{Estudiar curso online, Maestría, Doctorado}</a:t>
            </a:r>
          </a:p>
          <a:p>
            <a:pPr>
              <a:lnSpc>
                <a:spcPct val="150000"/>
              </a:lnSpc>
            </a:pPr>
            <a:r>
              <a:rPr lang="es-ES_tradnl" b="1" dirty="0"/>
              <a:t>Productores/inversores</a:t>
            </a:r>
            <a:r>
              <a:rPr lang="es-ES_tradnl" dirty="0"/>
              <a:t>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{contratar, no contratar}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{Asegurar, no asegurar}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{Vender acciones, retener las acciones, comprar nuevas acciones}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C0F7-D8DE-067F-FCE3-CE63898B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CD33-E785-6087-D81C-5B1E1A0D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Decisiones con varias opciones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87DC-C3AD-07D7-21D5-0DF04D9A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b="1" dirty="0"/>
              <a:t>Gobierno sujeto a acuerdos y ciclo electoral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{Subir impuestos, no subir impuestos}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{Gastar, no gastar}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{reformar una ley, proponer una nueva ley, derogar una ley}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4057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Teoría de decisión y Matriz de posibilidades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Observado (decisión)</a:t>
                </a:r>
                <a:r>
                  <a:rPr lang="es-ES_tradnl" b="0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/>
                  <a:t>Predicciones de las acciones: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/>
                  <a:t>Matriz de confusión 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2"/>
                <a:stretch>
                  <a:fillRect l="-965" t="-11321" b="-47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0375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_tradnl" sz="2300" b="0" i="1" noProof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:r>
                            <a:rPr lang="es-ES_tradnl" sz="2300" b="0" noProof="0" dirty="0">
                              <a:latin typeface="Gill Sans Nova Light" panose="020B0302020104020203" pitchFamily="34" charset="0"/>
                            </a:rPr>
                            <a:t>Observación</a:t>
                          </a:r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Predicción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300" i="1" noProof="0" dirty="0" smtClean="0">
                                  <a:latin typeface="Cambria Math" panose="02040503050406030204" pitchFamily="18" charset="0"/>
                                </a:rPr>
                                <m:t>𝑣𝑛</m:t>
                              </m:r>
                            </m:oMath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0375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894" t="-6250" r="-203" b="-3046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5789" r="-32434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2919" t="-204688" r="-95694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3618" t="-204688" r="-503" b="-1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2919" t="-309524" r="-95694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3618" t="-309524" r="-503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5FC6-D73C-1DCB-EECD-C422EB11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Ilustraciones: Error tipo I y tipo II</a:t>
            </a:r>
          </a:p>
        </p:txBody>
      </p:sp>
      <p:pic>
        <p:nvPicPr>
          <p:cNvPr id="5" name="Content Placeholder 4" descr="Two people with a pregnant belly&#10;&#10;Description automatically generated">
            <a:extLst>
              <a:ext uri="{FF2B5EF4-FFF2-40B4-BE49-F238E27FC236}">
                <a16:creationId xmlns:a16="http://schemas.microsoft.com/office/drawing/2014/main" id="{A07E64BC-2092-0DC0-9958-C54E0C914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00633" y="1549412"/>
            <a:ext cx="6990733" cy="5308588"/>
          </a:xfrm>
        </p:spPr>
      </p:pic>
    </p:spTree>
    <p:extLst>
      <p:ext uri="{BB962C8B-B14F-4D97-AF65-F5344CB8AC3E}">
        <p14:creationId xmlns:p14="http://schemas.microsoft.com/office/powerpoint/2010/main" val="3562627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68C4D-33F4-FC38-1684-41E7FB39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FBAB-2D70-B0CC-D49D-14856697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Ejemplos y Errores: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error queremos minimizar?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BA2C-08DB-A513-3E4A-8786DAF39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_tradnl" dirty="0"/>
              <a:t>Como banco,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Como expertos en salud durante el COVID19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Como investigador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96988A6-AC1A-DD16-F4C9-CCB6F01E1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329266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_tradnl" sz="2300" b="0" i="1" noProof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:r>
                            <a:rPr lang="es-ES_tradnl" sz="2300" b="0" noProof="0" dirty="0">
                              <a:latin typeface="Gill Sans Nova Light" panose="020B0302020104020203" pitchFamily="34" charset="0"/>
                            </a:rPr>
                            <a:t>Observación</a:t>
                          </a:r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Predicción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300" i="1" noProof="0" dirty="0" smtClean="0">
                                  <a:latin typeface="Cambria Math" panose="02040503050406030204" pitchFamily="18" charset="0"/>
                                </a:rPr>
                                <m:t>𝑣𝑛</m:t>
                              </m:r>
                            </m:oMath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96988A6-AC1A-DD16-F4C9-CCB6F01E1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329266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894" t="-6250" r="-203" b="-3046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5789" r="-32434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2919" t="-204688" r="-95694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3618" t="-204688" r="-503" b="-1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2919" t="-309524" r="-95694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3618" t="-309524" r="-503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801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2.2.3</a:t>
            </a:r>
          </a:p>
        </p:txBody>
      </p:sp>
    </p:spTree>
    <p:extLst>
      <p:ext uri="{BB962C8B-B14F-4D97-AF65-F5344CB8AC3E}">
        <p14:creationId xmlns:p14="http://schemas.microsoft.com/office/powerpoint/2010/main" val="190179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FDB9-75B6-9EFD-4843-5531A250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Intuitivamente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D1657-DE6A-B473-CB8F-561A3DCD2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Para </a:t>
                </a:r>
                <a:r>
                  <a:rPr lang="es-ES_tradnl" dirty="0">
                    <a:solidFill>
                      <a:srgbClr val="002060"/>
                    </a:solidFill>
                  </a:rPr>
                  <a:t>minimizar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tasa de error de predicción afuera </a:t>
                </a:r>
                <a:r>
                  <a:rPr lang="es-ES_tradnl" dirty="0"/>
                  <a:t>de la muestra: </a:t>
                </a:r>
              </a:p>
              <a:p>
                <a:pPr marL="0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𝐷𝑒𝑓𝑎𝑢𝑙𝑡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𝑖𝑛𝑔𝑟𝑒𝑠𝑜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&gt;0.7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i="1" dirty="0"/>
                  <a:t>¿</a:t>
                </a:r>
                <a:r>
                  <a:rPr lang="es-ES_tradnl" dirty="0"/>
                  <a:t>qué le predecimos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a dicha observación?  </a:t>
                </a:r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𝐷𝑒𝑓𝑎𝑢𝑙𝑡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𝑖𝑛𝑔𝑟𝑒𝑠𝑜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&gt;0.2</m:t>
                    </m:r>
                  </m:oMath>
                </a14:m>
                <a:r>
                  <a:rPr lang="es-ES_tradnl" dirty="0"/>
                  <a:t> ¿qué valor le darían 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D1657-DE6A-B473-CB8F-561A3DCD2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5C4FFE-2BB2-5A38-A909-5D94778C9826}"/>
                  </a:ext>
                </a:extLst>
              </p:cNvPr>
              <p:cNvSpPr/>
              <p:nvPr/>
            </p:nvSpPr>
            <p:spPr>
              <a:xfrm>
                <a:off x="2007220" y="2497878"/>
                <a:ext cx="8720253" cy="149426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lvl="1" indent="0" algn="ctr">
                  <a:buNone/>
                </a:pPr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Asignar a cada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, la categoría </a:t>
                </a:r>
                <a:r>
                  <a:rPr lang="es-ES_tradnl" sz="3200" dirty="0">
                    <a:solidFill>
                      <a:srgbClr val="00B050"/>
                    </a:solidFill>
                    <a:latin typeface="Gill Sans Nova Light" panose="020B0302020104020203" pitchFamily="34" charset="0"/>
                  </a:rPr>
                  <a:t>más probable</a:t>
                </a:r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3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3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3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 dadas sus características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5C4FFE-2BB2-5A38-A909-5D94778C9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20" y="2497878"/>
                <a:ext cx="8720253" cy="1494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880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Posibles soluciones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Cuatro modelos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B050"/>
                    </a:solidFill>
                  </a:rPr>
                  <a:t>Logístico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>
                    <a:solidFill>
                      <a:srgbClr val="00B050"/>
                    </a:solidFill>
                  </a:rPr>
                  <a:t>Vecinos Cercanos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 lineal (LDA)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Extensión a múltiples categorías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-&gt; QDA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Naive Bayes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Perdida asimétrica. Análisis ROC.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1163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543662B-FFEF-E286-E53F-8EAD7BC31FB6}"/>
                  </a:ext>
                </a:extLst>
              </p:cNvPr>
              <p:cNvSpPr txBox="1"/>
              <p:nvPr/>
            </p:nvSpPr>
            <p:spPr>
              <a:xfrm>
                <a:off x="8389882" y="4009177"/>
                <a:ext cx="310318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_tradnl" sz="2400" dirty="0">
                    <a:latin typeface="Gill Sans Nova Light" panose="020B0302020104020203" pitchFamily="34" charset="0"/>
                  </a:rPr>
                  <a:t>Modelos lineales con supuestos </a:t>
                </a:r>
                <a:r>
                  <a:rPr lang="es-ES_tradnl" sz="2400" dirty="0">
                    <a:solidFill>
                      <a:schemeClr val="accent2"/>
                    </a:solidFill>
                    <a:latin typeface="Gill Sans Nova Light" panose="020B0302020104020203" pitchFamily="34" charset="0"/>
                  </a:rPr>
                  <a:t>más fuertes </a:t>
                </a:r>
                <a:r>
                  <a:rPr lang="es-ES_tradnl" sz="2400" dirty="0">
                    <a:latin typeface="Gill Sans Nova Light" panose="020B0302020104020203" pitchFamily="34" charset="0"/>
                  </a:rPr>
                  <a:t>sobre los predictores </a:t>
                </a:r>
                <a14:m>
                  <m:oMath xmlns:m="http://schemas.openxmlformats.org/officeDocument/2006/math">
                    <m:r>
                      <a:rPr lang="es-ES_tradnl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sz="2400" dirty="0">
                  <a:latin typeface="Gill Sans Nova Light" panose="020B0302020104020203" pitchFamily="34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543662B-FFEF-E286-E53F-8EAD7BC31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882" y="4009177"/>
                <a:ext cx="3103180" cy="1200329"/>
              </a:xfrm>
              <a:prstGeom prst="rect">
                <a:avLst/>
              </a:prstGeom>
              <a:blipFill>
                <a:blip r:embed="rId3"/>
                <a:stretch>
                  <a:fillRect l="-2857" t="-3125" b="-104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lave de cierre 5">
            <a:extLst>
              <a:ext uri="{FF2B5EF4-FFF2-40B4-BE49-F238E27FC236}">
                <a16:creationId xmlns:a16="http://schemas.microsoft.com/office/drawing/2014/main" id="{633D811B-F734-38A9-66F6-3185658BA389}"/>
              </a:ext>
            </a:extLst>
          </p:cNvPr>
          <p:cNvSpPr/>
          <p:nvPr/>
        </p:nvSpPr>
        <p:spPr>
          <a:xfrm>
            <a:off x="7646275" y="3714815"/>
            <a:ext cx="472966" cy="2112579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634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83D0DE-DCB7-E42A-D782-6E396A647B0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Modelo lineal para Clasificar: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¿Por qué no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?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83D0DE-DCB7-E42A-D782-6E396A647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CE70E-DF44-F112-1149-056C52EBB75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Se sale del rango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Relaciones no lineales entre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Correlaciones de los errores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Heteroscedasticidad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 err="1"/>
                  <a:t>Outliers</a:t>
                </a:r>
                <a:r>
                  <a:rPr lang="es-ES_tradnl" dirty="0"/>
                  <a:t> y Observaciones con mucha influencia en la predicción</a:t>
                </a:r>
                <a:r>
                  <a:rPr lang="es-ES_tradnl" dirty="0">
                    <a:sym typeface="Wingdings" pitchFamily="2" charset="2"/>
                  </a:rPr>
                  <a:t> medidas VIF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Problemas de alta multicolinealidad entre las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 err="1"/>
                  <a:t>logit</a:t>
                </a:r>
                <a:r>
                  <a:rPr lang="es-ES_tradnl" dirty="0"/>
                  <a:t>/análisis discriminante es </a:t>
                </a:r>
                <a:r>
                  <a:rPr lang="es-ES_tradnl" b="1" dirty="0"/>
                  <a:t>fácil</a:t>
                </a:r>
                <a:r>
                  <a:rPr lang="es-ES_tradnl" dirty="0"/>
                  <a:t> de generalizar al caso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_tradnl" dirty="0"/>
                  <a:t> categorías no ordenadas.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CE70E-DF44-F112-1149-056C52EBB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4"/>
                <a:stretch>
                  <a:fillRect l="-1222" t="-291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5BDE54AD-E4B7-6E7D-200E-C79D8A1DB7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019800" y="1604963"/>
            <a:ext cx="5900615" cy="4572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E4864-CBC5-C3AC-3FA2-3943E6E1B6BE}"/>
              </a:ext>
            </a:extLst>
          </p:cNvPr>
          <p:cNvSpPr txBox="1"/>
          <p:nvPr/>
        </p:nvSpPr>
        <p:spPr>
          <a:xfrm>
            <a:off x="6566014" y="6120984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p.131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2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logística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4.3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159469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Función logística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Variable binaria/dicotómica (</a:t>
                </a:r>
                <a:r>
                  <a:rPr lang="es-ES_tradnl" dirty="0" err="1"/>
                  <a:t>outcome</a:t>
                </a:r>
                <a:r>
                  <a:rPr lang="es-ES_tradnl" dirty="0"/>
                  <a:t>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ES_tradnl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:r>
                  <a:rPr lang="es-ES_tradnl" dirty="0"/>
                  <a:t>Vector de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Función de densidad logística:</a:t>
                </a:r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FF718610-2D5E-F8C5-A3CF-F398793482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1604963"/>
            <a:ext cx="5804452" cy="4572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B1BEB2-9786-0130-0E56-9AC538835D5B}"/>
              </a:ext>
            </a:extLst>
          </p:cNvPr>
          <p:cNvSpPr txBox="1"/>
          <p:nvPr/>
        </p:nvSpPr>
        <p:spPr>
          <a:xfrm>
            <a:off x="6661264" y="5914817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p.131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8A8E-867A-1845-51B5-5E77013F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Interpretación de Efecto Marginal con </a:t>
            </a:r>
            <a:r>
              <a:rPr lang="es-ES_tradnl" dirty="0" err="1"/>
              <a:t>Logit</a:t>
            </a:r>
            <a:r>
              <a:rPr lang="es-ES_tradnl" dirty="0"/>
              <a:t>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CD0C-3123-65DE-F303-6A482A61D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Odds</a:t>
                </a:r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Valores muy cerca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-&gt;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baja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Valores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s-ES_tradnl" dirty="0"/>
                  <a:t> -&gt;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endParaRPr lang="es-ES_tradnl" sz="1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CD0C-3123-65DE-F303-6A482A61D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875-7EA8-32A0-48EE-5DA4DBC5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4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0E2B9-E161-9DBA-68EC-1B8A9855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6C54-8503-5869-F3B0-A19E74E0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6766" cy="1325563"/>
          </a:xfrm>
        </p:spPr>
        <p:txBody>
          <a:bodyPr/>
          <a:lstStyle/>
          <a:p>
            <a:r>
              <a:rPr lang="es-ES_tradnl" dirty="0"/>
              <a:t>Interpretación de Efecto Marginal con </a:t>
            </a:r>
            <a:r>
              <a:rPr lang="es-ES_tradnl" dirty="0" err="1"/>
              <a:t>Logit</a:t>
            </a:r>
            <a:r>
              <a:rPr lang="es-ES_tradnl" dirty="0"/>
              <a:t>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EB2CA9-C70F-2C28-66CA-A3460AEF9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14400" lvl="2" indent="0">
                  <a:buNone/>
                </a:pPr>
                <a:endParaRPr lang="es-ES_tradnl" sz="12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Log-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odds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ratio 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logit</a:t>
                </a:r>
                <a:r>
                  <a:rPr lang="es-ES_tradnl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s-ES_tradnl" dirty="0"/>
                  <a:t>Lineal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2060"/>
                    </a:solidFill>
                  </a:rPr>
                  <a:t>Efecto marginal </a:t>
                </a:r>
                <a:r>
                  <a:rPr lang="es-ES_tradnl" dirty="0"/>
                  <a:t>de la k-ésimo predictor: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s-ES_tradnl" dirty="0"/>
              </a:p>
              <a:p>
                <a:pPr lvl="2"/>
                <a:r>
                  <a:rPr lang="es-ES_tradnl" dirty="0"/>
                  <a:t>El cambio marginal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depende del valor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B050"/>
                    </a:solidFill>
                  </a:rPr>
                  <a:t>Signo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importa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EB2CA9-C70F-2C28-66CA-A3460AEF9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63AD5-2E74-2133-92E2-05E7D4DA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5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960B-86EC-DCB3-3C0A-4DC010F9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EA53B2-2F29-32F7-AF05-F6F468D388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¿Cómo estimamos los coeficientes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es vectores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coeficientes?  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EA53B2-2F29-32F7-AF05-F6F468D38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136" t="-10177" r="-3257" b="-1283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ADC62-BDEA-CA2D-E52F-FDBE4BFC4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b="1" dirty="0">
                <a:solidFill>
                  <a:srgbClr val="00B050"/>
                </a:solidFill>
              </a:rPr>
              <a:t>Respuesta</a:t>
            </a:r>
            <a:r>
              <a:rPr lang="es-ES_tradnl" b="1" i="1" dirty="0"/>
              <a:t>: Método de Máxima Verosimilitud </a:t>
            </a:r>
            <a:r>
              <a:rPr lang="es-ES_tradnl" b="1" dirty="0"/>
              <a:t>(MLE)</a:t>
            </a:r>
          </a:p>
        </p:txBody>
      </p:sp>
    </p:spTree>
    <p:extLst>
      <p:ext uri="{BB962C8B-B14F-4D97-AF65-F5344CB8AC3E}">
        <p14:creationId xmlns:p14="http://schemas.microsoft.com/office/powerpoint/2010/main" val="3944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Intro</a:t>
            </a:r>
            <a:r>
              <a:rPr lang="es-ES_tradnl" dirty="0"/>
              <a:t> a la estimación de Máxima verosimilitud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Maxima verosimilitud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s-ES_tradnl" dirty="0"/>
                  <a:t> es conocida, no así sus parámetros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Ejemplos</a:t>
                </a:r>
                <a:r>
                  <a:rPr lang="en-US" dirty="0"/>
                  <a:t>? 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Supuesto clave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es una muestra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𝑖𝑖𝑑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de tamaño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9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Estimación MLE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Verosimilitud </a:t>
                </a:r>
                <a:r>
                  <a:rPr lang="es-ES_tradnl" dirty="0">
                    <a:solidFill>
                      <a:srgbClr val="002060"/>
                    </a:solidFill>
                  </a:rPr>
                  <a:t>teórica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Roles cambiados: </a:t>
                </a:r>
                <a:r>
                  <a:rPr lang="es-ES_tradnl" dirty="0"/>
                  <a:t>probabilidad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haya ocurrido, para distintos valores de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Verosimilitud </a:t>
                </a:r>
                <a:r>
                  <a:rPr lang="es-ES_tradnl" dirty="0">
                    <a:solidFill>
                      <a:srgbClr val="002060"/>
                    </a:solidFill>
                  </a:rPr>
                  <a:t>muestral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Si</a:t>
                </a:r>
                <a:r>
                  <a:rPr lang="es-ES_tradnl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𝑖𝑖𝑑</m:t>
                    </m:r>
                  </m:oMath>
                </a14:m>
                <a:r>
                  <a:rPr lang="es-ES_tradnl" dirty="0"/>
                  <a:t> entonces la probabilidad conjunta será: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581" b="-4564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93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Estimación MLE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Estimador máximo verosímil: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lvl="1"/>
                <a:r>
                  <a:rPr lang="es-ES_tradnl" dirty="0"/>
                  <a:t>Ingeniería reversa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Propiedades de estos estimadores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por MLE: </a:t>
                </a:r>
              </a:p>
              <a:p>
                <a:pPr lvl="1"/>
                <a:r>
                  <a:rPr lang="es-ES_tradnl" dirty="0"/>
                  <a:t>Consistente, asintóticamente normal, asintóticamente eficiente, invariante.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568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Logit</a:t>
            </a:r>
            <a:r>
              <a:rPr lang="es-ES_tradnl" dirty="0"/>
              <a:t> por estimación de MLE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En el caso </a:t>
                </a:r>
                <a:r>
                  <a:rPr lang="es-ES_tradnl" dirty="0" err="1"/>
                  <a:t>logit</a:t>
                </a:r>
                <a:r>
                  <a:rPr lang="es-ES_tradnl" dirty="0"/>
                  <a:t>, recordar que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Entonces: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Detalles (</a:t>
                </a:r>
                <a:r>
                  <a:rPr lang="es-ES_tradnl" dirty="0">
                    <a:solidFill>
                      <a:srgbClr val="002060"/>
                    </a:solidFill>
                  </a:rPr>
                  <a:t>maestría</a:t>
                </a:r>
                <a:r>
                  <a:rPr lang="es-ES_tradnl" dirty="0"/>
                  <a:t>): la maximización no tiene una forma cerrada. Es un problema computacional.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2413" b="-24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027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459A-B6A1-2CCA-5E0E-23BF1BE3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Resumen en la práctica: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F4542-3B9D-667C-3123-72163B70A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Observamos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Modelo </a:t>
                </a:r>
                <a:r>
                  <a:rPr lang="es-ES_tradnl" dirty="0" err="1"/>
                  <a:t>logit</a:t>
                </a:r>
                <a:endParaRPr lang="es-ES_tradnl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Asíntotas en 0,1</a:t>
                </a:r>
              </a:p>
              <a:p>
                <a:r>
                  <a:rPr lang="es-ES_tradnl" dirty="0">
                    <a:solidFill>
                      <a:srgbClr val="00B0F0"/>
                    </a:solidFill>
                  </a:rPr>
                  <a:t>Clasificación (Bayes):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F4542-3B9D-667C-3123-72163B70A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328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de Regresión logística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effectLst/>
                <a:latin typeface="Gill Sans Nova Light" panose="020B0302020104020203" pitchFamily="34" charset="0"/>
              </a:rPr>
              <a:t>Horowitz &amp; </a:t>
            </a:r>
            <a:r>
              <a:rPr lang="en-US" sz="2400" dirty="0" err="1">
                <a:effectLst/>
                <a:latin typeface="Gill Sans Nova Light" panose="020B0302020104020203" pitchFamily="34" charset="0"/>
              </a:rPr>
              <a:t>Savin</a:t>
            </a:r>
            <a:r>
              <a:rPr lang="en-US" sz="2400" dirty="0">
                <a:effectLst/>
                <a:latin typeface="Gill Sans Nova Light" panose="020B0302020104020203" pitchFamily="34" charset="0"/>
              </a:rPr>
              <a:t> (2001)</a:t>
            </a:r>
            <a:r>
              <a:rPr lang="es-ES_tradnl" dirty="0"/>
              <a:t> </a:t>
            </a:r>
            <a:r>
              <a:rPr lang="es-ES_tradnl" dirty="0">
                <a:hlinkClick r:id="rId2"/>
              </a:rPr>
              <a:t>https://www.aeaweb.org/articles?id=10.1257/jep.15.4.43</a:t>
            </a:r>
            <a:r>
              <a:rPr lang="es-ES_tradnl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483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99C2-19E6-D1B7-0AD4-BC31DF8C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Visualización de efectos marginales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01C48B-43C0-E7CD-AFA7-EA83BE1C8B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L</a:t>
                </a:r>
                <a:r>
                  <a:rPr lang="en-US" b="0" dirty="0">
                    <a:ea typeface="Cambria Math" panose="02040503050406030204" pitchFamily="18" charset="0"/>
                  </a:rPr>
                  <a:t>inea de </a:t>
                </a:r>
                <a:r>
                  <a:rPr lang="es-ES_tradnl" b="0" dirty="0">
                    <a:ea typeface="Cambria Math" panose="02040503050406030204" pitchFamily="18" charset="0"/>
                  </a:rPr>
                  <a:t>pobreza</a:t>
                </a:r>
                <a:r>
                  <a:rPr lang="en-US" b="0" dirty="0">
                    <a:ea typeface="Cambria Math" panose="02040503050406030204" pitchFamily="18" charset="0"/>
                  </a:rPr>
                  <a:t> (EEUU, 1993): </a:t>
                </a:r>
                <a:r>
                  <a:rPr lang="en-US" b="1" dirty="0">
                    <a:ea typeface="Cambria Math" panose="02040503050406030204" pitchFamily="18" charset="0"/>
                  </a:rPr>
                  <a:t>280 USD</a:t>
                </a:r>
              </a:p>
              <a:p>
                <a:pPr marL="0" indent="0">
                  <a:buNone/>
                </a:pPr>
                <a:endParaRPr lang="en-US" sz="1600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=1|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𝑒𝑑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2800" dirty="0"/>
              </a:p>
              <a:p>
                <a:pPr marL="0" indent="0">
                  <a:buNone/>
                </a:pPr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𝑒𝑑</m:t>
                    </m:r>
                  </m:oMath>
                </a14:m>
                <a:r>
                  <a:rPr lang="es-ES_tradnl" dirty="0"/>
                  <a:t> años de educación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</m:oMath>
                </a14:m>
                <a:r>
                  <a:rPr lang="es-ES_tradnl" dirty="0"/>
                  <a:t> años de experiencia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01C48B-43C0-E7CD-AFA7-EA83BE1C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t="-290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8A9ECC0-0536-6059-74EC-3B6F396630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b="8922"/>
          <a:stretch/>
        </p:blipFill>
        <p:spPr>
          <a:xfrm>
            <a:off x="5619749" y="1825625"/>
            <a:ext cx="6480901" cy="401278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415560-5822-657B-9F30-7E448C394BF6}"/>
              </a:ext>
            </a:extLst>
          </p:cNvPr>
          <p:cNvSpPr txBox="1"/>
          <p:nvPr/>
        </p:nvSpPr>
        <p:spPr>
          <a:xfrm>
            <a:off x="5877803" y="5862222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Horowitz &amp;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Savin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(2001)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3BB7D988-CE92-2B9F-015C-580A0C43C51A}"/>
              </a:ext>
            </a:extLst>
          </p:cNvPr>
          <p:cNvSpPr/>
          <p:nvPr/>
        </p:nvSpPr>
        <p:spPr>
          <a:xfrm>
            <a:off x="7666072" y="2966484"/>
            <a:ext cx="3466215" cy="1898041"/>
          </a:xfrm>
          <a:custGeom>
            <a:avLst/>
            <a:gdLst>
              <a:gd name="connsiteX0" fmla="*/ 0 w 3540642"/>
              <a:gd name="connsiteY0" fmla="*/ 0 h 1971581"/>
              <a:gd name="connsiteX1" fmla="*/ 1254642 w 3540642"/>
              <a:gd name="connsiteY1" fmla="*/ 1818168 h 1971581"/>
              <a:gd name="connsiteX2" fmla="*/ 3540642 w 3540642"/>
              <a:gd name="connsiteY2" fmla="*/ 1871330 h 19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0642" h="1971581">
                <a:moveTo>
                  <a:pt x="0" y="0"/>
                </a:moveTo>
                <a:cubicBezTo>
                  <a:pt x="332267" y="753140"/>
                  <a:pt x="664535" y="1506280"/>
                  <a:pt x="1254642" y="1818168"/>
                </a:cubicBezTo>
                <a:cubicBezTo>
                  <a:pt x="1844749" y="2130056"/>
                  <a:pt x="3152554" y="1869558"/>
                  <a:pt x="3540642" y="1871330"/>
                </a:cubicBezTo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AA2198-75DD-5341-BC20-173EEA2BED77}"/>
              </a:ext>
            </a:extLst>
          </p:cNvPr>
          <p:cNvCxnSpPr/>
          <p:nvPr/>
        </p:nvCxnSpPr>
        <p:spPr>
          <a:xfrm>
            <a:off x="8250865" y="2721935"/>
            <a:ext cx="42530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rma libre 9">
            <a:extLst>
              <a:ext uri="{FF2B5EF4-FFF2-40B4-BE49-F238E27FC236}">
                <a16:creationId xmlns:a16="http://schemas.microsoft.com/office/drawing/2014/main" id="{CD9D11F0-45BA-50C6-0C5C-627CC60E655F}"/>
              </a:ext>
            </a:extLst>
          </p:cNvPr>
          <p:cNvSpPr/>
          <p:nvPr/>
        </p:nvSpPr>
        <p:spPr>
          <a:xfrm>
            <a:off x="7740502" y="4001317"/>
            <a:ext cx="3254763" cy="979320"/>
          </a:xfrm>
          <a:custGeom>
            <a:avLst/>
            <a:gdLst>
              <a:gd name="connsiteX0" fmla="*/ 0 w 3221665"/>
              <a:gd name="connsiteY0" fmla="*/ 0 h 967562"/>
              <a:gd name="connsiteX1" fmla="*/ 712381 w 3221665"/>
              <a:gd name="connsiteY1" fmla="*/ 797442 h 967562"/>
              <a:gd name="connsiteX2" fmla="*/ 3221665 w 3221665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1665" h="967562">
                <a:moveTo>
                  <a:pt x="0" y="0"/>
                </a:moveTo>
                <a:cubicBezTo>
                  <a:pt x="87718" y="318091"/>
                  <a:pt x="175437" y="636182"/>
                  <a:pt x="712381" y="797442"/>
                </a:cubicBezTo>
                <a:cubicBezTo>
                  <a:pt x="1249325" y="958702"/>
                  <a:pt x="2235495" y="963132"/>
                  <a:pt x="3221665" y="967562"/>
                </a:cubicBezTo>
              </a:path>
            </a:pathLst>
          </a:cu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C939574-6C89-6279-D716-CFDEC10972D2}"/>
              </a:ext>
            </a:extLst>
          </p:cNvPr>
          <p:cNvCxnSpPr/>
          <p:nvPr/>
        </p:nvCxnSpPr>
        <p:spPr>
          <a:xfrm>
            <a:off x="8233138" y="3193322"/>
            <a:ext cx="42530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75C8F76-F895-CF9B-BEFA-D4646F173229}"/>
              </a:ext>
            </a:extLst>
          </p:cNvPr>
          <p:cNvCxnSpPr/>
          <p:nvPr/>
        </p:nvCxnSpPr>
        <p:spPr>
          <a:xfrm>
            <a:off x="7591643" y="5001903"/>
            <a:ext cx="406164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8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A1ADF7-7C9E-B017-96B4-1C758B89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Se puede presentar coeficientes y </a:t>
            </a:r>
            <a:r>
              <a:rPr lang="es-ES_tradnl" dirty="0" err="1"/>
              <a:t>odd</a:t>
            </a:r>
            <a:r>
              <a:rPr lang="es-ES_tradnl" dirty="0"/>
              <a:t>-ratios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BFD59-C06C-78F7-9CFE-75E01DA991D5}"/>
              </a:ext>
            </a:extLst>
          </p:cNvPr>
          <p:cNvSpPr txBox="1"/>
          <p:nvPr/>
        </p:nvSpPr>
        <p:spPr>
          <a:xfrm>
            <a:off x="1079500" y="632359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Tollenaar &amp; van der Heijden (2013), p.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580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EDC49C3-022A-34D3-905C-58065C75C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9500" y="1606160"/>
            <a:ext cx="10033000" cy="1358900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F0786D2-71D0-AFD4-085B-DF6F27590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273" y="2965060"/>
            <a:ext cx="9910227" cy="171373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E5D0766-4ED6-DBE2-43FA-FA80D1274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558" y="4678790"/>
            <a:ext cx="9787792" cy="153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95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2.2.3</a:t>
            </a:r>
          </a:p>
        </p:txBody>
      </p:sp>
    </p:spTree>
    <p:extLst>
      <p:ext uri="{BB962C8B-B14F-4D97-AF65-F5344CB8AC3E}">
        <p14:creationId xmlns:p14="http://schemas.microsoft.com/office/powerpoint/2010/main" val="3661692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de fuerza bruta pero efectivo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Observamos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𝐸𝑚𝑝𝑙𝑒𝑎𝑑𝑜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𝑒𝑥𝑝𝑒𝑟𝑖𝑒𝑛𝑐𝑖𝑎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¿Qué le predecimos 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en donde está la x?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407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5" descr="A two images of a face and a face&#10;&#10;Description automatically generated with medium confidence">
            <a:extLst>
              <a:ext uri="{FF2B5EF4-FFF2-40B4-BE49-F238E27FC236}">
                <a16:creationId xmlns:a16="http://schemas.microsoft.com/office/drawing/2014/main" id="{1DCF33D8-3560-1298-6013-2F58A947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779"/>
          <a:stretch/>
        </p:blipFill>
        <p:spPr>
          <a:xfrm>
            <a:off x="7594169" y="1119799"/>
            <a:ext cx="4169045" cy="4918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6130B0-0298-F29E-A09C-DD0EBF3C4FE6}"/>
                  </a:ext>
                </a:extLst>
              </p:cNvPr>
              <p:cNvSpPr txBox="1"/>
              <p:nvPr/>
            </p:nvSpPr>
            <p:spPr>
              <a:xfrm>
                <a:off x="7276453" y="1240850"/>
                <a:ext cx="63543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6130B0-0298-F29E-A09C-DD0EBF3C4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453" y="1240850"/>
                <a:ext cx="635431" cy="584775"/>
              </a:xfrm>
              <a:prstGeom prst="rect">
                <a:avLst/>
              </a:prstGeom>
              <a:blipFill>
                <a:blip r:embed="rId4"/>
                <a:stretch>
                  <a:fillRect l="-5882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AE33-3AB1-0797-D4E3-468FADC61863}"/>
                  </a:ext>
                </a:extLst>
              </p:cNvPr>
              <p:cNvSpPr txBox="1"/>
              <p:nvPr/>
            </p:nvSpPr>
            <p:spPr>
              <a:xfrm>
                <a:off x="10923076" y="5153426"/>
                <a:ext cx="63543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AE33-3AB1-0797-D4E3-468FADC61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076" y="5153426"/>
                <a:ext cx="635431" cy="584775"/>
              </a:xfrm>
              <a:prstGeom prst="rect">
                <a:avLst/>
              </a:prstGeom>
              <a:blipFill>
                <a:blip r:embed="rId5"/>
                <a:stretch>
                  <a:fillRect l="-5882" b="-425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DABFEB-6E9E-A4D1-0214-EA3F9BD4D7DE}"/>
                  </a:ext>
                </a:extLst>
              </p:cNvPr>
              <p:cNvSpPr txBox="1"/>
              <p:nvPr/>
            </p:nvSpPr>
            <p:spPr>
              <a:xfrm>
                <a:off x="9159498" y="2302508"/>
                <a:ext cx="7167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s-ES_tradnl" sz="32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DABFEB-6E9E-A4D1-0214-EA3F9BD4D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498" y="2302508"/>
                <a:ext cx="71679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2B61C6-5905-8622-9360-2D0B6571F82D}"/>
                  </a:ext>
                </a:extLst>
              </p:cNvPr>
              <p:cNvSpPr txBox="1"/>
              <p:nvPr/>
            </p:nvSpPr>
            <p:spPr>
              <a:xfrm>
                <a:off x="9149814" y="3509977"/>
                <a:ext cx="7167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𝑁𝐸</m:t>
                      </m:r>
                    </m:oMath>
                  </m:oMathPara>
                </a14:m>
                <a:endParaRPr lang="es-ES_tradnl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2B61C6-5905-8622-9360-2D0B6571F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814" y="3509977"/>
                <a:ext cx="716796" cy="584775"/>
              </a:xfrm>
              <a:prstGeom prst="rect">
                <a:avLst/>
              </a:prstGeom>
              <a:blipFill>
                <a:blip r:embed="rId7"/>
                <a:stretch>
                  <a:fillRect l="-5172" r="-689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E702-38B3-8FEF-6697-28D8332C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A802-445D-E045-EACF-50CF4617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483BB-31D3-2FF0-8B06-FBEBA14AAE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B050"/>
                    </a:solidFill>
                  </a:rPr>
                  <a:t>Solucion</a:t>
                </a:r>
                <a:r>
                  <a:rPr lang="es-ES_tradnl" dirty="0"/>
                  <a:t>: computar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Predecir de acuerdo a la regla de Bayes (voto por mayoría)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483BB-31D3-2FF0-8B06-FBEBA14AAE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two images of a face and a face&#10;&#10;Description automatically generated with medium confidence">
            <a:extLst>
              <a:ext uri="{FF2B5EF4-FFF2-40B4-BE49-F238E27FC236}">
                <a16:creationId xmlns:a16="http://schemas.microsoft.com/office/drawing/2014/main" id="{166A0F63-17AB-BA2F-91A0-2418BF049D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19800" y="2074127"/>
            <a:ext cx="5686011" cy="330155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A0DD8-459C-3DD2-E460-71476488E716}"/>
              </a:ext>
            </a:extLst>
          </p:cNvPr>
          <p:cNvSpPr txBox="1"/>
          <p:nvPr/>
        </p:nvSpPr>
        <p:spPr>
          <a:xfrm>
            <a:off x="6095999" y="540874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25F78-1CD3-12AE-1896-EFC47D914BF6}"/>
              </a:ext>
            </a:extLst>
          </p:cNvPr>
          <p:cNvSpPr txBox="1"/>
          <p:nvPr/>
        </p:nvSpPr>
        <p:spPr>
          <a:xfrm>
            <a:off x="7088868" y="1698880"/>
            <a:ext cx="3547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b="1" dirty="0">
                <a:effectLst/>
                <a:latin typeface="Goudy Old Style" panose="02020502050305020303" pitchFamily="18" charset="77"/>
              </a:rPr>
              <a:t>Visualización Vecinos Cercanos</a:t>
            </a:r>
            <a:endParaRPr lang="es-ES_tradnl" sz="5400" b="1" dirty="0">
              <a:effectLst/>
              <a:latin typeface="Goudy Old Style" panose="0202050205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2706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270B-25B6-4487-F447-507C3FD7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Para distinto número K: ¿Qué ocurre con la clasificación?</a:t>
            </a:r>
          </a:p>
        </p:txBody>
      </p:sp>
      <p:pic>
        <p:nvPicPr>
          <p:cNvPr id="9" name="Content Placeholder 8" descr="A screenshot of a graph showing a map of different colored dots&#10;&#10;Description automatically generated">
            <a:extLst>
              <a:ext uri="{FF2B5EF4-FFF2-40B4-BE49-F238E27FC236}">
                <a16:creationId xmlns:a16="http://schemas.microsoft.com/office/drawing/2014/main" id="{DF3F7D04-BB43-EEB4-5940-601168C22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894" y="1825625"/>
            <a:ext cx="7610212" cy="4351338"/>
          </a:xfrm>
        </p:spPr>
      </p:pic>
    </p:spTree>
    <p:extLst>
      <p:ext uri="{BB962C8B-B14F-4D97-AF65-F5344CB8AC3E}">
        <p14:creationId xmlns:p14="http://schemas.microsoft.com/office/powerpoint/2010/main" val="3015020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1454-436C-4419-BA99-C094772F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de Vecinos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27DE8-06D4-5CEC-CBDE-AE7FECB28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</a:t>
                </a:r>
                <a:r>
                  <a:rPr lang="es-ES_tradnl" dirty="0">
                    <a:solidFill>
                      <a:srgbClr val="002060"/>
                    </a:solidFill>
                  </a:rPr>
                  <a:t>no paramétrico </a:t>
                </a:r>
                <a:r>
                  <a:rPr lang="es-ES_tradnl" dirty="0"/>
                  <a:t>muy </a:t>
                </a:r>
                <a:r>
                  <a:rPr lang="es-ES_tradnl" dirty="0">
                    <a:solidFill>
                      <a:srgbClr val="00B050"/>
                    </a:solidFill>
                  </a:rPr>
                  <a:t>flexible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B050"/>
                    </a:solidFill>
                  </a:rPr>
                  <a:t>generalizable</a:t>
                </a:r>
                <a:r>
                  <a:rPr lang="es-ES_tradnl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Elección de K (</a:t>
                </a:r>
                <a:r>
                  <a:rPr lang="es-ES_tradnl" dirty="0">
                    <a:solidFill>
                      <a:srgbClr val="002060"/>
                    </a:solidFill>
                  </a:rPr>
                  <a:t>número de vecinos</a:t>
                </a:r>
                <a:r>
                  <a:rPr lang="es-ES_tradnl" dirty="0"/>
                  <a:t>): </a:t>
                </a:r>
                <a:r>
                  <a:rPr lang="es-ES_tradnl" dirty="0">
                    <a:solidFill>
                      <a:srgbClr val="FF0000"/>
                    </a:solidFill>
                  </a:rPr>
                  <a:t>crucial</a:t>
                </a:r>
                <a:r>
                  <a:rPr lang="es-ES_tradnl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Elección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: No trivial fuera de la distancia euclídea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¿Más de un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? “</a:t>
                </a:r>
                <a:r>
                  <a:rPr lang="es-ES_tradnl" dirty="0">
                    <a:solidFill>
                      <a:srgbClr val="002060"/>
                    </a:solidFill>
                  </a:rPr>
                  <a:t>maldición de la dimensionalidad</a:t>
                </a:r>
                <a:r>
                  <a:rPr lang="es-ES_tradnl" dirty="0"/>
                  <a:t>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Funciona muy bien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grande y pocos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Desventaja</a:t>
                </a:r>
                <a:r>
                  <a:rPr lang="es-ES_tradnl" dirty="0"/>
                  <a:t>: No nos dice qué predictores son importantes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27DE8-06D4-5CEC-CBDE-AE7FECB28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b="-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90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de Vecinos Cercanos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Mougenot</a:t>
            </a:r>
            <a:r>
              <a:rPr lang="en-US" dirty="0"/>
              <a:t>, B., Amaya, E., </a:t>
            </a:r>
            <a:r>
              <a:rPr lang="en-US" dirty="0" err="1"/>
              <a:t>Mezones</a:t>
            </a:r>
            <a:r>
              <a:rPr lang="en-US" dirty="0"/>
              <a:t>-Holguin, E., Rodriguez-Morales, A. J., &amp; </a:t>
            </a:r>
            <a:r>
              <a:rPr lang="en-US" dirty="0" err="1"/>
              <a:t>Cabieses</a:t>
            </a:r>
            <a:r>
              <a:rPr lang="en-US" dirty="0"/>
              <a:t>, B. (2021). Immigration, perceived discrimination and mental health: evidence from Venezuelan population living in Peru. </a:t>
            </a:r>
            <a:r>
              <a:rPr lang="en-US" i="1" dirty="0"/>
              <a:t>Globalization and health</a:t>
            </a:r>
            <a:r>
              <a:rPr lang="en-US" dirty="0"/>
              <a:t>, 17, 1-9.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5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2796-D566-47EC-C073-F01C17B7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Versión simplificada de </a:t>
            </a:r>
            <a:r>
              <a:rPr lang="es-ES_tradnl" dirty="0" err="1"/>
              <a:t>Propensity</a:t>
            </a:r>
            <a:r>
              <a:rPr lang="es-ES_tradnl" dirty="0"/>
              <a:t> Score </a:t>
            </a:r>
            <a:r>
              <a:rPr lang="es-ES_tradnl" dirty="0" err="1"/>
              <a:t>Matching</a:t>
            </a:r>
            <a:r>
              <a:rPr lang="es-ES_tradnl" dirty="0"/>
              <a:t> (PSM)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83404-0B45-6C01-CB7E-BF28514CE4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Para predecir la probabilidad de ser tratado: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Queremos características balanceadas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Luego se evalúa el efecto del tratamiento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ES_tradnl" dirty="0"/>
                  <a:t> en el </a:t>
                </a:r>
                <a:r>
                  <a:rPr lang="es-ES_tradnl" dirty="0" err="1"/>
                  <a:t>outcome</a:t>
                </a:r>
                <a:r>
                  <a:rPr lang="es-ES_tradnl" dirty="0"/>
                  <a:t> de interés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(con observaciones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parecidas</a:t>
                </a:r>
                <a:r>
                  <a:rPr lang="es-ES_tradnl" dirty="0"/>
                  <a:t> como control)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83404-0B45-6C01-CB7E-BF28514CE4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CC8F6C27-61DC-2FFC-98C5-4E5983FC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310764"/>
            <a:ext cx="10420350" cy="22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75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Herramientas para predecir la probabilidad condicional: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BA3AFF-4C30-75B1-EA54-63BC0F68B3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FDADF-17BD-8373-7746-DEAB13173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Regresión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Clasificación (</a:t>
                </a:r>
                <a:r>
                  <a:rPr lang="es-ES_tradnl" dirty="0">
                    <a:solidFill>
                      <a:srgbClr val="002060"/>
                    </a:solidFill>
                  </a:rPr>
                  <a:t>Bayes</a:t>
                </a:r>
                <a:r>
                  <a:rPr lang="es-ES_tradnl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0" indent="0">
                  <a:lnSpc>
                    <a:spcPct val="16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 marL="971550" lvl="1" indent="-514350">
                  <a:lnSpc>
                    <a:spcPct val="16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966" t="-103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C5851-20E6-C587-A5EF-F7C91BE5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>
                <a:solidFill>
                  <a:srgbClr val="002060"/>
                </a:solidFill>
              </a:rPr>
              <a:t>Vecino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Computar: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Predecir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ES_tradnl" dirty="0"/>
                  <a:t> 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voto por mayoría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BACDA9E-B485-0092-6E75-36573A90C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5"/>
                <a:stretch>
                  <a:fillRect l="-1956" t="-103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1278E-9575-60C9-483E-D3E506BC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Análisis ROC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4.4</a:t>
            </a:r>
            <a:endParaRPr lang="en-US" b="1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EB7E0-0C95-55A1-4B97-C5CF64BE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0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3AFF-4C30-75B1-EA54-63BC0F68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s-ES_tradnl" dirty="0"/>
                  <a:t>Relajar la simetría del Clasificador de Bayes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/>
                  <a:t>Variar el umbral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, para hacer la predicción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si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 (asimetría)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/>
                  <a:t>Mas o menos predicciones positivas -&gt; altera errores de </a:t>
                </a:r>
                <a:r>
                  <a:rPr lang="es-ES_tradnl" dirty="0" err="1"/>
                  <a:t>fp</a:t>
                </a:r>
                <a:r>
                  <a:rPr lang="es-ES_tradnl" dirty="0"/>
                  <a:t> y </a:t>
                </a:r>
                <a:r>
                  <a:rPr lang="es-ES_tradnl" dirty="0" err="1"/>
                  <a:t>fn</a:t>
                </a:r>
                <a:endParaRPr lang="es-ES_tradnl" dirty="0"/>
              </a:p>
              <a:p>
                <a:pPr lvl="1">
                  <a:lnSpc>
                    <a:spcPct val="20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Trade-off clave: </a:t>
                </a:r>
                <a:r>
                  <a:rPr lang="es-ES_tradnl" dirty="0"/>
                  <a:t>reducir un error, aumenta el otro </a:t>
                </a:r>
              </a:p>
              <a:p>
                <a:pPr marL="971550" lvl="1" indent="-514350">
                  <a:lnSpc>
                    <a:spcPct val="20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731D4-40C5-CA09-E658-E3DC93F841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AC449-1B37-7AA1-D6A2-5EC25F52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38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4BE6-17DC-3E73-671A-9A939DE3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8A4A-8EE2-F035-3B2D-77CB9760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Ejemplo de Default con LDA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B9A6073-ACC5-8D67-50F9-D789BF22EA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Con Clasificador de Bayes: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B9A6073-ACC5-8D67-50F9-D789BF22EA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96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B35105BB-9939-3417-2A53-284F6A61E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61231" y="3528219"/>
            <a:ext cx="4914900" cy="16383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8A0A7A0-1D8C-8C98-FAA5-C540D3B65D6C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lang="es-ES_tradnl" dirty="0"/>
                  <a:t>Con otro criterio: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&gt;0.2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8A0A7A0-1D8C-8C98-FAA5-C540D3B65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5"/>
                <a:stretch>
                  <a:fillRect l="-195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Content Placeholder 1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E9407452-EA84-8B24-45B9-E66834AF44D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6"/>
          <a:stretch>
            <a:fillRect/>
          </a:stretch>
        </p:blipFill>
        <p:spPr>
          <a:xfrm>
            <a:off x="6261894" y="3445669"/>
            <a:ext cx="5003800" cy="1803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1722E-2ACF-0E14-8AC7-9BA264B2B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D8051B-89DB-AFBD-8A6B-51418CF334EF}"/>
                  </a:ext>
                </a:extLst>
              </p:cNvPr>
              <p:cNvSpPr txBox="1"/>
              <p:nvPr/>
            </p:nvSpPr>
            <p:spPr>
              <a:xfrm>
                <a:off x="575468" y="4347369"/>
                <a:ext cx="803564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D8051B-89DB-AFBD-8A6B-51418CF3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68" y="4347369"/>
                <a:ext cx="803564" cy="376770"/>
              </a:xfrm>
              <a:prstGeom prst="rect">
                <a:avLst/>
              </a:prstGeom>
              <a:blipFill>
                <a:blip r:embed="rId7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976D90-1215-51C4-DCC1-CB2FDDAD704D}"/>
                  </a:ext>
                </a:extLst>
              </p:cNvPr>
              <p:cNvSpPr txBox="1"/>
              <p:nvPr/>
            </p:nvSpPr>
            <p:spPr>
              <a:xfrm>
                <a:off x="5966076" y="4347369"/>
                <a:ext cx="803564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18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976D90-1215-51C4-DCC1-CB2FDDAD7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076" y="4347369"/>
                <a:ext cx="803564" cy="376770"/>
              </a:xfrm>
              <a:prstGeom prst="rect">
                <a:avLst/>
              </a:prstGeom>
              <a:blipFill>
                <a:blip r:embed="rId8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31DB5-7CBF-67ED-672C-365A8B604EB0}"/>
                  </a:ext>
                </a:extLst>
              </p:cNvPr>
              <p:cNvSpPr txBox="1"/>
              <p:nvPr/>
            </p:nvSpPr>
            <p:spPr>
              <a:xfrm>
                <a:off x="3844089" y="3264205"/>
                <a:ext cx="8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8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F31DB5-7CBF-67ED-672C-365A8B604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089" y="3264205"/>
                <a:ext cx="8722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079E6-D204-1C0E-1683-95706900C4FA}"/>
                  </a:ext>
                </a:extLst>
              </p:cNvPr>
              <p:cNvSpPr txBox="1"/>
              <p:nvPr/>
            </p:nvSpPr>
            <p:spPr>
              <a:xfrm>
                <a:off x="9179091" y="3158887"/>
                <a:ext cx="8722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1800" b="0" i="1" noProof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7079E6-D204-1C0E-1683-95706900C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9091" y="3158887"/>
                <a:ext cx="8722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971A373-906F-7D44-EBC0-DFE04CF4B8EC}"/>
              </a:ext>
            </a:extLst>
          </p:cNvPr>
          <p:cNvGrpSpPr/>
          <p:nvPr/>
        </p:nvGrpSpPr>
        <p:grpSpPr>
          <a:xfrm>
            <a:off x="4280234" y="4535754"/>
            <a:ext cx="5882711" cy="207557"/>
            <a:chOff x="4280234" y="4535754"/>
            <a:chExt cx="5882711" cy="2075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11536C-789F-B7FE-463E-41FAC92BECAB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368DCB-CFF2-D3A8-ADF2-609C1C4F76D5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2466FA-ED93-4FBE-8934-08263A0B1049}"/>
              </a:ext>
            </a:extLst>
          </p:cNvPr>
          <p:cNvGrpSpPr/>
          <p:nvPr/>
        </p:nvGrpSpPr>
        <p:grpSpPr>
          <a:xfrm>
            <a:off x="3578143" y="4535237"/>
            <a:ext cx="5882711" cy="207557"/>
            <a:chOff x="4280234" y="4535754"/>
            <a:chExt cx="5882711" cy="20755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0EE345-22C9-3F96-5761-EE1107992A61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D0663D-CB0C-4DA3-5B05-9E952A059484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92BBA7-FE64-CF42-DB46-AB037E15096B}"/>
              </a:ext>
            </a:extLst>
          </p:cNvPr>
          <p:cNvGrpSpPr/>
          <p:nvPr/>
        </p:nvGrpSpPr>
        <p:grpSpPr>
          <a:xfrm>
            <a:off x="4280234" y="4243590"/>
            <a:ext cx="5882711" cy="207557"/>
            <a:chOff x="4280234" y="4535754"/>
            <a:chExt cx="5882711" cy="20755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A06916-CB22-1491-BFBE-54262E6A4D78}"/>
                </a:ext>
              </a:extLst>
            </p:cNvPr>
            <p:cNvSpPr/>
            <p:nvPr/>
          </p:nvSpPr>
          <p:spPr>
            <a:xfrm>
              <a:off x="4280234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D418CE-1FA9-5A9B-50E0-92F1A4DBD903}"/>
                </a:ext>
              </a:extLst>
            </p:cNvPr>
            <p:cNvSpPr/>
            <p:nvPr/>
          </p:nvSpPr>
          <p:spPr>
            <a:xfrm>
              <a:off x="9608763" y="4535754"/>
              <a:ext cx="554182" cy="2075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240023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79D6-C978-91AD-A9D5-15BE7F23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BF8F-E358-E628-0A35-A82F00C3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Intuiciones III: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de Curva ROC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EEEC-67AD-DAAF-3C98-A591A047C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Relajar la simetría del Clasificador de Bayes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Trade-off: </a:t>
            </a:r>
            <a:r>
              <a:rPr lang="es-ES_tradnl" dirty="0"/>
              <a:t>reducir un error, aumenta el otro 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Curva ROC </a:t>
            </a:r>
            <a:r>
              <a:rPr lang="es-ES_tradnl" dirty="0">
                <a:solidFill>
                  <a:srgbClr val="00B050"/>
                </a:solidFill>
              </a:rPr>
              <a:t>ilustra</a:t>
            </a:r>
            <a:r>
              <a:rPr lang="es-ES_tradnl" dirty="0"/>
              <a:t> ese </a:t>
            </a:r>
            <a:r>
              <a:rPr lang="es-ES_tradnl" dirty="0" err="1"/>
              <a:t>trade</a:t>
            </a:r>
            <a:r>
              <a:rPr lang="es-ES_tradnl" dirty="0"/>
              <a:t>-off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Permite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Medir</a:t>
            </a:r>
            <a:r>
              <a:rPr lang="es-ES_tradnl" dirty="0"/>
              <a:t> la capacidad </a:t>
            </a:r>
            <a:r>
              <a:rPr lang="es-ES_tradnl" dirty="0">
                <a:solidFill>
                  <a:srgbClr val="002060"/>
                </a:solidFill>
              </a:rPr>
              <a:t>predictiva</a:t>
            </a:r>
            <a:r>
              <a:rPr lang="es-ES_tradnl" dirty="0"/>
              <a:t> de modelos de clasificación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Comparar</a:t>
            </a:r>
            <a:r>
              <a:rPr lang="es-ES_tradnl" dirty="0"/>
              <a:t> métodos de clasificación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8799E-31C4-242F-4BE9-60D966A9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57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3E0F-A88D-0129-851B-D24B787E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Notación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54A7-B097-BE14-A12D-B5A669397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sz="3200" b="0" dirty="0"/>
                  <a:t> total de positivos</a:t>
                </a:r>
              </a:p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s-ES_tradnl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total de negativos</a:t>
                </a:r>
              </a:p>
              <a:p>
                <a14:m>
                  <m:oMath xmlns:m="http://schemas.openxmlformats.org/officeDocument/2006/math"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sz="3200" b="0" i="1" smtClean="0">
                        <a:latin typeface="Cambria Math" panose="02040503050406030204" pitchFamily="18" charset="0"/>
                      </a:rPr>
                      <m:t>𝑡𝑜𝑡𝑎𝑙</m:t>
                    </m:r>
                  </m:oMath>
                </a14:m>
                <a:endParaRPr lang="es-ES_tradnl" sz="3200" b="0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s-ES_tradnl" dirty="0"/>
              </a:p>
              <a:p>
                <a:pPr marL="0" indent="0">
                  <a:buNone/>
                </a:pPr>
                <a:endParaRPr lang="es-ES_tradnl" sz="2400" dirty="0"/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854A7-B097-BE14-A12D-B5A669397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005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B5C96-C3B9-9940-6FAB-59179E35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83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de clasificación -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s-ES_tradnl" sz="2800" dirty="0"/>
                  <a:t>Tasa de falsos positivos: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𝑓𝑝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𝐸𝑟𝑟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𝑠𝑝𝑒𝑐𝑖𝑓𝑖𝑐𝑖𝑡𝑦</m:t>
                    </m:r>
                  </m:oMath>
                </a14:m>
                <a:endParaRPr lang="es-ES_tradnl" sz="2800" dirty="0"/>
              </a:p>
              <a:p>
                <a:r>
                  <a:rPr lang="es-ES_tradnl" sz="2800" dirty="0"/>
                  <a:t>Tasa de verdaderos positivos: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𝐸𝑟𝑟𝐼𝐼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𝑠𝑒𝑛𝑠𝑖𝑡𝑖𝑣𝑖𝑡𝑦</m:t>
                    </m:r>
                  </m:oMath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1325563"/>
              </a:xfrm>
              <a:blipFill>
                <a:blip r:embed="rId2"/>
                <a:stretch>
                  <a:fillRect l="-1086" t="-52830" b="-509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63930" y="2977241"/>
              <a:ext cx="7488280" cy="34584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115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811091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156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303498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  <a:gridCol w="908420">
                      <a:extLst>
                        <a:ext uri="{9D8B030D-6E8A-4147-A177-3AD203B41FA5}">
                          <a16:colId xmlns:a16="http://schemas.microsoft.com/office/drawing/2014/main" val="3560947047"/>
                        </a:ext>
                      </a:extLst>
                    </a:gridCol>
                  </a:tblGrid>
                  <a:tr h="382626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b="0" i="1" noProof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437932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s-ES_tradnl" sz="23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23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28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  <a:tr h="437932"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b="0" i="1" noProof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32589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086876"/>
                  </p:ext>
                </p:extLst>
              </p:nvPr>
            </p:nvGraphicFramePr>
            <p:xfrm>
              <a:off x="2063930" y="2977241"/>
              <a:ext cx="7488280" cy="345843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1115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811091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156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303498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  <a:gridCol w="908420">
                      <a:extLst>
                        <a:ext uri="{9D8B030D-6E8A-4147-A177-3AD203B41FA5}">
                          <a16:colId xmlns:a16="http://schemas.microsoft.com/office/drawing/2014/main" val="3560947047"/>
                        </a:ext>
                      </a:extLst>
                    </a:gridCol>
                  </a:tblGrid>
                  <a:tr h="441960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317" r="-15859" b="-68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441960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7241" r="-809231" b="-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98955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fn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20833" t="-89744" b="-1602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11430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fp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(</a:t>
                          </a:r>
                          <a:r>
                            <a:rPr lang="es-ES_tradnl" sz="2300" noProof="0" dirty="0" err="1">
                              <a:latin typeface="Gill Sans Nova Light" panose="020B0302020104020203" pitchFamily="34" charset="0"/>
                            </a:rPr>
                            <a:t>vp</a:t>
                          </a:r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20833" t="-164444" b="-3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  <a:tr h="441960"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1722" t="-680000" r="-1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86740" t="-680000" r="-397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325893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C0E77-F3C0-A87F-49F9-4878E222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31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 - grafico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dirty="0"/>
                  <a:t>ROC: </a:t>
                </a:r>
                <a:r>
                  <a:rPr lang="en-US" dirty="0">
                    <a:solidFill>
                      <a:srgbClr val="002060"/>
                    </a:solidFill>
                  </a:rPr>
                  <a:t>receiver operating characteristics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dirty="0" err="1">
                    <a:solidFill>
                      <a:srgbClr val="FF0000"/>
                    </a:solidFill>
                  </a:rPr>
                  <a:t>Curva</a:t>
                </a:r>
                <a:r>
                  <a:rPr lang="en-US" dirty="0">
                    <a:solidFill>
                      <a:srgbClr val="FF0000"/>
                    </a:solidFill>
                  </a:rPr>
                  <a:t> ROC </a:t>
                </a:r>
                <a:r>
                  <a:rPr lang="en-US" i="1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n-US" dirty="0" err="1">
                    <a:solidFill>
                      <a:srgbClr val="002060"/>
                    </a:solidFill>
                  </a:rPr>
                  <a:t>Eje</a:t>
                </a:r>
                <a:r>
                  <a:rPr lang="en-US" dirty="0">
                    <a:solidFill>
                      <a:srgbClr val="002060"/>
                    </a:solidFill>
                  </a:rPr>
                  <a:t> x: </a:t>
                </a:r>
                <a:r>
                  <a:rPr lang="es-ES_tradnl" dirty="0"/>
                  <a:t>Tasa de falsos positivos </a:t>
                </a:r>
              </a:p>
              <a:p>
                <a:pPr marL="457200" lvl="1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𝑡𝑓𝑝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i="1" dirty="0"/>
              </a:p>
              <a:p>
                <a:pPr lvl="1">
                  <a:lnSpc>
                    <a:spcPct val="160000"/>
                  </a:lnSpc>
                </a:pPr>
                <a:r>
                  <a:rPr lang="en-US" dirty="0" err="1"/>
                  <a:t>Eje</a:t>
                </a:r>
                <a:r>
                  <a:rPr lang="en-US" dirty="0"/>
                  <a:t> Y: </a:t>
                </a:r>
                <a:r>
                  <a:rPr lang="es-ES_tradnl" dirty="0"/>
                  <a:t>Tasa de verdaderos positivos</a:t>
                </a:r>
                <a:endParaRPr lang="en-US" dirty="0"/>
              </a:p>
              <a:p>
                <a:pPr marL="457200" lvl="1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𝑡𝑣𝑝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𝑣𝑝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Accuracy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. Similar 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>
                  <a:lnSpc>
                    <a:spcPct val="160000"/>
                  </a:lnSpc>
                </a:pPr>
                <a:endParaRPr lang="en-US" i="1" dirty="0"/>
              </a:p>
              <a:p>
                <a:pPr>
                  <a:lnSpc>
                    <a:spcPct val="160000"/>
                  </a:lnSpc>
                </a:pPr>
                <a:endParaRPr lang="en-US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467" b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E07EEF54-105D-F402-7367-E2DA7A7B4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CB09-AEB1-A75A-06EF-05BE7125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31EA3-181A-392B-C96A-0F5B5413CFAC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73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Clasificador binario: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= 1 [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_tradnl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ES_tradnl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ES_tradnl" dirty="0"/>
              </a:p>
              <a:p>
                <a:pPr marL="23495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∈ [0, 1]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Con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Clasificador de Bayes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s-ES_tradnl" dirty="0"/>
                  <a:t> (simetría)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6326567-2749-1F0C-A234-8D38FD16C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r="-48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E07EEF54-105D-F402-7367-E2DA7A7B4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0163B-4A02-D25B-A1B6-2CE477F5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8B2E4-F39D-78DC-68AA-511CA8BDBBB0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2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3BBC-F7A5-A72F-2518-A50F054F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ECB0-2EEE-B6D7-5834-2A87F2FC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Medidas de Error y Curva ROC: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Intuición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02B312-56D9-BE3D-3578-1FBA8F754B5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/>
                  <a:t>¿Asimetría?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todos clasificados negativos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endParaRPr lang="en-US" b="0" dirty="0"/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todos clasificados positivos</a:t>
                </a: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endParaRPr lang="en-US" b="0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Curva ROC</a:t>
                </a:r>
                <a:r>
                  <a:rPr lang="es-ES_tradnl" dirty="0"/>
                  <a:t>: (</a:t>
                </a:r>
                <a:r>
                  <a:rPr lang="es-ES_tradnl" dirty="0" err="1"/>
                  <a:t>tfp</a:t>
                </a:r>
                <a:r>
                  <a:rPr lang="es-ES_tradnl" dirty="0"/>
                  <a:t>, </a:t>
                </a:r>
                <a:r>
                  <a:rPr lang="es-ES_tradnl" dirty="0" err="1"/>
                  <a:t>tvp</a:t>
                </a:r>
                <a:r>
                  <a:rPr lang="es-ES_tradnl" dirty="0"/>
                  <a:t>) para todos los valores posibles de c ∈ [0, 1].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Idealmente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𝑡𝑣𝑝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s-ES_tradnl" dirty="0"/>
                  <a:t>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𝑡𝑓𝑝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02B312-56D9-BE3D-3578-1FBA8F754B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curve&#10;&#10;Description automatically generated">
            <a:extLst>
              <a:ext uri="{FF2B5EF4-FFF2-40B4-BE49-F238E27FC236}">
                <a16:creationId xmlns:a16="http://schemas.microsoft.com/office/drawing/2014/main" id="{2350B163-5496-D257-3E77-AF13E063BC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8151" r="18370"/>
          <a:stretch/>
        </p:blipFill>
        <p:spPr>
          <a:xfrm>
            <a:off x="6628360" y="1604963"/>
            <a:ext cx="4725440" cy="4572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571A74-113E-A36E-DAA5-472051E34AEC}"/>
              </a:ext>
            </a:extLst>
          </p:cNvPr>
          <p:cNvSpPr txBox="1"/>
          <p:nvPr/>
        </p:nvSpPr>
        <p:spPr>
          <a:xfrm>
            <a:off x="6019801" y="6130509"/>
            <a:ext cx="594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p.155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AD85B-1FCB-4733-24C3-D92E4715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1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Usos de ROC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¿Curva ROC ideal?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AROC (AUC)</a:t>
                </a:r>
                <a:r>
                  <a:rPr lang="es-ES_tradnl" dirty="0"/>
                  <a:t>: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Area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under</a:t>
                </a:r>
                <a:r>
                  <a:rPr lang="es-ES_tradnl" dirty="0">
                    <a:solidFill>
                      <a:srgbClr val="002060"/>
                    </a:solidFill>
                  </a:rPr>
                  <a:t> ROC </a:t>
                </a:r>
                <a:r>
                  <a:rPr lang="es-ES_tradnl" dirty="0"/>
                  <a:t>(suerte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Herramienta para comparar clasificadores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¿Elección de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ES_tradnl" dirty="0"/>
                  <a:t>? Fijar un máximo tolerable para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𝑡𝑓𝑝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5709E-9A15-12B5-D60D-55BA71D5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33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Otras tasas que pueden ser de interés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Sensibilidad: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𝑡𝑣𝑝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Razón de falsos positivos: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𝑡𝑓𝑝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Exactitud/Precisión: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Especificidad: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Valor predictivo positivo: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Valor predictivo negativo: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9919D-9F5C-A184-5F72-3E9AD2BD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492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empírica de los clasificadores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¿Cuál método es mejor?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4.5.2</a:t>
            </a:r>
            <a:endParaRPr lang="en-US" b="1" i="1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E429F-0EF3-0F6D-291B-C4403C79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45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1 a 3: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lineal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C4A5B-2BF2-2C26-3AF5-0B023D20993E}"/>
              </a:ext>
            </a:extLst>
          </p:cNvPr>
          <p:cNvSpPr txBox="1"/>
          <p:nvPr/>
        </p:nvSpPr>
        <p:spPr>
          <a:xfrm>
            <a:off x="1421876" y="6154321"/>
            <a:ext cx="78016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p.165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1CA82B-3EA4-40E2-593C-1AA98D1E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48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9963BAD0-A99B-2F3F-14E1-F02F5A583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519" y="1825625"/>
            <a:ext cx="8428962" cy="4351338"/>
          </a:xfrm>
        </p:spPr>
      </p:pic>
    </p:spTree>
    <p:extLst>
      <p:ext uri="{BB962C8B-B14F-4D97-AF65-F5344CB8AC3E}">
        <p14:creationId xmlns:p14="http://schemas.microsoft.com/office/powerpoint/2010/main" val="14193394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Comparación Escenarios 4 a 6: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límite de Bayes no lineal</a:t>
            </a:r>
            <a:endParaRPr lang="es-ES_trad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DE4A7-6714-132C-9A6B-DE90B5172828}"/>
              </a:ext>
            </a:extLst>
          </p:cNvPr>
          <p:cNvSpPr txBox="1"/>
          <p:nvPr/>
        </p:nvSpPr>
        <p:spPr>
          <a:xfrm>
            <a:off x="1644316" y="6230521"/>
            <a:ext cx="72412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G., Witten, D., Hastie, T., Tibshirani, R., &amp; Taylor, J. (2023). p.166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EFFBA-A811-07A3-1A19-0851782C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49</a:t>
            </a:fld>
            <a:endParaRPr lang="en-US"/>
          </a:p>
        </p:txBody>
      </p:sp>
      <p:pic>
        <p:nvPicPr>
          <p:cNvPr id="9" name="Content Placeholder 8" descr="A group of boxes with different colored squares&#10;&#10;Description automatically generated">
            <a:extLst>
              <a:ext uri="{FF2B5EF4-FFF2-40B4-BE49-F238E27FC236}">
                <a16:creationId xmlns:a16="http://schemas.microsoft.com/office/drawing/2014/main" id="{DC140E2B-D80A-C468-1A40-4235EAC60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348" y="1825625"/>
            <a:ext cx="8277304" cy="4351338"/>
          </a:xfrm>
        </p:spPr>
      </p:pic>
    </p:spTree>
    <p:extLst>
      <p:ext uri="{BB962C8B-B14F-4D97-AF65-F5344CB8AC3E}">
        <p14:creationId xmlns:p14="http://schemas.microsoft.com/office/powerpoint/2010/main" val="4028464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¿Que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A5571-2769-CCAB-A4A1-42266B991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Partimos</a:t>
            </a:r>
            <a:r>
              <a:rPr lang="es-ES_tradnl" dirty="0"/>
              <a:t> de las tomas de decisiones como </a:t>
            </a:r>
            <a:r>
              <a:rPr lang="es-ES_tradnl" dirty="0">
                <a:solidFill>
                  <a:srgbClr val="002060"/>
                </a:solidFill>
              </a:rPr>
              <a:t>motivación</a:t>
            </a:r>
            <a:r>
              <a:rPr lang="es-ES_tradnl" dirty="0"/>
              <a:t> para la clasificación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la función de riesgo para introducir </a:t>
            </a:r>
            <a:r>
              <a:rPr lang="es-ES_tradnl" dirty="0">
                <a:solidFill>
                  <a:srgbClr val="002060"/>
                </a:solidFill>
              </a:rPr>
              <a:t>formalmente</a:t>
            </a:r>
            <a:r>
              <a:rPr lang="es-ES_tradnl" dirty="0"/>
              <a:t> el Clasificador de Bayes 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Desarrollamos</a:t>
            </a:r>
            <a:r>
              <a:rPr lang="es-ES_tradnl" dirty="0"/>
              <a:t> métodos más usados de Clasificación y </a:t>
            </a:r>
            <a:r>
              <a:rPr lang="es-ES_tradnl" dirty="0">
                <a:solidFill>
                  <a:srgbClr val="002060"/>
                </a:solidFill>
              </a:rPr>
              <a:t>mencionamos</a:t>
            </a:r>
            <a:r>
              <a:rPr lang="es-ES_tradnl" dirty="0"/>
              <a:t> un par de aplicaciones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Regresión Logística </a:t>
            </a:r>
            <a:r>
              <a:rPr lang="es-ES_tradnl" dirty="0"/>
              <a:t>con introducción estimador de </a:t>
            </a:r>
            <a:r>
              <a:rPr lang="es-ES_tradnl" dirty="0">
                <a:solidFill>
                  <a:srgbClr val="00B050"/>
                </a:solidFill>
              </a:rPr>
              <a:t>máxima verosimilitud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Describimos </a:t>
            </a:r>
            <a:r>
              <a:rPr lang="es-ES_tradnl" dirty="0"/>
              <a:t>el problema y solución práctica para </a:t>
            </a:r>
            <a:r>
              <a:rPr lang="es-ES_tradnl" dirty="0">
                <a:solidFill>
                  <a:srgbClr val="002060"/>
                </a:solidFill>
              </a:rPr>
              <a:t>Vecinos cercanos </a:t>
            </a:r>
            <a:r>
              <a:rPr lang="es-ES_tradnl" dirty="0"/>
              <a:t>estimador no paramétrico</a:t>
            </a:r>
          </a:p>
          <a:p>
            <a:pPr lvl="2">
              <a:lnSpc>
                <a:spcPct val="120000"/>
              </a:lnSpc>
            </a:pPr>
            <a:endParaRPr lang="es-ES_tradnl" dirty="0"/>
          </a:p>
          <a:p>
            <a:pPr lvl="1">
              <a:lnSpc>
                <a:spcPct val="170000"/>
              </a:lnSpc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673808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sobre la construcción de la curva ROC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Aprendimos sobre la </a:t>
            </a:r>
            <a:r>
              <a:rPr lang="es-ES_tradnl" dirty="0">
                <a:solidFill>
                  <a:srgbClr val="002060"/>
                </a:solidFill>
              </a:rPr>
              <a:t>pendiente positiva de ROC </a:t>
            </a:r>
            <a:r>
              <a:rPr lang="es-ES_tradnl" dirty="0"/>
              <a:t>&amp; que está por </a:t>
            </a:r>
            <a:r>
              <a:rPr lang="es-ES_tradnl" dirty="0">
                <a:solidFill>
                  <a:srgbClr val="002060"/>
                </a:solidFill>
              </a:rPr>
              <a:t>arriba de línea 45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métodos de clasificación para 6 escenarios distintos: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Lección principal: </a:t>
            </a:r>
            <a:r>
              <a:rPr lang="es-ES_tradnl" dirty="0">
                <a:solidFill>
                  <a:srgbClr val="FF0000"/>
                </a:solidFill>
              </a:rPr>
              <a:t>Ningún método domina siempre</a:t>
            </a:r>
            <a:r>
              <a:rPr lang="es-ES_tradnl" dirty="0"/>
              <a:t>. Depende del contexto.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Consultas: </a:t>
            </a:r>
            <a:r>
              <a:rPr lang="es-ES_tradnl" dirty="0">
                <a:hlinkClick r:id="rId2"/>
              </a:rPr>
              <a:t>mromero@udesa.edu.ar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8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2292</TotalTime>
  <Words>2584</Words>
  <Application>Microsoft Macintosh PowerPoint</Application>
  <PresentationFormat>Panorámica</PresentationFormat>
  <Paragraphs>409</Paragraphs>
  <Slides>53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2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Wingdings</vt:lpstr>
      <vt:lpstr>Office Theme</vt:lpstr>
      <vt:lpstr>Problema de Clasificación: Logit, KNN y Curvas ROC</vt:lpstr>
      <vt:lpstr>Cuestiones operativas del curso: Próximos Deadlines</vt:lpstr>
      <vt:lpstr>En la clase de hoy</vt:lpstr>
      <vt:lpstr>De la Etapa Explorativa a la Predicción</vt:lpstr>
      <vt:lpstr>Clasificación: Motivación y primeras definiciones</vt:lpstr>
      <vt:lpstr>Motivación: Decisiones con varias opciones</vt:lpstr>
      <vt:lpstr>Motivación: Decisiones con varias opciones</vt:lpstr>
      <vt:lpstr>Teoría de decisión y Matriz de posibilidades</vt:lpstr>
      <vt:lpstr>Ilustraciones: Error tipo I y tipo II</vt:lpstr>
      <vt:lpstr>Ejemplos y Errores: ¿qué error queremos minimizar?</vt:lpstr>
      <vt:lpstr>Clasificador de Bayes</vt:lpstr>
      <vt:lpstr>Clasificador de Bayes: Intuitivamente</vt:lpstr>
      <vt:lpstr>Posibles soluciones</vt:lpstr>
      <vt:lpstr>Modelo lineal para Clasificar: ¿Por qué no p=Pr⁡(Y=1|X)=Xβ?</vt:lpstr>
      <vt:lpstr>Regresión logística</vt:lpstr>
      <vt:lpstr>Función logística   </vt:lpstr>
      <vt:lpstr>Interpretación de Efecto Marginal con Logit I</vt:lpstr>
      <vt:lpstr>Interpretación de Efecto Marginal con Logit II</vt:lpstr>
      <vt:lpstr>¿Cómo estimamos los coeficientes de p=e^z/(1+e^z ) \ donde z≡Xβ es vectores de K coeficientes?   </vt:lpstr>
      <vt:lpstr>Intro a la estimación de Máxima verosimilitud (MLE)</vt:lpstr>
      <vt:lpstr>Estimación MLE I</vt:lpstr>
      <vt:lpstr>Estimación MLE II</vt:lpstr>
      <vt:lpstr>Logit por estimación de MLE</vt:lpstr>
      <vt:lpstr>Resumen en la práctica:</vt:lpstr>
      <vt:lpstr>Aplicación de Regresión logística</vt:lpstr>
      <vt:lpstr>Visualización de efectos marginales</vt:lpstr>
      <vt:lpstr>Se puede presentar coeficientes y odd-ratios</vt:lpstr>
      <vt:lpstr>Vecinos cercanos</vt:lpstr>
      <vt:lpstr>Vecinos cercanos I</vt:lpstr>
      <vt:lpstr>Vecinos cercanos II</vt:lpstr>
      <vt:lpstr>Para distinto número K: ¿Qué ocurre con la clasificación?</vt:lpstr>
      <vt:lpstr>Consideraciones de Vecinos Cercanos</vt:lpstr>
      <vt:lpstr>Aplicación de Vecinos Cercanos</vt:lpstr>
      <vt:lpstr>Versión simplificada de Propensity Score Matching (PSM)</vt:lpstr>
      <vt:lpstr>Herramientas para predecir la probabilidad condicional: p=Pr⁡(Y=1|X) </vt:lpstr>
      <vt:lpstr>Análisis ROC</vt:lpstr>
      <vt:lpstr>Intuiciones I: Motivación</vt:lpstr>
      <vt:lpstr>Intuición II: Ejemplo de Default con LDA</vt:lpstr>
      <vt:lpstr>Intuiciones III: Idea de Curva ROC</vt:lpstr>
      <vt:lpstr>Notación</vt:lpstr>
      <vt:lpstr>Medidas de error de clasificación - Performance</vt:lpstr>
      <vt:lpstr>Medidas de Error y Curva ROC - grafico </vt:lpstr>
      <vt:lpstr>Medidas de Error y Curva ROC: Intuición I</vt:lpstr>
      <vt:lpstr>Medidas de Error y Curva ROC: Intuición II</vt:lpstr>
      <vt:lpstr>Usos de ROC</vt:lpstr>
      <vt:lpstr>Otras tasas que pueden ser de interés …</vt:lpstr>
      <vt:lpstr>Comparación empírica de los clasificadores</vt:lpstr>
      <vt:lpstr>Comparación Escenarios 1 a 3: límite de Bayes lineal</vt:lpstr>
      <vt:lpstr>Comparación Escenarios 4 a 6: límite de Bayes no lineal</vt:lpstr>
      <vt:lpstr>Conclusiones finales</vt:lpstr>
      <vt:lpstr>¿Que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404</cp:revision>
  <dcterms:created xsi:type="dcterms:W3CDTF">2023-06-12T20:51:31Z</dcterms:created>
  <dcterms:modified xsi:type="dcterms:W3CDTF">2025-09-30T19:53:25Z</dcterms:modified>
</cp:coreProperties>
</file>