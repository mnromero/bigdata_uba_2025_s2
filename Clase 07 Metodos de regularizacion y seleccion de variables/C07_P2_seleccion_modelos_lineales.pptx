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423" r:id="rId2"/>
    <p:sldId id="275" r:id="rId3"/>
    <p:sldId id="329" r:id="rId4"/>
    <p:sldId id="267" r:id="rId5"/>
    <p:sldId id="268" r:id="rId6"/>
    <p:sldId id="348" r:id="rId7"/>
    <p:sldId id="347" r:id="rId8"/>
    <p:sldId id="477" r:id="rId9"/>
    <p:sldId id="410" r:id="rId10"/>
    <p:sldId id="349" r:id="rId11"/>
    <p:sldId id="478" r:id="rId12"/>
    <p:sldId id="409" r:id="rId13"/>
    <p:sldId id="350" r:id="rId14"/>
    <p:sldId id="337" r:id="rId15"/>
    <p:sldId id="314" r:id="rId16"/>
    <p:sldId id="44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275"/>
          </p14:sldIdLst>
        </p14:section>
        <p14:section name="Eleccion de modelos: Motivación" id="{F06AC147-1820-E64A-873C-8C467231AE8F}">
          <p14:sldIdLst>
            <p14:sldId id="329"/>
            <p14:sldId id="267"/>
            <p14:sldId id="268"/>
          </p14:sldIdLst>
        </p14:section>
        <p14:section name="Eleccion de modelos: Best, Forward and Backward subset selection" id="{053A4A06-A05F-6D46-82D6-5539DF7FADC8}">
          <p14:sldIdLst>
            <p14:sldId id="348"/>
            <p14:sldId id="347"/>
            <p14:sldId id="477"/>
            <p14:sldId id="410"/>
            <p14:sldId id="349"/>
            <p14:sldId id="478"/>
            <p14:sldId id="409"/>
            <p14:sldId id="350"/>
          </p14:sldIdLst>
        </p14:section>
        <p14:section name="Conclusiones finales" id="{30AE4762-25DE-C74D-AF95-4AEC0CC37FB0}">
          <p14:sldIdLst>
            <p14:sldId id="337"/>
            <p14:sldId id="314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7"/>
    <p:restoredTop sz="86580"/>
  </p:normalViewPr>
  <p:slideViewPr>
    <p:cSldViewPr snapToGrid="0">
      <p:cViewPr varScale="1">
        <p:scale>
          <a:sx n="88" d="100"/>
          <a:sy n="88" d="100"/>
        </p:scale>
        <p:origin x="184" y="272"/>
      </p:cViewPr>
      <p:guideLst/>
    </p:cSldViewPr>
  </p:slideViewPr>
  <p:outlineViewPr>
    <p:cViewPr>
      <p:scale>
        <a:sx n="33" d="100"/>
        <a:sy n="33" d="100"/>
      </p:scale>
      <p:origin x="0" y="-402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21/10/25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* Ver la </a:t>
            </a:r>
            <a:r>
              <a:rPr lang="es-ES_tradnl" dirty="0" err="1"/>
              <a:t>intro</a:t>
            </a:r>
            <a:r>
              <a:rPr lang="es-ES_tradnl" dirty="0"/>
              <a:t> y motivación en estos dos capítulos.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6903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9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399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00F8-7FFC-5341-ADE9-35A49375D21C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58FC-9A6A-6A4B-BC45-38DA2CDC520C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7393-515B-1A47-A87A-8640CC03CD21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A069-A1EA-0F47-A741-49B3A660719F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4583-8738-D446-A561-042FC1E653E3}" type="datetime1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A491-31D3-4F46-B45E-95FC60EFF440}" type="datetime1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2F5C-5B3E-AE45-9D2D-54D56FEFFDFB}" type="datetime1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CDE3-54E0-7D4C-8C01-682D9A3E8683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F334-1367-DE42-B433-657F08CBBA33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A313-D30E-C24D-B5E3-47AF40650833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59BE-6406-4040-81F6-DB3E248EDC37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6C47D364-D30F-3243-95CC-D040B3E96DD2}" type="datetime1">
              <a:rPr lang="en-US" noProof="0" smtClean="0"/>
              <a:t>10/21/25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Elección de Modelos Lineales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07 – Parte 2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_tradnl" sz="3200"/>
              <a:t>En la clase de hoy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de elección de modelos lineales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Búsqueda Exhaustiva (</a:t>
            </a:r>
            <a:r>
              <a:rPr lang="es-ES_tradnl" dirty="0" err="1"/>
              <a:t>Best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r>
              <a:rPr lang="es-ES_tradnl" dirty="0"/>
              <a:t>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 err="1"/>
              <a:t>Foward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 err="1"/>
              <a:t>Backward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Modelos: Introducción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 off-sesgo varianza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7428-BAF8-C43C-0F61-3A249901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0529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Modelo </a:t>
            </a:r>
            <a:r>
              <a:rPr lang="es-ES_tradnl" dirty="0">
                <a:solidFill>
                  <a:srgbClr val="002060"/>
                </a:solidFill>
              </a:rPr>
              <a:t>lineal</a:t>
            </a:r>
            <a:r>
              <a:rPr lang="es-ES_tradnl" dirty="0"/>
              <a:t>: “</a:t>
            </a:r>
            <a:r>
              <a:rPr lang="es-ES_tradnl" dirty="0">
                <a:solidFill>
                  <a:srgbClr val="002060"/>
                </a:solidFill>
              </a:rPr>
              <a:t>Madre</a:t>
            </a:r>
            <a:r>
              <a:rPr lang="es-ES_tradnl" dirty="0"/>
              <a:t>” de todos los modelos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Trade off</a:t>
            </a:r>
            <a:r>
              <a:rPr lang="es-ES_tradnl" dirty="0"/>
              <a:t>: modelos más ‘complejos’ tienden a ser menos sesgados, pero con mayor varianza.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Buscar modelos lineales que: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Interpretación </a:t>
            </a:r>
            <a:r>
              <a:rPr lang="es-ES_tradnl" dirty="0"/>
              <a:t>de manera sencilla 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Menor error de predicción </a:t>
            </a:r>
            <a:r>
              <a:rPr lang="es-ES_tradnl" dirty="0"/>
              <a:t>afuera de la muestra que una regresión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C3116-EEC6-9873-7268-2EF32801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317EB5-1442-A4A6-2D79-1D5C57D69603}"/>
              </a:ext>
            </a:extLst>
          </p:cNvPr>
          <p:cNvGrpSpPr/>
          <p:nvPr/>
        </p:nvGrpSpPr>
        <p:grpSpPr>
          <a:xfrm>
            <a:off x="6675126" y="1266521"/>
            <a:ext cx="5516874" cy="4970935"/>
            <a:chOff x="6675126" y="1266521"/>
            <a:chExt cx="5516874" cy="497093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B973C4A-5C95-B1A6-C745-2E4273DD7501}"/>
                </a:ext>
              </a:extLst>
            </p:cNvPr>
            <p:cNvCxnSpPr/>
            <p:nvPr/>
          </p:nvCxnSpPr>
          <p:spPr>
            <a:xfrm>
              <a:off x="6675126" y="5539437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855910-5CE8-6F00-EFF6-D3A81B78B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26" y="1591325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15B4DF0-1066-7C0C-87CD-7E86D4365E73}"/>
                </a:ext>
              </a:extLst>
            </p:cNvPr>
            <p:cNvSpPr/>
            <p:nvPr/>
          </p:nvSpPr>
          <p:spPr>
            <a:xfrm>
              <a:off x="6949446" y="1897077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9F39FF6-1BF9-7939-A133-CD5BBC768AF9}"/>
                </a:ext>
              </a:extLst>
            </p:cNvPr>
            <p:cNvSpPr/>
            <p:nvPr/>
          </p:nvSpPr>
          <p:spPr>
            <a:xfrm>
              <a:off x="6949446" y="3482036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71D21AC-0DDF-30E6-9D82-49022824A35F}"/>
                </a:ext>
              </a:extLst>
            </p:cNvPr>
            <p:cNvSpPr/>
            <p:nvPr/>
          </p:nvSpPr>
          <p:spPr>
            <a:xfrm>
              <a:off x="6987556" y="3482036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C39B49-AF84-B8B5-F1C2-3736D73A24DD}"/>
                </a:ext>
              </a:extLst>
            </p:cNvPr>
            <p:cNvSpPr txBox="1"/>
            <p:nvPr/>
          </p:nvSpPr>
          <p:spPr>
            <a:xfrm>
              <a:off x="9982201" y="5714236"/>
              <a:ext cx="20421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437908-8EF7-4CB3-88C1-5E698701403B}"/>
                </a:ext>
              </a:extLst>
            </p:cNvPr>
            <p:cNvSpPr txBox="1"/>
            <p:nvPr/>
          </p:nvSpPr>
          <p:spPr>
            <a:xfrm>
              <a:off x="6705608" y="1266521"/>
              <a:ext cx="12344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6B4C00-9165-B137-D7CD-4D27CF805EAD}"/>
                    </a:ext>
                  </a:extLst>
                </p:cNvPr>
                <p:cNvSpPr txBox="1"/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6B4C00-9165-B137-D7CD-4D27CF805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blipFill>
                  <a:blip r:embed="rId3"/>
                  <a:stretch>
                    <a:fillRect t="-4255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779B0-A41E-2D99-7F5F-B877955E4598}"/>
                    </a:ext>
                  </a:extLst>
                </p:cNvPr>
                <p:cNvSpPr txBox="1"/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779B0-A41E-2D99-7F5F-B877955E45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blipFill>
                  <a:blip r:embed="rId4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627078-95E6-3A2C-5A19-A97B1B5011F9}"/>
                    </a:ext>
                  </a:extLst>
                </p:cNvPr>
                <p:cNvSpPr txBox="1"/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627078-95E6-3A2C-5A19-A97B1B501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blipFill>
                  <a:blip r:embed="rId5"/>
                  <a:stretch>
                    <a:fillRect t="-6522"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serie de modelos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¿Ordenables en complejidad? Trade-off sesgo varianza. </a:t>
                </a:r>
                <a:r>
                  <a:rPr lang="es-ES_tradnl" dirty="0" err="1"/>
                  <a:t>Overfit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¿Anidados?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¿Existe un “supermodelo” que contenga al verdadero?</a:t>
                </a:r>
              </a:p>
              <a:p>
                <a:pPr>
                  <a:lnSpc>
                    <a:spcPct val="150000"/>
                  </a:lnSpc>
                </a:pPr>
                <a:endParaRPr lang="es-ES_tradnl" sz="15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Elección de modelos</a:t>
                </a:r>
                <a:r>
                  <a:rPr lang="es-ES_tradnl" dirty="0"/>
                  <a:t>: búsqueda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del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</a:t>
                </a:r>
                <a:r>
                  <a:rPr lang="es-ES_tradnl" dirty="0"/>
                  <a:t> modelo lineal para predecir fuera de la muestra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Ventajas</a:t>
                </a:r>
                <a:r>
                  <a:rPr lang="es-ES_tradnl" dirty="0"/>
                  <a:t>: seguimos en el conjunto de modelos simples de interpretar y fácil de estimar por MCO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B7029-CAC5-1B0F-5F65-E42E8001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7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 Lineales: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5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2A76-D9EB-1BA0-8D88-E47A6BDC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Búsqueda exhaustiva: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Subset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06514-EB17-AA85-B556-CC6695760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Iniciar con el modelo nulo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predictores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todos los posibles 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 predictores,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=1,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modelo,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computar</a:t>
                </a:r>
                <a:r>
                  <a:rPr lang="es-ES_tradnl" dirty="0"/>
                  <a:t> la suma de los residuos al cuadrado (RSS),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o el error de cross-validation (CV)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que minimiza RSS o maximiza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-&gt;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Best</a:t>
                </a: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subset</a:t>
                </a:r>
                <a:endParaRPr lang="es-ES_tradn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06514-EB17-AA85-B556-CC6695760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68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AB197-1BD1-7E2E-8029-21768C68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9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426B-A789-60A7-0744-A4048FDB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Búsqueda exhaustiva: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Subset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A2308-547B-A89D-115A-CEA1D8DD3C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¿Problema?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Estamos calculando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s-ES_tradnl" dirty="0"/>
                  <a:t> modelos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Computacionalmente inviable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‘moderado’: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⇒1.048.576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A2308-547B-A89D-115A-CEA1D8DD3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16425-C4AA-D86B-1482-9C0FC178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8420-CF74-7429-B167-DE9CDF08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</a:t>
            </a:r>
            <a:r>
              <a:rPr lang="es-ES_tradnl" i="1" dirty="0" err="1"/>
              <a:t>Best</a:t>
            </a:r>
            <a:r>
              <a:rPr lang="es-ES_tradnl" i="1" dirty="0"/>
              <a:t> </a:t>
            </a:r>
            <a:r>
              <a:rPr lang="es-ES_tradnl" i="1" dirty="0" err="1"/>
              <a:t>Subset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endParaRPr lang="es-ES_tradnl" i="1" dirty="0"/>
          </a:p>
        </p:txBody>
      </p:sp>
      <p:pic>
        <p:nvPicPr>
          <p:cNvPr id="6" name="Content Placeholder 5" descr="A graph of a number of predictors&#10;&#10;Description automatically generated">
            <a:extLst>
              <a:ext uri="{FF2B5EF4-FFF2-40B4-BE49-F238E27FC236}">
                <a16:creationId xmlns:a16="http://schemas.microsoft.com/office/drawing/2014/main" id="{F76DA481-D119-38AA-ECB2-B5DC065F2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621" y="1690688"/>
            <a:ext cx="8889315" cy="44522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188AF-E40C-993E-2FA1-2B0AEF1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9D4634-0DB4-0E7E-58F8-665267DCEE65}"/>
              </a:ext>
            </a:extLst>
          </p:cNvPr>
          <p:cNvSpPr txBox="1"/>
          <p:nvPr/>
        </p:nvSpPr>
        <p:spPr>
          <a:xfrm>
            <a:off x="1482621" y="6203655"/>
            <a:ext cx="59849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232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76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1E1-FFB0-647C-1FD9-F29F97EF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Selection: </a:t>
            </a:r>
            <a:r>
              <a:rPr lang="es-ES_tradnl" b="1" i="1" dirty="0"/>
              <a:t>Forward </a:t>
            </a:r>
            <a:r>
              <a:rPr lang="es-ES_tradnl" b="1" i="1" dirty="0" err="1"/>
              <a:t>Selection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Empezar con modelo nulo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predictores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Probar todos los 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con 1 predictor adicional. Elegir el que minimiza CV.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Predictores incorporados </a:t>
                </a:r>
                <a:r>
                  <a:rPr lang="es-ES_tradnl" dirty="0">
                    <a:solidFill>
                      <a:srgbClr val="002060"/>
                    </a:solidFill>
                  </a:rPr>
                  <a:t>no “salen”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modelo con menor</a:t>
                </a:r>
                <a:r>
                  <a:rPr lang="en-US" dirty="0"/>
                  <a:t> error de </a:t>
                </a:r>
                <a:r>
                  <a:rPr lang="es-ES_tradnl" dirty="0"/>
                  <a:t>CV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1163" r="-229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D36E-F589-E90B-859E-BDEEFBE7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537D-E083-B662-EA19-873916CD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 de </a:t>
            </a:r>
            <a:r>
              <a:rPr lang="es-ES_tradnl" b="1" i="1" dirty="0"/>
              <a:t>Forward </a:t>
            </a:r>
            <a:r>
              <a:rPr lang="es-ES_tradnl" b="1" i="1" dirty="0" err="1"/>
              <a:t>Selection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17ADE-E374-2857-9DE0-D69643CF3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Ahora calculamos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s-ES_tradnl" dirty="0"/>
                  <a:t>, requiere estimas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211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17ADE-E374-2857-9DE0-D69643CF3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812E9-EF34-344D-87B7-55E0F64B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86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1E1-FFB0-647C-1FD9-F29F97EF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Stepwise Selection: </a:t>
            </a:r>
            <a:r>
              <a:rPr lang="en-US" i="1" dirty="0"/>
              <a:t>Backward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Empieza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modelo completo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>
                  <a:solidFill>
                    <a:srgbClr val="002060"/>
                  </a:solidFill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Probar todos los modelos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predictor.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que minimiza CV.</a:t>
                </a:r>
              </a:p>
              <a:p>
                <a:pPr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sz="1200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Forward tiene la </a:t>
                </a: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 en modelos de alta dimensión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modelo más grande puede ser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predictores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581" r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D36E-F589-E90B-859E-BDEEFBE7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3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CD8E-C681-C0BE-7E00-8E6C193A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Discusión de estos métodos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FD0E1-E247-11EB-7524-5F19CCE8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dirty="0"/>
              <a:t>¿No vale empezar con el modelo general y tachar los coeficientes no significativos?</a:t>
            </a:r>
          </a:p>
          <a:p>
            <a:pPr>
              <a:lnSpc>
                <a:spcPct val="120000"/>
              </a:lnSpc>
            </a:pPr>
            <a:r>
              <a:rPr lang="es-ES_tradnl" i="1" dirty="0" err="1"/>
              <a:t>Backward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r>
              <a:rPr lang="es-ES_tradnl" i="1" dirty="0"/>
              <a:t> </a:t>
            </a:r>
            <a:r>
              <a:rPr lang="es-ES_tradnl" dirty="0"/>
              <a:t>aproxima esa idea (no exactamente ya que el criterio es de ajuste/predicción).</a:t>
            </a:r>
          </a:p>
          <a:p>
            <a:pPr>
              <a:lnSpc>
                <a:spcPct val="120000"/>
              </a:lnSpc>
            </a:pPr>
            <a:r>
              <a:rPr lang="es-ES_tradnl" dirty="0"/>
              <a:t>‘</a:t>
            </a:r>
            <a:r>
              <a:rPr lang="es-ES_tradnl" dirty="0">
                <a:solidFill>
                  <a:srgbClr val="002060"/>
                </a:solidFill>
              </a:rPr>
              <a:t>Tachar</a:t>
            </a:r>
            <a:r>
              <a:rPr lang="es-ES_tradnl" dirty="0"/>
              <a:t>’ variables/coeficientes es una forma extrema de ‘</a:t>
            </a:r>
            <a:r>
              <a:rPr lang="es-ES_tradnl" dirty="0">
                <a:solidFill>
                  <a:srgbClr val="002060"/>
                </a:solidFill>
              </a:rPr>
              <a:t>achicarlos</a:t>
            </a:r>
            <a:r>
              <a:rPr lang="es-ES_tradnl" dirty="0"/>
              <a:t>’ (</a:t>
            </a:r>
            <a:r>
              <a:rPr lang="es-ES_tradnl" i="1" dirty="0" err="1"/>
              <a:t>shrinkage</a:t>
            </a:r>
            <a:r>
              <a:rPr lang="es-ES_tradnl" dirty="0"/>
              <a:t>).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Lasso</a:t>
            </a:r>
            <a:r>
              <a:rPr lang="es-ES_tradnl" dirty="0"/>
              <a:t>: una manera formal de realizar esa tarea.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EE1D1-90DD-3C25-9DA6-9C4C2125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3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Introducimos</a:t>
            </a:r>
            <a:r>
              <a:rPr lang="es-ES_tradnl" dirty="0"/>
              <a:t> la selección de modelos lineales más intuitiva de Modelos por </a:t>
            </a:r>
            <a:r>
              <a:rPr lang="es-ES_tradnl" i="1" dirty="0" err="1"/>
              <a:t>Stepwise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r>
              <a:rPr lang="es-ES_tradnl" i="1" dirty="0"/>
              <a:t> </a:t>
            </a:r>
            <a:r>
              <a:rPr lang="es-ES_tradnl" dirty="0"/>
              <a:t>como </a:t>
            </a:r>
            <a:r>
              <a:rPr lang="es-ES_tradnl" dirty="0" err="1"/>
              <a:t>Best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, Forward y </a:t>
            </a:r>
            <a:r>
              <a:rPr lang="es-ES_tradnl" dirty="0" err="1"/>
              <a:t>Backward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r>
              <a:rPr lang="es-ES_tradnl" dirty="0"/>
              <a:t>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Mencionamos sus </a:t>
            </a:r>
            <a:r>
              <a:rPr lang="es-ES_tradnl" dirty="0">
                <a:solidFill>
                  <a:srgbClr val="FF0000"/>
                </a:solidFill>
              </a:rPr>
              <a:t>problemas computacionales </a:t>
            </a:r>
            <a:r>
              <a:rPr lang="es-ES_tradnl" dirty="0"/>
              <a:t>y </a:t>
            </a:r>
            <a:r>
              <a:rPr lang="es-ES_tradnl" dirty="0">
                <a:solidFill>
                  <a:srgbClr val="00B050"/>
                </a:solidFill>
              </a:rPr>
              <a:t>ventajas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651</Words>
  <Application>Microsoft Macintosh PowerPoint</Application>
  <PresentationFormat>Panorámica</PresentationFormat>
  <Paragraphs>97</Paragraphs>
  <Slides>16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Elección de Modelos Lineales</vt:lpstr>
      <vt:lpstr>En la clase de hoy</vt:lpstr>
      <vt:lpstr>Elección de Modelos: Introducción </vt:lpstr>
      <vt:lpstr>Trade off-sesgo varianza</vt:lpstr>
      <vt:lpstr>Elección de Modelos</vt:lpstr>
      <vt:lpstr>Elección de Modelos Lineales: Subset Selection</vt:lpstr>
      <vt:lpstr>Búsqueda exhaustiva: Best Subset Selection</vt:lpstr>
      <vt:lpstr>Búsqueda exhaustiva: Best Subset Selection</vt:lpstr>
      <vt:lpstr>Ilustración de Best Subset Selection</vt:lpstr>
      <vt:lpstr>Stepwise Selection: Forward Selection</vt:lpstr>
      <vt:lpstr>Ventaja de Forward Selection</vt:lpstr>
      <vt:lpstr>Stepwise Selection: Backward selection</vt:lpstr>
      <vt:lpstr>Discusión de estos métodos 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187</cp:revision>
  <dcterms:created xsi:type="dcterms:W3CDTF">2023-06-12T20:51:31Z</dcterms:created>
  <dcterms:modified xsi:type="dcterms:W3CDTF">2025-10-21T21:39:03Z</dcterms:modified>
</cp:coreProperties>
</file>