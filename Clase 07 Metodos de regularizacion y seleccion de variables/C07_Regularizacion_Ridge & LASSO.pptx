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423" r:id="rId2"/>
    <p:sldId id="326" r:id="rId3"/>
    <p:sldId id="275" r:id="rId4"/>
    <p:sldId id="479" r:id="rId5"/>
    <p:sldId id="491" r:id="rId6"/>
    <p:sldId id="480" r:id="rId7"/>
    <p:sldId id="353" r:id="rId8"/>
    <p:sldId id="484" r:id="rId9"/>
    <p:sldId id="269" r:id="rId10"/>
    <p:sldId id="355" r:id="rId11"/>
    <p:sldId id="356" r:id="rId12"/>
    <p:sldId id="357" r:id="rId13"/>
    <p:sldId id="485" r:id="rId14"/>
    <p:sldId id="351" r:id="rId15"/>
    <p:sldId id="260" r:id="rId16"/>
    <p:sldId id="266" r:id="rId17"/>
    <p:sldId id="270" r:id="rId18"/>
    <p:sldId id="272" r:id="rId19"/>
    <p:sldId id="271" r:id="rId20"/>
    <p:sldId id="273" r:id="rId21"/>
    <p:sldId id="352" r:id="rId22"/>
    <p:sldId id="474" r:id="rId23"/>
    <p:sldId id="476" r:id="rId24"/>
    <p:sldId id="489" r:id="rId25"/>
    <p:sldId id="418" r:id="rId26"/>
    <p:sldId id="419" r:id="rId27"/>
    <p:sldId id="365" r:id="rId28"/>
    <p:sldId id="486" r:id="rId29"/>
    <p:sldId id="487" r:id="rId30"/>
    <p:sldId id="488" r:id="rId31"/>
    <p:sldId id="469" r:id="rId32"/>
    <p:sldId id="470" r:id="rId33"/>
    <p:sldId id="471" r:id="rId34"/>
    <p:sldId id="425" r:id="rId35"/>
    <p:sldId id="412" r:id="rId36"/>
    <p:sldId id="413" r:id="rId37"/>
    <p:sldId id="415" r:id="rId38"/>
    <p:sldId id="337" r:id="rId39"/>
    <p:sldId id="490" r:id="rId40"/>
    <p:sldId id="472" r:id="rId41"/>
    <p:sldId id="444" r:id="rId42"/>
    <p:sldId id="475" r:id="rId43"/>
    <p:sldId id="362" r:id="rId44"/>
    <p:sldId id="414" r:id="rId45"/>
    <p:sldId id="363" r:id="rId46"/>
    <p:sldId id="36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326"/>
            <p14:sldId id="275"/>
          </p14:sldIdLst>
        </p14:section>
        <p14:section name="Metodos de Regularización" id="{E88B167C-240A-0549-97F6-55B4EA87ED19}">
          <p14:sldIdLst>
            <p14:sldId id="479"/>
            <p14:sldId id="491"/>
            <p14:sldId id="480"/>
          </p14:sldIdLst>
        </p14:section>
        <p14:section name="Ridge" id="{09EC6EB6-84D5-B645-95B0-97EE1B61C1A6}">
          <p14:sldIdLst>
            <p14:sldId id="353"/>
            <p14:sldId id="484"/>
            <p14:sldId id="269"/>
            <p14:sldId id="355"/>
            <p14:sldId id="356"/>
            <p14:sldId id="357"/>
            <p14:sldId id="485"/>
          </p14:sldIdLst>
        </p14:section>
        <p14:section name="LASSO" id="{75D31724-3B6C-E842-978D-4FEEBABBFA4D}">
          <p14:sldIdLst>
            <p14:sldId id="351"/>
            <p14:sldId id="260"/>
            <p14:sldId id="266"/>
            <p14:sldId id="270"/>
            <p14:sldId id="272"/>
            <p14:sldId id="271"/>
            <p14:sldId id="273"/>
            <p14:sldId id="352"/>
            <p14:sldId id="474"/>
            <p14:sldId id="476"/>
          </p14:sldIdLst>
        </p14:section>
        <p14:section name="Cross-validation para elegir parametro de penalidad" id="{51DE51B1-C3AB-6D43-9F6E-017755FCB704}">
          <p14:sldIdLst>
            <p14:sldId id="489"/>
            <p14:sldId id="418"/>
            <p14:sldId id="419"/>
          </p14:sldIdLst>
        </p14:section>
        <p14:section name="Elastic Net" id="{695A93C9-D55B-3F41-BED1-F70892F53DE0}">
          <p14:sldIdLst>
            <p14:sldId id="365"/>
            <p14:sldId id="486"/>
            <p14:sldId id="487"/>
            <p14:sldId id="488"/>
          </p14:sldIdLst>
        </p14:section>
        <p14:section name="Comparacion de Modelos" id="{ACB54C49-81E3-6241-B182-58B8CCA1881C}">
          <p14:sldIdLst>
            <p14:sldId id="469"/>
            <p14:sldId id="470"/>
            <p14:sldId id="471"/>
            <p14:sldId id="425"/>
            <p14:sldId id="412"/>
            <p14:sldId id="413"/>
            <p14:sldId id="415"/>
          </p14:sldIdLst>
        </p14:section>
        <p14:section name="Conclusiones finales" id="{30AE4762-25DE-C74D-AF95-4AEC0CC37FB0}">
          <p14:sldIdLst>
            <p14:sldId id="337"/>
            <p14:sldId id="490"/>
            <p14:sldId id="472"/>
            <p14:sldId id="444"/>
          </p14:sldIdLst>
        </p14:section>
        <p14:section name="Caso particular n&lt;=p" id="{DE2C1E0D-ED22-D24B-AD93-E2812707BE82}">
          <p14:sldIdLst>
            <p14:sldId id="475"/>
            <p14:sldId id="362"/>
            <p14:sldId id="414"/>
            <p14:sldId id="363"/>
            <p14:sldId id="3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87"/>
    <p:restoredTop sz="86497"/>
  </p:normalViewPr>
  <p:slideViewPr>
    <p:cSldViewPr snapToGrid="0">
      <p:cViewPr varScale="1">
        <p:scale>
          <a:sx n="75" d="100"/>
          <a:sy n="75" d="100"/>
        </p:scale>
        <p:origin x="192" y="528"/>
      </p:cViewPr>
      <p:guideLst/>
    </p:cSldViewPr>
  </p:slideViewPr>
  <p:outlineViewPr>
    <p:cViewPr>
      <p:scale>
        <a:sx n="33" d="100"/>
        <a:sy n="33" d="100"/>
      </p:scale>
      <p:origin x="0" y="-40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17/10/25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32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472D-4056-9726-1926-5177B790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5EDF8-BCC1-47EF-4D47-4A8F1D83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0F883-F8FF-D42A-997F-ED267E1B6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* Ver la </a:t>
            </a:r>
            <a:r>
              <a:rPr lang="es-ES_tradnl" dirty="0" err="1"/>
              <a:t>intro</a:t>
            </a:r>
            <a:r>
              <a:rPr lang="es-ES_tradnl" dirty="0"/>
              <a:t> y motivación en estos dos capítulos.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767D-A865-0DC1-7129-84D3C375F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55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6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00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77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0327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7940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4329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3896-E1DC-2DA7-DFA8-825C1823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51154-1130-8A75-EDED-6130A2416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ECB2C-4503-2958-12EE-76F0542E3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EBEC8-AB4F-283B-53DB-C1376FD7A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64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21180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56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9095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5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95803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5A92-8635-BC44-5C03-F90B62A9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26824-122D-3193-FFA0-BE35829C2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34BEC-057D-3374-544A-BEA8BA854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6410E-173F-F5C4-B864-E6A56F3F1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00F8-7FFC-5341-ADE9-35A49375D21C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58FC-9A6A-6A4B-BC45-38DA2CDC520C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7393-515B-1A47-A87A-8640CC03CD21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A069-A1EA-0F47-A741-49B3A660719F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4583-8738-D446-A561-042FC1E653E3}" type="datetime1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A491-31D3-4F46-B45E-95FC60EFF440}" type="datetime1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F5C-5B3E-AE45-9D2D-54D56FEFFDFB}" type="datetime1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CDE3-54E0-7D4C-8C01-682D9A3E8683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F334-1367-DE42-B433-657F08CBBA33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A313-D30E-C24D-B5E3-47AF40650833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9BE-6406-4040-81F6-DB3E248EDC37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C47D364-D30F-3243-95CC-D040B3E96DD2}" type="datetime1">
              <a:rPr lang="en-US" noProof="0" smtClean="0"/>
              <a:t>10/17/25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endly.com/m-n-romero91/30min-office-hou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a Métodos de Regularización: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Ridge, LASSO &amp; Elastic Net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07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6FC5-0E53-6D4C-09A5-4C5B8E1A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600" dirty="0"/>
              <a:t>Cuestiones operativas del curso: </a:t>
            </a: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FB43-7DE0-04F0-9AC5-E468E02B4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TP 4</a:t>
            </a:r>
            <a:r>
              <a:rPr lang="es-ES_tradnl" dirty="0"/>
              <a:t>: EPH – Clasificación: </a:t>
            </a:r>
            <a:r>
              <a:rPr lang="es-ES_tradnl" dirty="0">
                <a:solidFill>
                  <a:schemeClr val="accent2"/>
                </a:solidFill>
              </a:rPr>
              <a:t>Martes 4 de Noviembre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2da instancia de exposiciones</a:t>
            </a:r>
            <a:r>
              <a:rPr lang="es-ES_tradnl" dirty="0"/>
              <a:t>: </a:t>
            </a:r>
            <a:r>
              <a:rPr lang="es-ES_tradnl" dirty="0">
                <a:solidFill>
                  <a:schemeClr val="accent2"/>
                </a:solidFill>
              </a:rPr>
              <a:t>Viernes 14 de Noviembre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Email o </a:t>
            </a:r>
            <a:r>
              <a:rPr lang="es-ES_tradnl" dirty="0">
                <a:hlinkClick r:id="rId3"/>
              </a:rPr>
              <a:t>Calendly</a:t>
            </a:r>
            <a:endParaRPr lang="es-ES_tradnl" dirty="0">
              <a:solidFill>
                <a:srgbClr val="FF000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s-ES_tradnl" dirty="0">
              <a:solidFill>
                <a:srgbClr val="00206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s-ES_tradnl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D31DF-2AE7-1DEC-F2F5-AA775510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_tradnl" sz="3200"/>
              <a:t>En la clase de hoy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de regularización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Ridge ⭐︎ </a:t>
            </a:r>
          </a:p>
          <a:p>
            <a:pPr marL="514350" indent="-514350">
              <a:buAutoNum type="arabicPeriod"/>
            </a:pPr>
            <a:r>
              <a:rPr lang="es-ES_tradnl" dirty="0"/>
              <a:t>LASSO︎ ⭐︎</a:t>
            </a:r>
          </a:p>
          <a:p>
            <a:pPr marL="514350" indent="-514350">
              <a:buAutoNum type="arabicPeriod"/>
            </a:pPr>
            <a:r>
              <a:rPr lang="es-ES_tradnl" dirty="0"/>
              <a:t>Elastic Net  ⭐︎</a:t>
            </a:r>
          </a:p>
          <a:p>
            <a:pPr marL="514350" indent="-514350">
              <a:buAutoNum type="arabicPeriod"/>
            </a:pPr>
            <a:r>
              <a:rPr lang="es-ES_tradnl" dirty="0"/>
              <a:t>Comparación formal y visual de métodos  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7BB9-5237-1A62-42B8-5B649458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767B-5105-2AF5-D3EB-6E579941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de Regularización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2E611-8587-D967-8B63-90D0BF59A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7294B-1812-21A1-C48D-E775926D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3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4FA80-C2FC-5030-9317-34C8E868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Problemas de MCO en la practica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74C709-9CC9-1B2C-23FE-9084A451B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Cuando estimamos un modelo de regresión lineal por MCO pueden surgir problemas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  <a:r>
                  <a:rPr lang="es-ES_tradnl" dirty="0"/>
                  <a:t> ejemplo: tenemos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ES_tradnl" dirty="0"/>
                  <a:t> departamentos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s-ES_tradnl" dirty="0"/>
                  <a:t> características: # de habitaciones, #baño, m</a:t>
                </a:r>
                <a:r>
                  <a:rPr lang="es-ES_tradnl" baseline="30000" dirty="0"/>
                  <a:t>2</a:t>
                </a:r>
                <a:r>
                  <a:rPr lang="es-ES_tradnl" dirty="0"/>
                  <a:t>, # ambientes, piso, antigüedad, etc.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Alta multicolinealidad </a:t>
                </a:r>
                <a:r>
                  <a:rPr lang="es-ES_tradnl" dirty="0"/>
                  <a:t>entre los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problema para 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? 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Maldición de la dimensionalidad</a:t>
                </a:r>
                <a:r>
                  <a:rPr lang="es-ES_tradnl" dirty="0"/>
                  <a:t>: extender el modelo lineal con polinomio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74C709-9CC9-1B2C-23FE-9084A451B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36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9FF01F-48E4-3005-D73D-93256A6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E2EF-E25C-8220-204A-3FF3860E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“regularizar”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61C2C-6857-3471-21A7-E9DF84941B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Técnica que </a:t>
                </a:r>
                <a:r>
                  <a:rPr lang="es-ES_tradnl" dirty="0">
                    <a:solidFill>
                      <a:srgbClr val="002060"/>
                    </a:solidFill>
                  </a:rPr>
                  <a:t>restringe</a:t>
                </a:r>
                <a:r>
                  <a:rPr lang="es-ES_tradnl" dirty="0"/>
                  <a:t> el espacio de los posibles coeficientes estimados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Reduce coeficientes hacia 0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1"/>
                    </a:solidFill>
                  </a:rPr>
                  <a:t>Sesgamos</a:t>
                </a:r>
                <a:r>
                  <a:rPr lang="es-ES_tradnl" dirty="0"/>
                  <a:t>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s con tal de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bajar drásticamente</a:t>
                </a:r>
                <a:r>
                  <a:rPr lang="es-ES_tradnl" dirty="0"/>
                  <a:t> la varianza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61C2C-6857-3471-21A7-E9DF84941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r="-293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56E9C-D367-3FFB-2BD1-AD6AB4EA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DE359C-4DF8-F898-02FE-E3CB54631D67}"/>
              </a:ext>
            </a:extLst>
          </p:cNvPr>
          <p:cNvGrpSpPr/>
          <p:nvPr/>
        </p:nvGrpSpPr>
        <p:grpSpPr>
          <a:xfrm>
            <a:off x="6172202" y="1214170"/>
            <a:ext cx="5516874" cy="4970935"/>
            <a:chOff x="6675126" y="1266521"/>
            <a:chExt cx="5516874" cy="497093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E22E73-5D92-674B-6E30-2EA13D607FBC}"/>
                </a:ext>
              </a:extLst>
            </p:cNvPr>
            <p:cNvCxnSpPr/>
            <p:nvPr/>
          </p:nvCxnSpPr>
          <p:spPr>
            <a:xfrm>
              <a:off x="6675126" y="5539437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7F1CBD-8C9B-0588-30E0-FFD0716763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6" y="1591325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FAB9256-9FB9-AE8A-515B-41BC20A657F6}"/>
                </a:ext>
              </a:extLst>
            </p:cNvPr>
            <p:cNvSpPr/>
            <p:nvPr/>
          </p:nvSpPr>
          <p:spPr>
            <a:xfrm>
              <a:off x="6949446" y="1897077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B02A1D-874C-0594-3301-F72895024F89}"/>
                </a:ext>
              </a:extLst>
            </p:cNvPr>
            <p:cNvSpPr/>
            <p:nvPr/>
          </p:nvSpPr>
          <p:spPr>
            <a:xfrm>
              <a:off x="6949446" y="3482036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65FC491-2C69-DE17-C354-3BE8B2766B20}"/>
                </a:ext>
              </a:extLst>
            </p:cNvPr>
            <p:cNvSpPr/>
            <p:nvPr/>
          </p:nvSpPr>
          <p:spPr>
            <a:xfrm>
              <a:off x="6987556" y="3482036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175AA9-4BAB-6729-A79B-6FA1C4DB37E8}"/>
                </a:ext>
              </a:extLst>
            </p:cNvPr>
            <p:cNvSpPr txBox="1"/>
            <p:nvPr/>
          </p:nvSpPr>
          <p:spPr>
            <a:xfrm>
              <a:off x="9982201" y="5714236"/>
              <a:ext cx="20421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C8CD32-6A65-EF95-EA0F-D69F5E9B9FA8}"/>
                </a:ext>
              </a:extLst>
            </p:cNvPr>
            <p:cNvSpPr txBox="1"/>
            <p:nvPr/>
          </p:nvSpPr>
          <p:spPr>
            <a:xfrm>
              <a:off x="6705608" y="1266521"/>
              <a:ext cx="12344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247831-5391-4F81-AADC-2D09C60C7154}"/>
                    </a:ext>
                  </a:extLst>
                </p:cNvPr>
                <p:cNvSpPr txBox="1"/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247831-5391-4F81-AADC-2D09C60C7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blipFill>
                  <a:blip r:embed="rId4"/>
                  <a:stretch>
                    <a:fillRect t="-4348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1F15D18-C962-F692-0B53-148962D9AD5C}"/>
                    </a:ext>
                  </a:extLst>
                </p:cNvPr>
                <p:cNvSpPr txBox="1"/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1F15D18-C962-F692-0B53-148962D9A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blipFill>
                  <a:blip r:embed="rId5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D565A3F-1D21-AE35-F29A-D9AB52AEE5CE}"/>
                    </a:ext>
                  </a:extLst>
                </p:cNvPr>
                <p:cNvSpPr txBox="1"/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D565A3F-1D21-AE35-F29A-D9AB52AEE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blipFill>
                  <a:blip r:embed="rId6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9351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I: Ridge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67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3BB90-F0BD-14EA-120C-FE0FD186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C77A53-FDE1-9853-2EC1-C60265FA2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ES_tradnl" dirty="0"/>
                  <a:t> dado, consideremos la siguiente función objetivo a minimizar: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(el primer coeficiente corresponde al intercepto)</a:t>
                </a:r>
              </a:p>
              <a:p>
                <a:r>
                  <a:rPr lang="es-ES_tradnl" dirty="0"/>
                  <a:t>¿Si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:r>
                  <a:rPr lang="es-ES_tradnl" dirty="0"/>
                  <a:t>¿Si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s-ES_tradnl" dirty="0"/>
                  <a:t> penaliza el ajuste</a:t>
                </a:r>
              </a:p>
              <a:p>
                <a:r>
                  <a:rPr lang="es-ES_tradnl" dirty="0"/>
                  <a:t>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C77A53-FDE1-9853-2EC1-C60265FA2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19" t="-20930" b="-220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A8B5FA-76D0-9FF8-BFB6-84073FAC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1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Caso simple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  <a:endParaRPr lang="es-ES_trad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Un solo predictor, un solo coeficiente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Predictor estandarizado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En este caso, el estimador de MCO 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6047" b="-543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B297B-C9D3-58DF-01A6-937F89F4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5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4917-EB47-DD94-600B-751A9225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Caso simple 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6AF20-3F7F-C786-CD1F-3C6C682880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ES_tradnl" dirty="0"/>
                  <a:t>FOC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̂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Despejando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Solución es siempre </a:t>
                </a:r>
                <a:r>
                  <a:rPr lang="es-ES_tradnl" i="1" dirty="0"/>
                  <a:t>interior</a:t>
                </a:r>
                <a:r>
                  <a:rPr lang="es-ES_tradnl" dirty="0"/>
                  <a:t> </a:t>
                </a:r>
              </a:p>
              <a:p>
                <a:r>
                  <a:rPr lang="es-ES_tradnl" dirty="0"/>
                  <a:t>Solución “</a:t>
                </a:r>
                <a:r>
                  <a:rPr lang="es-ES_tradnl" dirty="0">
                    <a:solidFill>
                      <a:srgbClr val="00B050"/>
                    </a:solidFill>
                  </a:rPr>
                  <a:t>corrida hacia cero</a:t>
                </a:r>
                <a:r>
                  <a:rPr lang="es-ES_tradnl" dirty="0"/>
                  <a:t>” con respecto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/>
                  <a:t> (</a:t>
                </a:r>
                <a:r>
                  <a:rPr lang="es-ES_tradnl" i="1" dirty="0"/>
                  <a:t>Shrinkage/regularización</a:t>
                </a:r>
                <a:r>
                  <a:rPr lang="es-ES_tradnl" dirty="0"/>
                  <a:t>)</a:t>
                </a:r>
              </a:p>
              <a:p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6AF20-3F7F-C786-CD1F-3C6C682880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5756" r="-362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BEE34-2C67-0477-7AD1-E12DC84B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1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050C-CAB0-03C6-974E-D22D1AB0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Comparación de Métodos:</a:t>
            </a:r>
            <a:br>
              <a:rPr lang="es-ES_tradnl" dirty="0"/>
            </a:b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los supuestos clásicos con un predictor normalizado</a:t>
            </a:r>
            <a:endParaRPr lang="es-ES_trad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FB308-0ACD-D34E-BEF9-1A5F94D9C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s-ES_tradnl" sz="3600" dirty="0"/>
              <a:t>MCO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5FC362F-8651-1BDE-E14F-BB60B66F1C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b="0" dirty="0"/>
                  <a:t>Insesgado: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𝑀𝐶𝑂</m:t>
                            </m:r>
                          </m:sub>
                        </m:sSub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Varianza: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Error Cuadrático Medio: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5FC362F-8651-1BDE-E14F-BB60B66F1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57" t="-2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F49FAD-B7B6-7BF3-8CA6-1F05023F7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s-ES_tradnl" sz="3600" dirty="0"/>
              <a:t>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F1617AD-4580-E0E1-0429-64642F8CBB1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S</a:t>
                </a:r>
                <a:r>
                  <a:rPr lang="es-ES_tradnl" b="0" dirty="0"/>
                  <a:t>esgado: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s-ES_tradnl" dirty="0"/>
              </a:p>
              <a:p>
                <a:r>
                  <a:rPr lang="es-ES_tradnl" dirty="0"/>
                  <a:t>Menor Varianza: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Error Cuadrático Medio: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s-ES_tradnl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sz="26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F1617AD-4580-E0E1-0429-64642F8CBB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445" t="-68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AD9D02-F2DB-D77F-3317-6240F9B2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6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9D97-C0FF-341C-2E0A-68E2391A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Comparación de Métodos (</a:t>
            </a:r>
            <a:r>
              <a:rPr lang="es-ES_tradnl" i="1" dirty="0"/>
              <a:t>continua</a:t>
            </a:r>
            <a:r>
              <a:rPr lang="es-ES_tradnl" dirty="0"/>
              <a:t>):</a:t>
            </a:r>
            <a:br>
              <a:rPr lang="es-ES_tradnl" dirty="0"/>
            </a:b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los supuestos clásicos con un predictor normalizado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F70401-4842-1F0F-5B9C-F348D4AE1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¿Quién predice mejor?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 suficiente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para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𝐶𝑀</m:t>
                    </m:r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𝑀𝐶𝑂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𝐶𝑀</m:t>
                    </m:r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Para todo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existe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 de modo que Ridge le “gana” a MCO.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este caso, es posible derivar una condición necesaria y suficiente. Pero no es generalizable al caso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(</a:t>
                </a:r>
                <a:r>
                  <a:rPr lang="es-ES_tradnl" sz="3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Theobald, 1974</a:t>
                </a:r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F70401-4842-1F0F-5B9C-F348D4AE1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872" r="-6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759E-A9E0-1153-729F-9C0858F4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01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F1C9-899D-4B82-13FA-4D032A94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Comentarios técnicos &amp; Consideraciones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740F8-2AD9-AC39-89E8-23C5DB718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Usar con datos previamente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estandarizados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b="1" dirty="0">
                    <a:solidFill>
                      <a:srgbClr val="7030A0"/>
                    </a:solidFill>
                  </a:rPr>
                  <a:t>Resultado</a:t>
                </a:r>
                <a:r>
                  <a:rPr lang="es-ES_tradnl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es </a:t>
                </a:r>
                <a:r>
                  <a:rPr lang="es-ES_tradnl" dirty="0" err="1"/>
                  <a:t>equivarianza</a:t>
                </a:r>
                <a:r>
                  <a:rPr lang="es-ES_tradnl" dirty="0"/>
                  <a:t> de escala (</a:t>
                </a:r>
                <a:r>
                  <a:rPr lang="es-ES_tradnl" i="1" dirty="0" err="1"/>
                  <a:t>scale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equivariance</a:t>
                </a:r>
                <a:r>
                  <a:rPr lang="es-ES_tradnl" dirty="0"/>
                  <a:t>).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Probar que si multiplicamos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por una constante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type m:val="skw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Aclaración práctica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En tutorial, hay variables dummies y se estandarizan -&gt; función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StandardScaler</a:t>
                </a:r>
                <a:r>
                  <a:rPr lang="es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US" dirty="0">
                    <a:solidFill>
                      <a:srgbClr val="002060"/>
                    </a:solidFill>
                  </a:rPr>
                  <a:t>En la practica (TPs</a:t>
                </a:r>
                <a:r>
                  <a:rPr lang="es-US" dirty="0"/>
                  <a:t>):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StandardScaler</a:t>
                </a:r>
                <a:r>
                  <a:rPr lang="es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s-US" dirty="0"/>
                  <a:t>solo para las variables numéricas y dejar las variables dummies (con 0s y 1s)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740F8-2AD9-AC39-89E8-23C5DB718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1FCB8-2E9E-803E-9716-17FC82DC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16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II: LASSO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43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LASSO: </a:t>
            </a:r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Least Absolute Shrinkage and Selection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ES_tradnl" dirty="0"/>
                  <a:t> dado, consideremos la siguiente función objetivo a minimizar: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(el primer coeficiente corresponde al intercepto)</a:t>
                </a:r>
              </a:p>
              <a:p>
                <a:r>
                  <a:rPr lang="es-ES_tradnl" dirty="0"/>
                  <a:t>Las intuiciones coinciden con Ridge, pero el problema es completamente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diferente</a:t>
                </a:r>
              </a:p>
              <a:p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68" t="-18314" b="-6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ED606-8EB0-E87B-CF5B-FB9A06DB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LASSO (</a:t>
            </a:r>
            <a:r>
              <a:rPr lang="es-ES_tradnl" i="1" dirty="0"/>
              <a:t>continua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es una función </a:t>
                </a:r>
                <a:r>
                  <a:rPr lang="es-ES_tradnl" dirty="0">
                    <a:solidFill>
                      <a:srgbClr val="FF0000"/>
                    </a:solidFill>
                  </a:rPr>
                  <a:t>no diferenciable</a:t>
                </a:r>
                <a:r>
                  <a:rPr lang="es-ES_tradnl" dirty="0"/>
                  <a:t>.</a:t>
                </a:r>
                <a:endParaRPr lang="es-ES_tradnl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LASSO</a:t>
                </a:r>
                <a:r>
                  <a:rPr lang="es-ES_tradnl" dirty="0"/>
                  <a:t>: automáticamente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elige</a:t>
                </a:r>
                <a:r>
                  <a:rPr lang="es-ES_tradnl" dirty="0"/>
                  <a:t> que variables entran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s-ES_tradnl" dirty="0"/>
                  <a:t>) y cuales no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¿Por qué? Coeficientes anulados como ‘soluciones de esquina’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942" r="-844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24360-6B32-E6BE-57A1-8A6480EB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esquina: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  <a:endParaRPr lang="es-ES_trad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No diferenciable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Cuadrática y diferenciable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0814" b="-194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C6AF8-7918-99BA-F5DB-436F08CC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E65CE-3653-8912-0E4D-181B4B3D80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sz="4000" dirty="0"/>
                  <a:t>Visualización de escenarios posibles con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sz="4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sz="4000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E65CE-3653-8912-0E4D-181B4B3D8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6588D3A9-30C8-A04D-EBE8-BFCD956EE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260852" y="1576387"/>
            <a:ext cx="6845300" cy="4812187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62484B-FBC5-D5FA-6105-B8AE0855BCF9}"/>
                  </a:ext>
                </a:extLst>
              </p:cNvPr>
              <p:cNvSpPr txBox="1"/>
              <p:nvPr/>
            </p:nvSpPr>
            <p:spPr>
              <a:xfrm>
                <a:off x="442877" y="2713866"/>
                <a:ext cx="3635854" cy="2381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_tradnl" sz="2400" dirty="0"/>
              </a:p>
              <a:p>
                <a:endParaRPr lang="es-ES_tradnl" sz="2400" dirty="0">
                  <a:latin typeface="Gill Sans Nova Light" panose="020B030202010402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400" dirty="0">
                    <a:latin typeface="Gill Sans Nova Light" panose="020B0302020104020203" pitchFamily="34" charset="0"/>
                  </a:rPr>
                  <a:t>Solución interior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400" dirty="0">
                    <a:latin typeface="Gill Sans Nova Light" panose="020B0302020104020203" pitchFamily="34" charset="0"/>
                  </a:rPr>
                  <a:t>Solución esquina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sz="2400" dirty="0">
                    <a:latin typeface="Gill Sans Nova Light" panose="020B0302020104020203" pitchFamily="34" charset="0"/>
                  </a:rPr>
                  <a:t> </a:t>
                </a:r>
              </a:p>
              <a:p>
                <a:endParaRPr lang="es-ES_tradnl" sz="2400" dirty="0">
                  <a:latin typeface="Gill Sans Nova Light" panose="020B0302020104020203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62484B-FBC5-D5FA-6105-B8AE0855B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77" y="2713866"/>
                <a:ext cx="3635854" cy="2381293"/>
              </a:xfrm>
              <a:prstGeom prst="rect">
                <a:avLst/>
              </a:prstGeom>
              <a:blipFill>
                <a:blip r:embed="rId5"/>
                <a:stretch>
                  <a:fillRect l="-243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05A7C39-76FF-2DE4-435E-47BBB538FAB1}"/>
              </a:ext>
            </a:extLst>
          </p:cNvPr>
          <p:cNvSpPr txBox="1"/>
          <p:nvPr/>
        </p:nvSpPr>
        <p:spPr>
          <a:xfrm>
            <a:off x="4394201" y="632359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WSE(2021)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90D06-BC72-7C92-8FA9-575AE9FF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734E5C-EBC3-365E-C1F6-DACCD5C31894}"/>
                  </a:ext>
                </a:extLst>
              </p:cNvPr>
              <p:cNvSpPr txBox="1"/>
              <p:nvPr/>
            </p:nvSpPr>
            <p:spPr>
              <a:xfrm>
                <a:off x="4847755" y="4935195"/>
                <a:ext cx="2248487" cy="5986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𝜆𝛽</m:t>
                      </m:r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734E5C-EBC3-365E-C1F6-DACCD5C31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755" y="4935195"/>
                <a:ext cx="2248487" cy="598647"/>
              </a:xfrm>
              <a:prstGeom prst="rect">
                <a:avLst/>
              </a:prstGeom>
              <a:blipFill>
                <a:blip r:embed="rId6"/>
                <a:stretch>
                  <a:fillRect l="-28492" t="-140816" b="-20408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9BC6-121E-D722-15A1-BC3211E44F83}"/>
                  </a:ext>
                </a:extLst>
              </p:cNvPr>
              <p:cNvSpPr txBox="1"/>
              <p:nvPr/>
            </p:nvSpPr>
            <p:spPr>
              <a:xfrm>
                <a:off x="7344246" y="4941199"/>
                <a:ext cx="2532707" cy="576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𝜆𝛽</m:t>
                      </m:r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9BC6-121E-D722-15A1-BC3211E44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246" y="4941199"/>
                <a:ext cx="2532707" cy="576054"/>
              </a:xfrm>
              <a:prstGeom prst="rect">
                <a:avLst/>
              </a:prstGeom>
              <a:blipFill>
                <a:blip r:embed="rId7"/>
                <a:stretch>
                  <a:fillRect l="-19802" t="-146809" b="-219149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26C65-D114-FC42-E159-B42383DD8E8F}"/>
                  </a:ext>
                </a:extLst>
              </p:cNvPr>
              <p:cNvSpPr txBox="1"/>
              <p:nvPr/>
            </p:nvSpPr>
            <p:spPr>
              <a:xfrm>
                <a:off x="3295648" y="1787222"/>
                <a:ext cx="12128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26C65-D114-FC42-E159-B42383DD8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648" y="1787222"/>
                <a:ext cx="1212852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47FF9CC-3320-17C0-31F9-D574C5D75A60}"/>
              </a:ext>
            </a:extLst>
          </p:cNvPr>
          <p:cNvSpPr txBox="1"/>
          <p:nvPr/>
        </p:nvSpPr>
        <p:spPr>
          <a:xfrm>
            <a:off x="2726267" y="19168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1B0153-77F4-367E-F0FE-DA2072633BC3}"/>
              </a:ext>
            </a:extLst>
          </p:cNvPr>
          <p:cNvSpPr/>
          <p:nvPr/>
        </p:nvSpPr>
        <p:spPr>
          <a:xfrm>
            <a:off x="6858000" y="3982480"/>
            <a:ext cx="626533" cy="5893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3E110E-AD61-61FE-51BE-D98A2195F427}"/>
              </a:ext>
            </a:extLst>
          </p:cNvPr>
          <p:cNvSpPr/>
          <p:nvPr/>
        </p:nvSpPr>
        <p:spPr>
          <a:xfrm rot="823857">
            <a:off x="7924666" y="4303422"/>
            <a:ext cx="1892887" cy="7283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055-51F6-CB70-063D-5660896C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Formalmente: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Solución esquina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ES_tradnl" dirty="0"/>
                  <a:t>Recuerden para el caso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𝜆𝛽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num>
                        <m:den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=−2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=−2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_tradnl" dirty="0"/>
                  <a:t>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 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18895" b="-31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37DB-3F29-23DE-B0A5-F517058E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7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Formalmente: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Solución interior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&lt;2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_tradnl" dirty="0"/>
                  <a:t>, la solución es </a:t>
                </a:r>
                <a:r>
                  <a:rPr lang="es-ES_tradnl" i="1" dirty="0"/>
                  <a:t>interior</a:t>
                </a:r>
                <a:r>
                  <a:rPr lang="es-ES_tradnl" dirty="0"/>
                  <a:t>.</a:t>
                </a:r>
              </a:p>
              <a:p>
                <a:r>
                  <a:rPr lang="es-ES_tradnl" dirty="0"/>
                  <a:t>De las condiciones de primer orden de MCO: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𝑀𝐶𝑂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Regularización</a:t>
                </a:r>
                <a:r>
                  <a:rPr lang="es-ES_tradnl" dirty="0"/>
                  <a:t> (</a:t>
                </a:r>
                <a:r>
                  <a:rPr lang="es-ES_tradnl" i="1" dirty="0" err="1"/>
                  <a:t>Shrinkage</a:t>
                </a:r>
                <a:r>
                  <a:rPr lang="es-ES_tradnl" dirty="0"/>
                  <a:t>): la solución esta corrida hacia cero con respecto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El caso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es completamente simétrico 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151" r="-1689" b="-95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7A25-43CD-5B4F-5337-4927E245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26E3-4AED-B53B-D2B4-443B98FC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para Economistas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06A97-CBDB-36BC-ED29-F868E827D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𝑀𝐶𝑂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≤2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¿Intuición? En 0 el costo por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sube y el de ajuste baja.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uno sube más rápido que lo que el termino de ajuste baja, entonces conviene quedarse en cero.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caso contrario conviene moverse afuera de cero.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Moverse de cero si la relación es lo </a:t>
                </a:r>
                <a:r>
                  <a:rPr lang="es-ES_tradnl" dirty="0">
                    <a:solidFill>
                      <a:srgbClr val="002060"/>
                    </a:solidFill>
                  </a:rPr>
                  <a:t>suficientemente fuerte</a:t>
                </a:r>
                <a:r>
                  <a:rPr lang="es-ES_tradnl" dirty="0"/>
                  <a:t>, para evitar la penalización.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06A97-CBDB-36BC-ED29-F868E827D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EF798-F215-8655-FF42-D61C227D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92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C8D96-1C2E-B421-E49A-CB15435E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7753-4006-481A-D62A-625CCD62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Consideraciones: Objetivos &amp; en la Práctica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423BD-F2F5-0672-80BC-D97605C5D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Predicción</a:t>
                </a:r>
                <a:r>
                  <a:rPr lang="es-ES_tradnl" i="1" dirty="0"/>
                  <a:t>:</a:t>
                </a:r>
                <a:r>
                  <a:rPr lang="es-ES_tradnl" dirty="0"/>
                  <a:t> Minimizar error de pronóstico (Ridge, LASSO)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Dimensionalidad</a:t>
                </a:r>
                <a:r>
                  <a:rPr lang="es-ES_tradnl" i="1" dirty="0"/>
                  <a:t>:</a:t>
                </a:r>
                <a:r>
                  <a:rPr lang="es-ES_tradnl" dirty="0"/>
                  <a:t> reducir el espacio de los predictores (LASSO)</a:t>
                </a:r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En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práctica</a:t>
                </a:r>
                <a:r>
                  <a:rPr lang="es-ES_tradnl" dirty="0"/>
                  <a:t>: Ridge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s-ES_tradnl" dirty="0"/>
                  <a:t> LASSO</a:t>
                </a:r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Problema adicional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i="1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y LASSO </a:t>
                </a:r>
                <a:r>
                  <a:rPr lang="es-ES_tradnl" dirty="0">
                    <a:solidFill>
                      <a:srgbClr val="00B050"/>
                    </a:solidFill>
                  </a:rPr>
                  <a:t>funcionan</a:t>
                </a:r>
                <a:r>
                  <a:rPr lang="es-ES_tradnl" dirty="0"/>
                  <a:t>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423BD-F2F5-0672-80BC-D97605C5D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376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BCE4-F21A-7F69-B70D-2748561C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5C0A-17AC-DDEE-8FB4-5551A5A9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Problemas en la práctica con LASSO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AC54-1C76-E9BF-2972-E75D8F56A3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Elige como </a:t>
                </a:r>
                <a:r>
                  <a:rPr lang="es-ES_tradnl" dirty="0">
                    <a:solidFill>
                      <a:srgbClr val="002060"/>
                    </a:solidFill>
                  </a:rPr>
                  <a:t>máximo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variables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no tiene este problema 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(ver </a:t>
                </a:r>
                <a:r>
                  <a:rPr lang="es-ES_tradnl" dirty="0">
                    <a:hlinkClick r:id="rId2" action="ppaction://hlinksldjump"/>
                  </a:rPr>
                  <a:t>Apéndice</a:t>
                </a:r>
                <a:r>
                  <a:rPr lang="es-ES_tradnl" dirty="0"/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Si hay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 multicolinealidad</a:t>
                </a:r>
                <a:r>
                  <a:rPr lang="es-ES_tradnl" dirty="0"/>
                  <a:t> entre predictores, elije una sola arbitrariamente.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LASSO </a:t>
                </a:r>
                <a:r>
                  <a:rPr lang="es-ES_tradnl" dirty="0">
                    <a:solidFill>
                      <a:srgbClr val="FF0000"/>
                    </a:solidFill>
                  </a:rPr>
                  <a:t>más inestable </a:t>
                </a:r>
                <a:r>
                  <a:rPr lang="es-ES_tradnl" dirty="0"/>
                  <a:t>para la predicción.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 que </a:t>
                </a:r>
                <a:r>
                  <a:rPr lang="es-ES_tradnl" dirty="0"/>
                  <a:t>LASSO en términos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_tradnl" i="1" dirty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Elastic net (solución)</a:t>
                </a:r>
                <a:r>
                  <a:rPr lang="es-ES_tradnl" dirty="0"/>
                  <a:t>: predice bien, reduce dimensionalidad, elige bien grupos de variables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AC54-1C76-E9BF-2972-E75D8F56A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7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98DB-3354-BDA2-CBB9-6A7CBF37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8888E2-339A-9541-1059-B32BF9214D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Elección de parámetro de penalidad (o </a:t>
                </a:r>
                <a:r>
                  <a:rPr lang="es-ES_tradnl" dirty="0" err="1"/>
                  <a:t>tuning</a:t>
                </a:r>
                <a:r>
                  <a:rPr lang="es-ES_tradnl" dirty="0"/>
                  <a:t>)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8888E2-339A-9541-1059-B32BF9214D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498" b="-1415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84D43-07FB-9FE5-D0DE-14ED6E2F9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Por </a:t>
            </a:r>
            <a:r>
              <a:rPr lang="en-US" b="1" dirty="0"/>
              <a:t>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67A04-6A0F-4A38-2920-2A4AC11A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17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F6C9-66A3-1D9B-22A1-8C8FD229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Error de Cross-Validation para Ridge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980EE7FC-BA78-96E6-4B64-37ADA5D06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707" y="1690688"/>
            <a:ext cx="10088585" cy="40616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8DD08-BAD7-6084-3A7A-D3C97D8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B9293-D012-270E-A140-5E107315BBC7}"/>
              </a:ext>
            </a:extLst>
          </p:cNvPr>
          <p:cNvSpPr txBox="1"/>
          <p:nvPr/>
        </p:nvSpPr>
        <p:spPr>
          <a:xfrm>
            <a:off x="1051707" y="6017796"/>
            <a:ext cx="558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734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F6C9-66A3-1D9B-22A1-8C8FD229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Error de Cross-Validation para LASSO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8DD08-BAD7-6084-3A7A-D3C97D8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B9293-D012-270E-A140-5E107315BBC7}"/>
              </a:ext>
            </a:extLst>
          </p:cNvPr>
          <p:cNvSpPr txBox="1"/>
          <p:nvPr/>
        </p:nvSpPr>
        <p:spPr>
          <a:xfrm>
            <a:off x="1051707" y="6017796"/>
            <a:ext cx="55184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C9088274-AA63-6518-A40C-B54E26F6B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1707" y="1828536"/>
            <a:ext cx="9725820" cy="4189260"/>
          </a:xfrm>
        </p:spPr>
      </p:pic>
    </p:spTree>
    <p:extLst>
      <p:ext uri="{BB962C8B-B14F-4D97-AF65-F5344CB8AC3E}">
        <p14:creationId xmlns:p14="http://schemas.microsoft.com/office/powerpoint/2010/main" val="1464995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III: Elastic Net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Zou, H. y Hastie, T., 2005, Regularization and variable selection via the elastic net, </a:t>
            </a:r>
            <a:r>
              <a:rPr lang="en-US" i="1" dirty="0"/>
              <a:t>Journal of the Royal Statistical Society</a:t>
            </a:r>
            <a:r>
              <a:rPr lang="en-US" dirty="0"/>
              <a:t>, 67, 2, 301-320.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71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44B9-3C81-0A91-899E-19776929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Elastic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8BA596-0E83-4881-12B1-C3DF4F112A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r>
                  <a:rPr lang="es-ES_tradnl" dirty="0"/>
                  <a:t>Mezcla LASSO y Ridge</a:t>
                </a:r>
              </a:p>
              <a:p>
                <a:r>
                  <a:rPr lang="es-ES_tradnl" dirty="0"/>
                  <a:t>La parte de LASSO elige predictores</a:t>
                </a:r>
              </a:p>
              <a:p>
                <a:r>
                  <a:rPr lang="es-ES_tradnl" dirty="0"/>
                  <a:t>La convexidad estricta de la penalidad (Ridge) resuelve el problema de inestabilidad por agrupamiento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8BA596-0E83-4881-12B1-C3DF4F112A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83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24C0-3190-8FB8-8EA8-067C481E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22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6A82-4939-BF85-DEE9-4402B1C5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Elastic Net: </a:t>
            </a:r>
            <a:br>
              <a:rPr lang="es-ES_tradnl" dirty="0"/>
            </a:b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el supuesto un predictor estandarizado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4664-BB38-CC3A-7F95-9BD32FD3FD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dirty="0"/>
                  <a:t> entonces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𝑀𝐶𝑂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s-ES_tradnl" dirty="0"/>
                  <a:t> es la parte positiva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b="0" dirty="0"/>
                  <a:t>Decir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s-ES_tradnl" dirty="0"/>
                  <a:t> si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en caso contrario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4664-BB38-CC3A-7F95-9BD32FD3F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88B43-02BE-6987-737E-CABB565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8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5FA6E-873C-035B-208A-067CEEAC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Elastic Net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19E83-C654-8715-44CE-596B858C3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Versión reescalada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elimina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doble reducción </a:t>
                </a:r>
                <a:r>
                  <a:rPr lang="es-ES_tradnl" dirty="0"/>
                  <a:t>de Ridge y LASSO (demasiado sesgo)</a:t>
                </a:r>
              </a:p>
              <a:p>
                <a:r>
                  <a:rPr lang="es-ES_tradnl" dirty="0"/>
                  <a:t>Funciona mejor en la práctica que Ridge y LASSO bajo alta colinealidad </a:t>
                </a:r>
              </a:p>
              <a:p>
                <a:r>
                  <a:rPr lang="es-ES_tradnl" dirty="0"/>
                  <a:t>Elección de hiperparámetros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usando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cross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validation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bidimensional.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19E83-C654-8715-44CE-596B858C3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D35F6-8C14-8343-9B8D-05BDF3AA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39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de modelos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6.2.2</a:t>
            </a:r>
          </a:p>
          <a:p>
            <a:r>
              <a:rPr lang="en-US" sz="18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3.4.3</a:t>
            </a:r>
          </a:p>
          <a:p>
            <a:r>
              <a:rPr lang="en-US" dirty="0" err="1"/>
              <a:t>Masini</a:t>
            </a:r>
            <a:r>
              <a:rPr lang="en-US" dirty="0"/>
              <a:t>, R. P., Medeiros, M. C., &amp; Mendes, E. F. (2023). Machine learning advances for time series forecasting. </a:t>
            </a:r>
            <a:r>
              <a:rPr lang="en-US" i="1" dirty="0"/>
              <a:t>Journal of economic surveys</a:t>
            </a:r>
            <a:r>
              <a:rPr lang="en-US" dirty="0"/>
              <a:t>, 37(1), 76-111.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36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17E1-7ABC-6E4F-518B-BC2B6071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de Regularización en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5D0BA-D19C-A3C7-AE6D-89E2DFEC3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_tradnl" dirty="0"/>
                  <a:t>Siguiendo a </a:t>
                </a:r>
                <a:r>
                  <a:rPr lang="es-ES_tradnl" dirty="0" err="1"/>
                  <a:t>Masini</a:t>
                </a:r>
                <a:r>
                  <a:rPr lang="es-ES_tradnl" dirty="0"/>
                  <a:t> et al (2021), los modelos de regresión penalizados son aquellos que minimizan el </a:t>
                </a:r>
                <a:r>
                  <a:rPr lang="es-ES_tradnl" dirty="0" err="1"/>
                  <a:t>lagrangiano</a:t>
                </a:r>
                <a:r>
                  <a:rPr lang="es-ES_tradnl" dirty="0"/>
                  <a:t> de la siguiente forma: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5D0BA-D19C-A3C7-AE6D-89E2DFEC3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28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AEAB4-9F6F-0266-DDAA-94F5C302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50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7437-CA98-CB91-934F-4BB20346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Funciones de Penalización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7E6C7-5CC2-DE82-C7F0-5133CDDB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DCD37E2-8758-902D-4CCB-C3EEE3A260C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553795" y="1439601"/>
              <a:ext cx="9084410" cy="498246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680713">
                      <a:extLst>
                        <a:ext uri="{9D8B030D-6E8A-4147-A177-3AD203B41FA5}">
                          <a16:colId xmlns:a16="http://schemas.microsoft.com/office/drawing/2014/main" val="906787632"/>
                        </a:ext>
                      </a:extLst>
                    </a:gridCol>
                    <a:gridCol w="4399472">
                      <a:extLst>
                        <a:ext uri="{9D8B030D-6E8A-4147-A177-3AD203B41FA5}">
                          <a16:colId xmlns:a16="http://schemas.microsoft.com/office/drawing/2014/main" val="424416238"/>
                        </a:ext>
                      </a:extLst>
                    </a:gridCol>
                    <a:gridCol w="3004225">
                      <a:extLst>
                        <a:ext uri="{9D8B030D-6E8A-4147-A177-3AD203B41FA5}">
                          <a16:colId xmlns:a16="http://schemas.microsoft.com/office/drawing/2014/main" val="1035560395"/>
                        </a:ext>
                      </a:extLst>
                    </a:gridCol>
                  </a:tblGrid>
                  <a:tr h="431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Método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noProof="0" dirty="0">
                              <a:latin typeface="Gill Sans Nova Light" panose="020B0302020104020203" pitchFamily="34" charset="0"/>
                            </a:rPr>
                            <a:t>Penalidad</a:t>
                          </a:r>
                          <a:r>
                            <a:rPr lang="en-US" sz="24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oMath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Sesgo del coeficiente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5876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>
                              <a:latin typeface="Gill Sans Nova Light" panose="020B0302020104020203" pitchFamily="34" charset="0"/>
                            </a:rPr>
                            <a:t>Stepwise selection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≠0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&gt;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b="0" dirty="0">
                            <a:latin typeface="Gill Sans Nova Light" panose="020B0302020104020203" pitchFamily="34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42128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LASSO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signo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𝛽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1848720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Ridge</a:t>
                          </a:r>
                        </a:p>
                        <a:p>
                          <a:pPr algn="ctr"/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75831588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Elastic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1−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dirty="0">
                              <a:latin typeface="Gill Sans Nova Light" panose="020B0302020104020203" pitchFamily="34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0467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DCD37E2-8758-902D-4CCB-C3EEE3A260C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12288870"/>
                  </p:ext>
                </p:extLst>
              </p:nvPr>
            </p:nvGraphicFramePr>
            <p:xfrm>
              <a:off x="1553795" y="1439601"/>
              <a:ext cx="9084410" cy="498246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680713">
                      <a:extLst>
                        <a:ext uri="{9D8B030D-6E8A-4147-A177-3AD203B41FA5}">
                          <a16:colId xmlns:a16="http://schemas.microsoft.com/office/drawing/2014/main" val="906787632"/>
                        </a:ext>
                      </a:extLst>
                    </a:gridCol>
                    <a:gridCol w="4399472">
                      <a:extLst>
                        <a:ext uri="{9D8B030D-6E8A-4147-A177-3AD203B41FA5}">
                          <a16:colId xmlns:a16="http://schemas.microsoft.com/office/drawing/2014/main" val="424416238"/>
                        </a:ext>
                      </a:extLst>
                    </a:gridCol>
                    <a:gridCol w="3004225">
                      <a:extLst>
                        <a:ext uri="{9D8B030D-6E8A-4147-A177-3AD203B41FA5}">
                          <a16:colId xmlns:a16="http://schemas.microsoft.com/office/drawing/2014/main" val="103556039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Método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29" t="-161111" r="-68588" b="-1380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Sesgo del coeficiente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5876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>
                              <a:latin typeface="Gill Sans Nova Light" panose="020B0302020104020203" pitchFamily="34" charset="0"/>
                            </a:rPr>
                            <a:t>Stepwise selection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105618" r="-68588" b="-458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105618" r="-422" b="-4584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42128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LASSO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203333" r="-68588" b="-3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203333" r="-422" b="-3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848720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Ridge</a:t>
                          </a:r>
                        </a:p>
                        <a:p>
                          <a:pPr algn="ctr"/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306742" r="-68588" b="-257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306742" r="-422" b="-257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831588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Elastic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406742" r="-68588" b="-157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dirty="0">
                              <a:latin typeface="Gill Sans Nova Light" panose="020B0302020104020203" pitchFamily="34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04671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1885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7FE-8FB8-4349-A229-6DA7AC2E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0: Contorno y RSS </a:t>
            </a:r>
          </a:p>
        </p:txBody>
      </p:sp>
      <p:pic>
        <p:nvPicPr>
          <p:cNvPr id="6" name="Content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DBD2D76A-B2D7-657E-5D7D-01E78E223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528" y="1470212"/>
            <a:ext cx="9037368" cy="47067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6340-4FFD-653D-5547-BD092E0B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3FEFB-EEB5-CF2E-952B-797C07BA8C55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p.73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89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BED5-7863-C2DF-FED9-A28DC64E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Contorno de Coeficientes</a:t>
            </a:r>
          </a:p>
        </p:txBody>
      </p:sp>
      <p:pic>
        <p:nvPicPr>
          <p:cNvPr id="6" name="Content Placeholder 5" descr="A two circles with lines and circles&#10;&#10;Description automatically generated with medium confidence">
            <a:extLst>
              <a:ext uri="{FF2B5EF4-FFF2-40B4-BE49-F238E27FC236}">
                <a16:creationId xmlns:a16="http://schemas.microsoft.com/office/drawing/2014/main" id="{7E23CF7D-9E2A-8C3C-1228-3D8811107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481" y="1426831"/>
            <a:ext cx="8415038" cy="49295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4F04F-7B17-81DA-275F-83F76E50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64088-6A90-F29E-2D48-679D3EFBBC29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EFB5CA-D199-E063-C196-8B72976CE650}"/>
                  </a:ext>
                </a:extLst>
              </p:cNvPr>
              <p:cNvSpPr txBox="1"/>
              <p:nvPr/>
            </p:nvSpPr>
            <p:spPr>
              <a:xfrm>
                <a:off x="-634793" y="4563064"/>
                <a:ext cx="39962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ES_tradnl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EFB5CA-D199-E063-C196-8B72976C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4793" y="4563064"/>
                <a:ext cx="3996267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649EA8-2744-85CE-0E94-9C290726A9EA}"/>
                  </a:ext>
                </a:extLst>
              </p:cNvPr>
              <p:cNvSpPr txBox="1"/>
              <p:nvPr/>
            </p:nvSpPr>
            <p:spPr>
              <a:xfrm>
                <a:off x="7172220" y="4557293"/>
                <a:ext cx="3996267" cy="5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ES_tradnl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649EA8-2744-85CE-0E94-9C290726A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220" y="4557293"/>
                <a:ext cx="3996267" cy="528991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141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7880-886D-3235-6280-A11B4367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Regularización para Ridge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4D19760B-0240-B86D-5300-51FC141AF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570" y="1520567"/>
            <a:ext cx="9512860" cy="45924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43C0-4806-A438-9EFE-F5D6CCF8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E587-82D7-E921-C2F9-C1DF71913001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241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076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7880-886D-3235-6280-A11B4367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III: Regularización para LASSO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43C0-4806-A438-9EFE-F5D6CCF8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E587-82D7-E921-C2F9-C1DF71913001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245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ABF94048-AAFE-EF4C-E409-D1482B7C3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627" y="1618325"/>
            <a:ext cx="9742745" cy="4505001"/>
          </a:xfrm>
        </p:spPr>
      </p:pic>
    </p:spTree>
    <p:extLst>
      <p:ext uri="{BB962C8B-B14F-4D97-AF65-F5344CB8AC3E}">
        <p14:creationId xmlns:p14="http://schemas.microsoft.com/office/powerpoint/2010/main" val="679069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los tres tipos de </a:t>
            </a:r>
            <a:r>
              <a:rPr lang="es-ES_tradnl" dirty="0">
                <a:solidFill>
                  <a:srgbClr val="002060"/>
                </a:solidFill>
              </a:rPr>
              <a:t>regularización</a:t>
            </a:r>
            <a:r>
              <a:rPr lang="es-ES_tradnl" dirty="0"/>
              <a:t> (aumentar sesgos de coeficientes, reducir varianza)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LASSO -&gt; penalidad estricta: selecciona predictores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Ridge -&gt; penalidad no estricta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Elastic net: combinación lineal de ambas penalidades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88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Comparamos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analíticamente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visualmente</a:t>
                </a:r>
                <a:r>
                  <a:rPr lang="es-ES_tradnl" dirty="0"/>
                  <a:t> los métodos de regularización y selección de variables.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Medidas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norm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Discutimos </a:t>
                </a:r>
                <a:r>
                  <a:rPr lang="es-ES_tradnl" dirty="0"/>
                  <a:t>la elección de penalidad por </a:t>
                </a:r>
                <a:r>
                  <a:rPr lang="es-ES_tradnl" i="1" dirty="0" err="1"/>
                  <a:t>cross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validation</a:t>
                </a:r>
                <a:r>
                  <a:rPr lang="es-ES_tradnl" i="1" dirty="0"/>
                  <a:t> </a:t>
                </a:r>
                <a:r>
                  <a:rPr lang="es-ES_tradnl" dirty="0"/>
                  <a:t>y el trade-off sesgo-varianza para regularización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En el apéndice:</a:t>
                </a:r>
                <a:r>
                  <a:rPr lang="es-ES_tradnl" dirty="0"/>
                  <a:t> el caso particular cuando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y la solución de los tipos de regularización de Ridge y LASSO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 r="-19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36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2691B-CF10-5680-BD6C-85AADDB8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F2F9B6-011C-652A-15CF-EA09EFB45B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 err="1"/>
                  <a:t>Apendice</a:t>
                </a:r>
                <a:r>
                  <a:rPr lang="es-ES_tradnl" dirty="0"/>
                  <a:t>: Casos Particulares usando Ridge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F2F9B6-011C-652A-15CF-EA09EFB45B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498" b="-1415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1A6B3-B9E2-FB26-732C-7E081BDB6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Zou, H. y Hastie, T., 2005, Regularization and variable selection via the elastic net, </a:t>
            </a:r>
            <a:r>
              <a:rPr lang="en-US" i="1" dirty="0"/>
              <a:t>Journal of the Royal Statistical Society</a:t>
            </a:r>
            <a:r>
              <a:rPr lang="en-US" dirty="0"/>
              <a:t>, 67, 2, 301-320.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C5100-86E1-F225-7F3B-45DF286B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00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E468-6D9E-B384-B74B-9355A676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</a:t>
            </a:r>
            <a:r>
              <a:rPr lang="en-US" dirty="0"/>
              <a:t> de MCO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¿Rango? </a:t>
                </a:r>
              </a:p>
              <a:p>
                <a:pPr lvl="1"/>
                <a:r>
                  <a:rPr lang="es-ES_tradnl" b="1" dirty="0">
                    <a:solidFill>
                      <a:srgbClr val="002060"/>
                    </a:solidFill>
                  </a:rPr>
                  <a:t>Def</a:t>
                </a:r>
                <a:r>
                  <a:rPr lang="es-ES_tradnl" dirty="0"/>
                  <a:t>: Máximo número de filas o columnas linealmente independientes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r>
                  <a:rPr lang="es-ES_tradnl" dirty="0"/>
                  <a:t>MCO: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implica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endParaRPr lang="es-ES_tradnl" sz="12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⟹</m:t>
                    </m:r>
                  </m:oMath>
                </a14:m>
                <a:r>
                  <a:rPr lang="es-ES_tradnl" dirty="0"/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914400" lvl="2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6146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AE468-6D9E-B384-B74B-9355A67677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Problema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AE468-6D9E-B384-B74B-9355A6767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no es invertible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Practica</a:t>
                </a:r>
                <a:r>
                  <a:rPr lang="es-ES_tradnl" dirty="0"/>
                  <a:t>: Datos de Genética: inversión en genética bovina (leche o carne)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Punto</a:t>
                </a:r>
                <a:r>
                  <a:rPr lang="es-ES_tradnl" dirty="0"/>
                  <a:t>: Ridge y LASSO funciona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Cómo?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0436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07BD-58BF-AC98-E859-9DD0AB67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para 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3C9FD-F2EF-1597-160B-5A1A1E6A2E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_tradnl" dirty="0"/>
                  <a:t>Supongamos que los datos fueron previamente estandarizados (no intercepto)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Definamos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datos artificiales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de la siguiente forma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0,…,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,…,0</m:t>
                        </m:r>
                      </m:e>
                    </m:d>
                  </m:oMath>
                </a14:m>
                <a:r>
                  <a:rPr lang="es-ES_tradnl" dirty="0"/>
                  <a:t> donde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rad>
                  </m:oMath>
                </a14:m>
                <a:r>
                  <a:rPr lang="es-ES_tradnl" dirty="0"/>
                  <a:t> está en la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posición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3C9FD-F2EF-1597-160B-5A1A1E6A2E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2" b="-4098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695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E7E9-4430-CBC3-19FE-698619C8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para Ridge (</a:t>
            </a:r>
            <a:r>
              <a:rPr lang="es-ES_tradnl" i="1" dirty="0"/>
              <a:t>continua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7C5FF-FCDC-06ED-788C-EBA4A3152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Si “apilamos” los datos originales y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nuevos 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</m:e>
                    </m:d>
                  </m:oMath>
                </a14:m>
                <a:r>
                  <a:rPr lang="es-ES_tradnl" dirty="0"/>
                  <a:t>, matricialmente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Notar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s-ES_tradnl" dirty="0"/>
                  <a:t> es una matriz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s-ES_tradnl" dirty="0"/>
                  <a:t>. Como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entonces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ES_tradnl" dirty="0"/>
                  <a:t> es invertible, aun cuando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no</a:t>
                </a:r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r>
                  <a:rPr lang="es-ES_tradnl" b="1" dirty="0">
                    <a:solidFill>
                      <a:srgbClr val="FF0000"/>
                    </a:solidFill>
                  </a:rPr>
                  <a:t>Intuición</a:t>
                </a:r>
                <a:r>
                  <a:rPr lang="es-ES_tradnl" b="1" dirty="0"/>
                  <a:t>:</a:t>
                </a:r>
                <a:r>
                  <a:rPr lang="es-ES_tradnl" dirty="0"/>
                  <a:t> Ridge es como que agrega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puntos adicionales. Esto permite lidiar con el problema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7C5FF-FCDC-06ED-788C-EBA4A3152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61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2795</TotalTime>
  <Words>2147</Words>
  <Application>Microsoft Macintosh PowerPoint</Application>
  <PresentationFormat>Panorámica</PresentationFormat>
  <Paragraphs>312</Paragraphs>
  <Slides>46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5" baseType="lpstr">
      <vt:lpstr>Arial</vt:lpstr>
      <vt:lpstr>Calibri</vt:lpstr>
      <vt:lpstr>Cambria Math</vt:lpstr>
      <vt:lpstr>Courier New</vt:lpstr>
      <vt:lpstr>Gill Sans Nova Light</vt:lpstr>
      <vt:lpstr>Goudy Old Style</vt:lpstr>
      <vt:lpstr>Times</vt:lpstr>
      <vt:lpstr>Times New Roman</vt:lpstr>
      <vt:lpstr>Office Theme</vt:lpstr>
      <vt:lpstr>Introducción a Métodos de Regularización:  Ridge, LASSO &amp; Elastic Net</vt:lpstr>
      <vt:lpstr>Cuestiones operativas del curso: Próximos Deadlines</vt:lpstr>
      <vt:lpstr>En la clase de hoy</vt:lpstr>
      <vt:lpstr>Métodos de Regularización</vt:lpstr>
      <vt:lpstr>Motivación: Problemas de MCO en la practica</vt:lpstr>
      <vt:lpstr>Idea de “regularizar”</vt:lpstr>
      <vt:lpstr>Regularización I: Ridge</vt:lpstr>
      <vt:lpstr>Ridge</vt:lpstr>
      <vt:lpstr>Caso simple I: un predictor, normalizado</vt:lpstr>
      <vt:lpstr>Caso simple II: un predictor, normalizado</vt:lpstr>
      <vt:lpstr>Comparación de Métodos: Bajo los supuestos clásicos con un predictor normalizado</vt:lpstr>
      <vt:lpstr>Comparación de Métodos (continua): Bajo los supuestos clásicos con un predictor normalizado</vt:lpstr>
      <vt:lpstr>Comentarios técnicos &amp; Consideraciones</vt:lpstr>
      <vt:lpstr>Regularización II: LASSO</vt:lpstr>
      <vt:lpstr>LASSO: Least Absolute Shrinkage and Selection Operator</vt:lpstr>
      <vt:lpstr>LASSO (continua)</vt:lpstr>
      <vt:lpstr>Solución esquina: un predictor, normalizado</vt:lpstr>
      <vt:lpstr>Visualización de escenarios posibles con β&gt;0 </vt:lpstr>
      <vt:lpstr>Formalmente: Solución esquina</vt:lpstr>
      <vt:lpstr>Formalmente: Solución interior </vt:lpstr>
      <vt:lpstr>Intuiciones para Economistas</vt:lpstr>
      <vt:lpstr>Consideraciones: Objetivos &amp; en la Práctica</vt:lpstr>
      <vt:lpstr>Problemas en la práctica con LASSO</vt:lpstr>
      <vt:lpstr>Elección de parámetro de penalidad (o tuning) λ </vt:lpstr>
      <vt:lpstr>Ilustración I: Error de Cross-Validation para Ridge</vt:lpstr>
      <vt:lpstr>Ilustración II: Error de Cross-Validation para LASSO</vt:lpstr>
      <vt:lpstr>Regularización III: Elastic Net</vt:lpstr>
      <vt:lpstr>Naive Elastic Net</vt:lpstr>
      <vt:lpstr>Naive Elastic Net:  Bajo el supuesto un predictor estandarizado</vt:lpstr>
      <vt:lpstr>Elastic Net</vt:lpstr>
      <vt:lpstr>Comparación de modelos</vt:lpstr>
      <vt:lpstr>Métodos de Regularización en general</vt:lpstr>
      <vt:lpstr>Funciones de Penalización</vt:lpstr>
      <vt:lpstr>Ilustración 0: Contorno y RSS </vt:lpstr>
      <vt:lpstr>Ilustración I: Contorno de Coeficientes</vt:lpstr>
      <vt:lpstr>Ilustración II: Regularización para Ridge</vt:lpstr>
      <vt:lpstr>Ilustración III: Regularización para LASSO</vt:lpstr>
      <vt:lpstr>Conclusiones finales</vt:lpstr>
      <vt:lpstr>¿Qué aprendimos hoy?</vt:lpstr>
      <vt:lpstr>¿Qué aprendimos hoy?</vt:lpstr>
      <vt:lpstr>¿Dudas, consultas?</vt:lpstr>
      <vt:lpstr>Apendice: Casos Particulares usando Ridge (n≤p)</vt:lpstr>
      <vt:lpstr>Repaso de MCO</vt:lpstr>
      <vt:lpstr>Problema n≤p</vt:lpstr>
      <vt:lpstr>Intuición para Ridge</vt:lpstr>
      <vt:lpstr>Intuición para Ridge (continua)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183</cp:revision>
  <dcterms:created xsi:type="dcterms:W3CDTF">2023-06-12T20:51:31Z</dcterms:created>
  <dcterms:modified xsi:type="dcterms:W3CDTF">2025-10-17T19:20:30Z</dcterms:modified>
</cp:coreProperties>
</file>