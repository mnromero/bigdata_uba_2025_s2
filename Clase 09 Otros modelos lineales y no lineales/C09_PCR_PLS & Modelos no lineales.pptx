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62"/>
  </p:notesMasterIdLst>
  <p:sldIdLst>
    <p:sldId id="423" r:id="rId2"/>
    <p:sldId id="275" r:id="rId3"/>
    <p:sldId id="329" r:id="rId4"/>
    <p:sldId id="267" r:id="rId5"/>
    <p:sldId id="268" r:id="rId6"/>
    <p:sldId id="350" r:id="rId7"/>
    <p:sldId id="347" r:id="rId8"/>
    <p:sldId id="430" r:id="rId9"/>
    <p:sldId id="431" r:id="rId10"/>
    <p:sldId id="499" r:id="rId11"/>
    <p:sldId id="500" r:id="rId12"/>
    <p:sldId id="501" r:id="rId13"/>
    <p:sldId id="432" r:id="rId14"/>
    <p:sldId id="429" r:id="rId15"/>
    <p:sldId id="348" r:id="rId16"/>
    <p:sldId id="261" r:id="rId17"/>
    <p:sldId id="489" r:id="rId18"/>
    <p:sldId id="490" r:id="rId19"/>
    <p:sldId id="373" r:id="rId20"/>
    <p:sldId id="374" r:id="rId21"/>
    <p:sldId id="491" r:id="rId22"/>
    <p:sldId id="375" r:id="rId23"/>
    <p:sldId id="376" r:id="rId24"/>
    <p:sldId id="377" r:id="rId25"/>
    <p:sldId id="469" r:id="rId26"/>
    <p:sldId id="257" r:id="rId27"/>
    <p:sldId id="470" r:id="rId28"/>
    <p:sldId id="471" r:id="rId29"/>
    <p:sldId id="472" r:id="rId30"/>
    <p:sldId id="473" r:id="rId31"/>
    <p:sldId id="351" r:id="rId32"/>
    <p:sldId id="474" r:id="rId33"/>
    <p:sldId id="475" r:id="rId34"/>
    <p:sldId id="382" r:id="rId35"/>
    <p:sldId id="434" r:id="rId36"/>
    <p:sldId id="349" r:id="rId37"/>
    <p:sldId id="476" r:id="rId38"/>
    <p:sldId id="435" r:id="rId39"/>
    <p:sldId id="493" r:id="rId40"/>
    <p:sldId id="436" r:id="rId41"/>
    <p:sldId id="355" r:id="rId42"/>
    <p:sldId id="437" r:id="rId43"/>
    <p:sldId id="357" r:id="rId44"/>
    <p:sldId id="356" r:id="rId45"/>
    <p:sldId id="494" r:id="rId46"/>
    <p:sldId id="495" r:id="rId47"/>
    <p:sldId id="368" r:id="rId48"/>
    <p:sldId id="442" r:id="rId49"/>
    <p:sldId id="370" r:id="rId50"/>
    <p:sldId id="438" r:id="rId51"/>
    <p:sldId id="439" r:id="rId52"/>
    <p:sldId id="440" r:id="rId53"/>
    <p:sldId id="477" r:id="rId54"/>
    <p:sldId id="478" r:id="rId55"/>
    <p:sldId id="443" r:id="rId56"/>
    <p:sldId id="444" r:id="rId57"/>
    <p:sldId id="445" r:id="rId58"/>
    <p:sldId id="337" r:id="rId59"/>
    <p:sldId id="314" r:id="rId60"/>
    <p:sldId id="502" r:id="rId6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AA5E9202-8AF9-7B42-B817-22D148D689E3}">
          <p14:sldIdLst>
            <p14:sldId id="423"/>
            <p14:sldId id="275"/>
          </p14:sldIdLst>
        </p14:section>
        <p14:section name="Reduccion de la Dimensionalidad: Motivacion" id="{F06AC147-1820-E64A-873C-8C467231AE8F}">
          <p14:sldIdLst>
            <p14:sldId id="329"/>
            <p14:sldId id="267"/>
            <p14:sldId id="268"/>
            <p14:sldId id="350"/>
          </p14:sldIdLst>
        </p14:section>
        <p14:section name="Regresion por Componentes Principales" id="{75D31724-3B6C-E842-978D-4FEEBABBFA4D}">
          <p14:sldIdLst>
            <p14:sldId id="347"/>
            <p14:sldId id="430"/>
            <p14:sldId id="431"/>
            <p14:sldId id="499"/>
            <p14:sldId id="500"/>
            <p14:sldId id="501"/>
            <p14:sldId id="432"/>
            <p14:sldId id="429"/>
          </p14:sldIdLst>
        </p14:section>
        <p14:section name="Minimo Cuadrados Parciales (PLS)" id="{5623DDE8-0602-0D4F-AFA1-3B05F3F0BCCE}">
          <p14:sldIdLst>
            <p14:sldId id="348"/>
            <p14:sldId id="261"/>
            <p14:sldId id="489"/>
            <p14:sldId id="490"/>
            <p14:sldId id="373"/>
            <p14:sldId id="374"/>
            <p14:sldId id="491"/>
            <p14:sldId id="375"/>
            <p14:sldId id="376"/>
            <p14:sldId id="377"/>
          </p14:sldIdLst>
        </p14:section>
        <p14:section name="Modelos No Lineales: Motivacion" id="{C7EDB1D7-933D-814E-9305-FB636781ECA7}">
          <p14:sldIdLst>
            <p14:sldId id="469"/>
            <p14:sldId id="257"/>
            <p14:sldId id="470"/>
          </p14:sldIdLst>
        </p14:section>
        <p14:section name="Polinomios" id="{F7C8D0C1-BB85-4F47-8410-32EA0DBA27FE}">
          <p14:sldIdLst>
            <p14:sldId id="471"/>
            <p14:sldId id="472"/>
            <p14:sldId id="473"/>
            <p14:sldId id="351"/>
          </p14:sldIdLst>
        </p14:section>
        <p14:section name="Funciones No Lineales. Step &amp; Basis Function" id="{0CA1A5E6-FF2F-504E-9DA6-5F7ADFF78C9A}">
          <p14:sldIdLst>
            <p14:sldId id="474"/>
            <p14:sldId id="475"/>
            <p14:sldId id="382"/>
            <p14:sldId id="434"/>
          </p14:sldIdLst>
        </p14:section>
        <p14:section name="Splines" id="{AFEAD3D2-FD34-D043-A964-C452EA8E2837}">
          <p14:sldIdLst>
            <p14:sldId id="349"/>
            <p14:sldId id="476"/>
            <p14:sldId id="435"/>
            <p14:sldId id="493"/>
            <p14:sldId id="436"/>
            <p14:sldId id="355"/>
            <p14:sldId id="437"/>
            <p14:sldId id="357"/>
            <p14:sldId id="356"/>
          </p14:sldIdLst>
        </p14:section>
        <p14:section name="Aplicación de Splines" id="{E47014D4-4A31-7144-A7A1-3FD681614DD6}">
          <p14:sldIdLst>
            <p14:sldId id="494"/>
            <p14:sldId id="495"/>
          </p14:sldIdLst>
        </p14:section>
        <p14:section name="Regresiones locales y repaso de Kernels" id="{E5FDEDE6-CBDE-544D-ABDF-AB8CF20D13E7}">
          <p14:sldIdLst>
            <p14:sldId id="368"/>
            <p14:sldId id="442"/>
            <p14:sldId id="370"/>
            <p14:sldId id="438"/>
            <p14:sldId id="439"/>
            <p14:sldId id="440"/>
            <p14:sldId id="477"/>
            <p14:sldId id="478"/>
            <p14:sldId id="443"/>
            <p14:sldId id="444"/>
            <p14:sldId id="445"/>
          </p14:sldIdLst>
        </p14:section>
        <p14:section name="Conclusiones finales" id="{30AE4762-25DE-C74D-AF95-4AEC0CC37FB0}">
          <p14:sldIdLst>
            <p14:sldId id="337"/>
            <p14:sldId id="314"/>
            <p14:sldId id="502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SorterView">
  <p:normalViewPr>
    <p:restoredLeft sz="20752"/>
    <p:restoredTop sz="85070"/>
  </p:normalViewPr>
  <p:slideViewPr>
    <p:cSldViewPr snapToGrid="0">
      <p:cViewPr varScale="1">
        <p:scale>
          <a:sx n="104" d="100"/>
          <a:sy n="104" d="100"/>
        </p:scale>
        <p:origin x="472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" d="1"/>
        <a:sy n="1" d="1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tableStyles" Target="tableStyle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_tradnl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4A57B98-7F31-0D42-9B7E-63D1E3B1FEB1}" type="datetimeFigureOut">
              <a:rPr lang="es-ES_tradnl" smtClean="0"/>
              <a:t>7/11/25</a:t>
            </a:fld>
            <a:endParaRPr lang="es-ES_tradnl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_tradnl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_tradn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_tradn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4B6B6AD-E852-0649-B090-0B587A2ABB49}" type="slidenum">
              <a:rPr lang="es-ES_tradnl" smtClean="0"/>
              <a:t>‹Nº›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30220003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B412AF-8B30-1C4A-9486-8B7EE1FDFB12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099205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630DE0-2491-4445-BD47-B1B1930FC5EF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79506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B6B6AD-E852-0649-B090-0B587A2ABB49}" type="slidenum">
              <a:rPr lang="es-ES_tradnl" smtClean="0"/>
              <a:t>6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239635019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630DE0-2491-4445-BD47-B1B1930FC5EF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237518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630DE0-2491-4445-BD47-B1B1930FC5EF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236777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630DE0-2491-4445-BD47-B1B1930FC5EF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79506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630DE0-2491-4445-BD47-B1B1930FC5EF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265536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B6B6AD-E852-0649-B090-0B587A2ABB49}" type="slidenum">
              <a:rPr lang="es-ES_tradnl" smtClean="0"/>
              <a:t>30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316795986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630DE0-2491-4445-BD47-B1B1930FC5EF}" type="slidenum">
              <a:rPr lang="en-US" smtClean="0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611787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B6B6AD-E852-0649-B090-0B587A2ABB49}" type="slidenum">
              <a:rPr lang="es-ES_tradnl" smtClean="0"/>
              <a:t>33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3191589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630DE0-2491-4445-BD47-B1B1930FC5EF}" type="slidenum">
              <a:rPr lang="en-US" smtClean="0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638902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Material </a:t>
            </a:r>
            <a:r>
              <a:rPr lang="en-US" dirty="0" err="1"/>
              <a:t>sugerido</a:t>
            </a:r>
            <a:r>
              <a:rPr lang="en-US" dirty="0"/>
              <a:t> de </a:t>
            </a:r>
            <a:r>
              <a:rPr lang="en-US" dirty="0" err="1"/>
              <a:t>grados</a:t>
            </a:r>
            <a:r>
              <a:rPr lang="en-US" dirty="0"/>
              <a:t> de Libertad: “</a:t>
            </a:r>
            <a:r>
              <a:rPr lang="en-US" dirty="0" err="1"/>
              <a:t>Introduccion</a:t>
            </a:r>
            <a:r>
              <a:rPr lang="en-US" dirty="0"/>
              <a:t> a la </a:t>
            </a:r>
            <a:r>
              <a:rPr lang="en-US" dirty="0" err="1"/>
              <a:t>Econometría</a:t>
            </a:r>
            <a:r>
              <a:rPr lang="en-US" dirty="0"/>
              <a:t>” Wooldridge p.108-109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B6B6AD-E852-0649-B090-0B587A2ABB49}" type="slidenum">
              <a:rPr lang="es-ES_tradnl" smtClean="0"/>
              <a:t>39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66876677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B6B6AD-E852-0649-B090-0B587A2ABB49}" type="slidenum">
              <a:rPr lang="es-ES_tradnl" smtClean="0"/>
              <a:t>46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16600959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_tradnl" dirty="0"/>
              <a:t>Material de Sosa Escudero (2020) “</a:t>
            </a:r>
            <a:r>
              <a:rPr lang="en-US" b="1" i="0" u="none" strike="noStrike" dirty="0" err="1">
                <a:solidFill>
                  <a:srgbClr val="2A2A2A"/>
                </a:solidFill>
                <a:effectLst/>
                <a:latin typeface="Lato" panose="020F0502020204030204" pitchFamily="34" charset="0"/>
              </a:rPr>
              <a:t>Densidad</a:t>
            </a:r>
            <a:r>
              <a:rPr lang="en-US" b="1" i="0" u="none" strike="noStrike" dirty="0">
                <a:solidFill>
                  <a:srgbClr val="2A2A2A"/>
                </a:solidFill>
                <a:effectLst/>
                <a:latin typeface="Lato" panose="020F0502020204030204" pitchFamily="34" charset="0"/>
              </a:rPr>
              <a:t> y </a:t>
            </a:r>
            <a:r>
              <a:rPr lang="en-US" b="1" i="0" u="none" strike="noStrike" dirty="0" err="1">
                <a:solidFill>
                  <a:srgbClr val="2A2A2A"/>
                </a:solidFill>
                <a:effectLst/>
                <a:latin typeface="Lato" panose="020F0502020204030204" pitchFamily="34" charset="0"/>
              </a:rPr>
              <a:t>regresión</a:t>
            </a:r>
            <a:r>
              <a:rPr lang="en-US" b="1" i="0" u="none" strike="noStrike" dirty="0">
                <a:solidFill>
                  <a:srgbClr val="2A2A2A"/>
                </a:solidFill>
                <a:effectLst/>
                <a:latin typeface="Lato" panose="020F0502020204030204" pitchFamily="34" charset="0"/>
              </a:rPr>
              <a:t> no </a:t>
            </a:r>
            <a:r>
              <a:rPr lang="en-US" b="1" i="0" u="none" strike="noStrike" dirty="0" err="1">
                <a:solidFill>
                  <a:srgbClr val="2A2A2A"/>
                </a:solidFill>
                <a:effectLst/>
                <a:latin typeface="Lato" panose="020F0502020204030204" pitchFamily="34" charset="0"/>
              </a:rPr>
              <a:t>paramétrica</a:t>
            </a:r>
            <a:r>
              <a:rPr lang="es-ES_tradnl" dirty="0"/>
              <a:t>”: https://</a:t>
            </a:r>
            <a:r>
              <a:rPr lang="es-ES_tradnl" dirty="0" err="1"/>
              <a:t>bigdataudesa.weebly.com</a:t>
            </a:r>
            <a:r>
              <a:rPr lang="es-ES_tradnl" dirty="0"/>
              <a:t>/</a:t>
            </a:r>
            <a:r>
              <a:rPr lang="es-ES_tradnl" dirty="0" err="1"/>
              <a:t>uploads</a:t>
            </a:r>
            <a:r>
              <a:rPr lang="es-ES_tradnl" dirty="0"/>
              <a:t>/8/6/9/0/86901080/densityregression2020.pdf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630DE0-2491-4445-BD47-B1B1930FC5EF}" type="slidenum">
              <a:rPr lang="en-US" smtClean="0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175021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References</a:t>
            </a:r>
          </a:p>
          <a:p>
            <a:r>
              <a:rPr lang="en-US" dirty="0"/>
              <a:t>CC408_C2_Analisis descript </a:t>
            </a:r>
            <a:r>
              <a:rPr lang="en-US" dirty="0" err="1"/>
              <a:t>II_Histogramas&amp;Kernels</a:t>
            </a:r>
            <a:endParaRPr lang="en-US" dirty="0"/>
          </a:p>
          <a:p>
            <a:endParaRPr lang="es-ES_trad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B6B6AD-E852-0649-B090-0B587A2ABB49}" type="slidenum">
              <a:rPr lang="es-ES_tradnl" smtClean="0"/>
              <a:t>50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39643567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B6B6AD-E852-0649-B090-0B587A2ABB49}" type="slidenum">
              <a:rPr lang="es-ES_tradnl" smtClean="0"/>
              <a:t>51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422830435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B6B6AD-E852-0649-B090-0B587A2ABB49}" type="slidenum">
              <a:rPr lang="es-ES_tradnl" smtClean="0"/>
              <a:t>52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1058315183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7ED07FA-7792-F649-B523-FCAF9068A01B}" type="slidenum">
              <a:rPr lang="es-ES_tradnl" smtClean="0"/>
              <a:t>58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330722832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1CB98C-7E11-E20C-7CA1-01CA7BC605C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A8FC3A6-7EF0-25DE-49FD-093DABEA406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9BDF46-6163-6B81-C8F2-2AFCA65AD2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996A44-393B-2349-9636-C2E629343387}" type="datetime1">
              <a:rPr lang="en-US" smtClean="0"/>
              <a:t>11/7/25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D8C366-551D-FE97-2B1D-32127BF381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F01B1D-ECC1-F92A-E5F2-CCE79365E9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23868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F0CDC1-3848-0D97-B7AC-87941E6A67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5930B0-69E0-A392-06B3-B0B255B708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AB745A-C184-9A02-3478-963C49CDE2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D7DD35-DA54-6249-8929-31941A6F915E}" type="datetime1">
              <a:rPr lang="en-US" smtClean="0"/>
              <a:t>11/7/25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BE6306-932B-2678-8102-D5B1FF6A89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CFBCBB-A717-3F86-896B-2E915566B3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6441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32CE9D-254D-F34F-04CD-7171E08AAE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FD3A657-71FF-6D0F-FA99-85DC67E6EC2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3D6D25-137F-9F92-60F0-FB0CA02EF5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633375-BE77-974E-B796-FE3045409A94}" type="datetime1">
              <a:rPr lang="en-US" smtClean="0"/>
              <a:t>11/7/25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048134-AEC4-52EE-619E-153EC79DA5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A96E28-6B6A-F6F8-4722-E4543D315C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37865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B31D6C-E496-E079-CBB1-0568125CB5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CE5603-C8AA-9A92-329E-1802B5F5928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1050DDA-AA05-B9E0-6968-15C94DE927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8F06625-219C-99D2-3E54-1E8F41B241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45ED56-00FC-634F-B6C2-E86770DA063E}" type="datetime1">
              <a:rPr lang="en-US" smtClean="0"/>
              <a:t>11/7/25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BBABBC7-B012-FDE4-EA5B-0F69DA2EAF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205FDEE-8F41-2CAA-8017-4038F3B812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11568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CBA04D-9D5C-EB18-C5D0-F76A09B06B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9A72525-56CB-7F89-4E11-9F3346C59F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54198E8-A9B1-48FB-F54D-A3A92D36D84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E21E517-63E9-95AE-DECC-CFC5865D181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242A0CC-FDD5-8EAE-60EC-D76CDDC978D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ADA6C08-7F94-962B-4B6D-4E592F0E25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80F7AF-5390-6D41-B3C2-4512AD8DC48F}" type="datetime1">
              <a:rPr lang="en-US" smtClean="0"/>
              <a:t>11/7/25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A6DBB8B-904B-340C-44C2-AEB8E73419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F57219B-396C-1FD3-E2D2-AE43472755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92647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A471B7-64C8-5681-B050-6630E1012E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0026AF0-FBD4-6543-A23B-33B8EC5C60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1FBA76-D706-234B-B88E-FA9EF4D7D110}" type="datetime1">
              <a:rPr lang="en-US" smtClean="0"/>
              <a:t>11/7/25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3087316-ECA6-24C4-30E6-F285BB5BB7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FF1D056-F9AE-1692-E81E-AF758FCCC0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54577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2A10710-3846-C9D7-2144-F947912C55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57C583-3803-924E-B51C-25F9B096D826}" type="datetime1">
              <a:rPr lang="en-US" smtClean="0"/>
              <a:t>11/7/25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88AC6AD-5E2E-A761-7126-579D50261B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EF490D8-22CE-08FF-C435-CF9436B209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2121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0C159F-BCFE-0041-5B65-0F7FC249D8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7DE978-B876-7F13-E812-15175B9B47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37065CE-0860-1EFD-1CD1-8D84398DFB6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EFE4DE7-1714-6B66-42FD-77D069D7B5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9C20E7-E151-324B-B310-BE89353755F2}" type="datetime1">
              <a:rPr lang="en-US" smtClean="0"/>
              <a:t>11/7/25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25CCE9F-F437-9F8B-15B0-8576AFF53E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2499748-1BAE-0CB1-1ED5-9FF402F0A5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26043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2D5094-D299-E460-49A2-D005A07ACC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869A670-8C5F-885F-FB89-1940119E608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7F02C41-9999-BFD6-AEAD-EB346FCC3E2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AE5BE73-C51E-CB3B-FD3F-C461033F7B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B53A3E-DA75-EC4A-9046-4A3B26FBAAC1}" type="datetime1">
              <a:rPr lang="en-US" smtClean="0"/>
              <a:t>11/7/25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95D6684-3CE0-4A83-95A6-6EBB09496A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C573D51-51CE-D827-C1EE-C87D922E8A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20155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236847-10A3-1E86-2365-C19719B4AD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6F4D640-C06A-7E21-00D5-44964ADC6B8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FFEB36-D0A3-DD5E-C201-B27A716936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30747D-E2B9-0645-9126-214ED2EB266F}" type="datetime1">
              <a:rPr lang="en-US" smtClean="0"/>
              <a:t>11/7/25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06C4C8-11C3-310B-0494-5A9A39C6AB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73FB9E-F285-F7AE-0E8F-94E4439161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77317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F9591E1-25BE-1B7D-2747-B206B76901E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A0C95D2-79AD-B457-5041-AF0BC72AD48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3D9B71-7EFC-DD71-1559-F745192F9E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1EB08E-9945-494E-8140-072E164898FC}" type="datetime1">
              <a:rPr lang="en-US" smtClean="0"/>
              <a:t>11/7/25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84FD8D1-6C57-FE1E-C640-C760ABFFAB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979F31-ACBF-4495-3650-1BBE0598FA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63172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ECE12EA-8A8E-06EC-6E57-8E5E96C512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_tradnl" noProof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1340FE1-91A8-46C3-32E1-30AAA21A93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_tradnl" noProof="0"/>
              <a:t>Click to edit Master text styles</a:t>
            </a:r>
          </a:p>
          <a:p>
            <a:pPr lvl="1"/>
            <a:r>
              <a:rPr lang="es-ES_tradnl" noProof="0"/>
              <a:t>Second level</a:t>
            </a:r>
          </a:p>
          <a:p>
            <a:pPr lvl="2"/>
            <a:r>
              <a:rPr lang="es-ES_tradnl" noProof="0"/>
              <a:t>Third level</a:t>
            </a:r>
          </a:p>
          <a:p>
            <a:pPr lvl="3"/>
            <a:r>
              <a:rPr lang="es-ES_tradnl" noProof="0"/>
              <a:t>Fourth level</a:t>
            </a:r>
          </a:p>
          <a:p>
            <a:pPr lvl="4"/>
            <a:r>
              <a:rPr lang="es-ES_tradnl" noProof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569DB0-88CE-6331-AB80-0CB309875BE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Gill Sans Nova Light" panose="020F0302020204030204" pitchFamily="34" charset="0"/>
                <a:cs typeface="Gill Sans Nova Light" panose="020F0302020204030204" pitchFamily="34" charset="0"/>
              </a:defRPr>
            </a:lvl1pPr>
          </a:lstStyle>
          <a:p>
            <a:fld id="{203A4A31-8716-1243-A06A-E7884CD293D7}" type="datetime1">
              <a:rPr lang="en-US" noProof="0" smtClean="0"/>
              <a:t>11/7/25</a:t>
            </a:fld>
            <a:endParaRPr lang="es-ES_tradnl" noProof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25CBFB-E83F-ED57-BB3C-53CCB666244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Gill Sans Nova Light" panose="020F0302020204030204" pitchFamily="34" charset="0"/>
                <a:cs typeface="Gill Sans Nova Light" panose="020F0302020204030204" pitchFamily="34" charset="0"/>
              </a:defRPr>
            </a:lvl1pPr>
          </a:lstStyle>
          <a:p>
            <a:endParaRPr lang="es-ES_tradnl" noProof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FDCCDE-D195-0527-335D-0AECD8803A6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800">
                <a:solidFill>
                  <a:schemeClr val="tx1">
                    <a:tint val="75000"/>
                  </a:schemeClr>
                </a:solidFill>
                <a:latin typeface="Gill Sans Nova Light" panose="020F0302020204030204" pitchFamily="34" charset="0"/>
                <a:cs typeface="Gill Sans Nova Light" panose="020F0302020204030204" pitchFamily="34" charset="0"/>
              </a:defRPr>
            </a:lvl1pPr>
          </a:lstStyle>
          <a:p>
            <a:fld id="{278C1CC4-2077-434E-BCF1-5D01C08A9B17}" type="slidenum">
              <a:rPr lang="es-ES_tradnl" smtClean="0"/>
              <a:pPr/>
              <a:t>‹Nº›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248092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rgbClr val="002060"/>
          </a:solidFill>
          <a:latin typeface="Goudy Old Style" panose="02020502050305020303" pitchFamily="18" charset="77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Gill Sans Nova Light" panose="020F0302020204030204" pitchFamily="34" charset="0"/>
          <a:ea typeface="+mn-ea"/>
          <a:cs typeface="Gill Sans Nova Light" panose="020F0302020204030204" pitchFamily="34" charset="0"/>
        </a:defRPr>
      </a:lvl1pPr>
      <a:lvl2pPr marL="6858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Gill Sans Nova Light" panose="020F0302020204030204" pitchFamily="34" charset="0"/>
          <a:ea typeface="+mn-ea"/>
          <a:cs typeface="Gill Sans Nova Light" panose="020F0302020204030204" pitchFamily="34" charset="0"/>
        </a:defRPr>
      </a:lvl2pPr>
      <a:lvl3pPr marL="11430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Gill Sans Nova Light" panose="020F0302020204030204" pitchFamily="34" charset="0"/>
          <a:ea typeface="+mn-ea"/>
          <a:cs typeface="Gill Sans Nova Light" panose="020F0302020204030204" pitchFamily="34" charset="0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Gill Sans Nova Light" panose="020F0302020204030204" pitchFamily="34" charset="0"/>
          <a:ea typeface="+mn-ea"/>
          <a:cs typeface="Gill Sans Nova Light" panose="020F0302020204030204" pitchFamily="34" charset="0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Gill Sans Nova Light" panose="020F0302020204030204" pitchFamily="34" charset="0"/>
          <a:ea typeface="+mn-ea"/>
          <a:cs typeface="Gill Sans Nova Light" panose="020F030202020403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1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NULL"/><Relationship Id="rId2" Type="http://schemas.openxmlformats.org/officeDocument/2006/relationships/image" Target="../media/image81.png"/><Relationship Id="rId1" Type="http://schemas.openxmlformats.org/officeDocument/2006/relationships/slideLayout" Target="../slideLayouts/slideLayout5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0.png"/><Relationship Id="rId2" Type="http://schemas.openxmlformats.org/officeDocument/2006/relationships/image" Target="../media/image260.png"/><Relationship Id="rId1" Type="http://schemas.openxmlformats.org/officeDocument/2006/relationships/slideLayout" Target="../slideLayouts/slideLayout5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0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0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0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4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80.png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0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71.png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0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0.png"/><Relationship Id="rId2" Type="http://schemas.openxmlformats.org/officeDocument/2006/relationships/image" Target="../media/image16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png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7" Type="http://schemas.openxmlformats.org/officeDocument/2006/relationships/image" Target="../media/image230.png"/><Relationship Id="rId2" Type="http://schemas.openxmlformats.org/officeDocument/2006/relationships/image" Target="../media/image16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0.png"/><Relationship Id="rId5" Type="http://schemas.openxmlformats.org/officeDocument/2006/relationships/image" Target="../media/image210.png"/><Relationship Id="rId4" Type="http://schemas.openxmlformats.org/officeDocument/2006/relationships/image" Target="../media/image24.png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4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4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0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0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0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7.png"/><Relationship Id="rId4" Type="http://schemas.openxmlformats.org/officeDocument/2006/relationships/image" Target="../media/image36.png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41.png"/><Relationship Id="rId4" Type="http://schemas.openxmlformats.org/officeDocument/2006/relationships/image" Target="../media/image40.png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0.png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hyperlink" Target="mailto:25RO35480961@campus.economicas.uba.ar" TargetMode="Externa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52C8F4-54CC-EED9-C31F-8F80FFB62EE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946910"/>
            <a:ext cx="9144000" cy="2387600"/>
          </a:xfrm>
        </p:spPr>
        <p:txBody>
          <a:bodyPr>
            <a:normAutofit/>
          </a:bodyPr>
          <a:lstStyle/>
          <a:p>
            <a:r>
              <a:rPr lang="es-ES" sz="4400" kern="1400" dirty="0">
                <a:cs typeface="Times New Roman" panose="02020603050405020304" pitchFamily="18" charset="0"/>
              </a:rPr>
              <a:t>Regresión lineal por PCR &amp; PLS  Modelos No Lineales</a:t>
            </a:r>
            <a:endParaRPr lang="en-US" sz="44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1F55BDD-1493-5FB8-8EDB-106F9B36291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349115"/>
            <a:ext cx="9144000" cy="1655762"/>
          </a:xfrm>
        </p:spPr>
        <p:txBody>
          <a:bodyPr>
            <a:normAutofit/>
          </a:bodyPr>
          <a:lstStyle/>
          <a:p>
            <a:r>
              <a:rPr lang="es-ES" sz="3200" dirty="0">
                <a:solidFill>
                  <a:srgbClr val="000000"/>
                </a:solidFill>
                <a:effectLst/>
                <a:latin typeface="Gill Sans Nova Light" panose="020F03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María Noelia Romero</a:t>
            </a:r>
            <a:r>
              <a:rPr lang="en-US" sz="4000" dirty="0">
                <a:effectLst/>
              </a:rPr>
              <a:t> </a:t>
            </a:r>
            <a:endParaRPr lang="en-US" sz="4000" dirty="0"/>
          </a:p>
          <a:p>
            <a:r>
              <a:rPr lang="es-ES" sz="2800" dirty="0">
                <a:solidFill>
                  <a:srgbClr val="000000"/>
                </a:solidFill>
                <a:latin typeface="Gill Sans Nova Light" panose="020F0302020204030204" pitchFamily="34" charset="0"/>
                <a:cs typeface="Times New Roman" panose="02020603050405020304" pitchFamily="18" charset="0"/>
              </a:rPr>
              <a:t>Clase </a:t>
            </a:r>
            <a:r>
              <a:rPr lang="es-ES" sz="2800" dirty="0">
                <a:solidFill>
                  <a:srgbClr val="000000"/>
                </a:solidFill>
                <a:cs typeface="Times New Roman" panose="02020603050405020304" pitchFamily="18" charset="0"/>
              </a:rPr>
              <a:t>9</a:t>
            </a:r>
            <a:endParaRPr lang="en-US" sz="360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EEADCD9-CEB1-5D1E-D7AC-167899E21C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1</a:t>
            </a:fld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C027F2D-CC52-462D-4A92-C7C4502C71F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1950" y="853123"/>
            <a:ext cx="1463040" cy="1463040"/>
          </a:xfrm>
          <a:prstGeom prst="rect">
            <a:avLst/>
          </a:prstGeom>
        </p:spPr>
      </p:pic>
      <p:pic>
        <p:nvPicPr>
          <p:cNvPr id="6" name="Picture 5" descr="A blue and yellow logo&#10;&#10;Description automatically generated">
            <a:extLst>
              <a:ext uri="{FF2B5EF4-FFF2-40B4-BE49-F238E27FC236}">
                <a16:creationId xmlns:a16="http://schemas.microsoft.com/office/drawing/2014/main" id="{939E0972-AB4F-C51D-7B38-9F10B613F9B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82007" y="849631"/>
            <a:ext cx="1271793" cy="14630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965356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AE00F5-C7EE-2CC9-E9BA-CD7EB57AFC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/>
              <a:t>En la clase de hoy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A8327E-74B0-5F1D-D3E8-C9714B43F8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514350" indent="-514350">
              <a:lnSpc>
                <a:spcPct val="120000"/>
              </a:lnSpc>
              <a:buAutoNum type="arabicPeriod"/>
            </a:pPr>
            <a:r>
              <a:rPr lang="es-ES_tradnl" dirty="0">
                <a:solidFill>
                  <a:srgbClr val="0070C0"/>
                </a:solidFill>
              </a:rPr>
              <a:t>Regresión lineal </a:t>
            </a:r>
            <a:r>
              <a:rPr lang="es-ES_tradnl" dirty="0"/>
              <a:t>basada en métodos de reducción de la dimensionalidad:</a:t>
            </a:r>
          </a:p>
          <a:p>
            <a:pPr marL="971550" lvl="1" indent="-514350">
              <a:lnSpc>
                <a:spcPct val="120000"/>
              </a:lnSpc>
              <a:buFont typeface="+mj-lt"/>
              <a:buAutoNum type="alphaLcPeriod"/>
            </a:pPr>
            <a:r>
              <a:rPr lang="es-ES_tradnl" dirty="0"/>
              <a:t>Regresión por Componentes Principales (PCR) </a:t>
            </a:r>
          </a:p>
          <a:p>
            <a:pPr marL="971550" lvl="1" indent="-514350">
              <a:lnSpc>
                <a:spcPct val="120000"/>
              </a:lnSpc>
              <a:buFont typeface="+mj-lt"/>
              <a:buAutoNum type="alphaLcPeriod"/>
            </a:pPr>
            <a:r>
              <a:rPr lang="es-ES_tradnl" dirty="0"/>
              <a:t>Mínimo Cuadrado Parciales (PLS): </a:t>
            </a:r>
          </a:p>
          <a:p>
            <a:pPr marL="514350" indent="-514350">
              <a:lnSpc>
                <a:spcPct val="120000"/>
              </a:lnSpc>
              <a:buAutoNum type="arabicPeriod"/>
            </a:pPr>
            <a:r>
              <a:rPr lang="es-ES_tradnl" dirty="0"/>
              <a:t>Modelos </a:t>
            </a:r>
            <a:r>
              <a:rPr lang="es-ES_tradnl" dirty="0">
                <a:solidFill>
                  <a:srgbClr val="0070C0"/>
                </a:solidFill>
              </a:rPr>
              <a:t>no lineales</a:t>
            </a:r>
            <a:r>
              <a:rPr lang="es-ES_tradnl" dirty="0"/>
              <a:t>:</a:t>
            </a:r>
          </a:p>
          <a:p>
            <a:pPr marL="971550" lvl="1" indent="-514350">
              <a:lnSpc>
                <a:spcPct val="120000"/>
              </a:lnSpc>
              <a:buFont typeface="+mj-lt"/>
              <a:buAutoNum type="alphaLcPeriod"/>
            </a:pPr>
            <a:r>
              <a:rPr lang="es-ES_tradnl" dirty="0"/>
              <a:t>Polinomios</a:t>
            </a:r>
          </a:p>
          <a:p>
            <a:pPr marL="971550" lvl="1" indent="-514350">
              <a:lnSpc>
                <a:spcPct val="120000"/>
              </a:lnSpc>
              <a:buAutoNum type="alphaLcPeriod"/>
            </a:pPr>
            <a:r>
              <a:rPr lang="es-ES_tradnl" dirty="0"/>
              <a:t>Step </a:t>
            </a:r>
            <a:r>
              <a:rPr lang="es-ES_tradnl" dirty="0" err="1"/>
              <a:t>Functions</a:t>
            </a:r>
            <a:endParaRPr lang="es-ES_tradnl" dirty="0"/>
          </a:p>
          <a:p>
            <a:pPr marL="971550" lvl="1" indent="-514350">
              <a:lnSpc>
                <a:spcPct val="120000"/>
              </a:lnSpc>
              <a:buAutoNum type="alphaLcPeriod"/>
            </a:pPr>
            <a:r>
              <a:rPr lang="es-ES_tradnl" dirty="0" err="1"/>
              <a:t>Splines</a:t>
            </a:r>
            <a:r>
              <a:rPr lang="es-ES_tradnl" dirty="0"/>
              <a:t> -&gt; Aplicación</a:t>
            </a:r>
          </a:p>
          <a:p>
            <a:pPr marL="971550" lvl="1" indent="-514350">
              <a:lnSpc>
                <a:spcPct val="120000"/>
              </a:lnSpc>
              <a:buAutoNum type="alphaLcPeriod"/>
            </a:pPr>
            <a:r>
              <a:rPr lang="es-ES_tradnl" dirty="0"/>
              <a:t>Regresiones locales</a:t>
            </a:r>
          </a:p>
          <a:p>
            <a:pPr marL="514350" indent="-514350">
              <a:lnSpc>
                <a:spcPct val="120000"/>
              </a:lnSpc>
              <a:buAutoNum type="arabicPeriod"/>
            </a:pPr>
            <a:endParaRPr lang="es-ES_tradnl" dirty="0"/>
          </a:p>
          <a:p>
            <a:pPr marL="0" indent="0">
              <a:lnSpc>
                <a:spcPct val="120000"/>
              </a:lnSpc>
              <a:buNone/>
            </a:pPr>
            <a:endParaRPr lang="es-ES_tradn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B0393B2-27BD-5888-9D83-58D8D3F723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3549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C42471-9418-E3E3-C7E5-30087178FA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Reducción de la Dimensionalidad: Motivación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A780597-6948-B78E-E6E3-6E4F9F1321E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References</a:t>
            </a:r>
          </a:p>
          <a:p>
            <a:r>
              <a:rPr lang="es-AR" sz="2400" b="1" dirty="0">
                <a:solidFill>
                  <a:srgbClr val="00663D"/>
                </a:solidFill>
                <a:effectLst/>
                <a:latin typeface="Times" pitchFamily="2" charset="0"/>
                <a:ea typeface="Times" pitchFamily="2" charset="0"/>
                <a:cs typeface="Times" pitchFamily="2" charset="0"/>
              </a:rPr>
              <a:t>† </a:t>
            </a:r>
            <a:r>
              <a:rPr lang="en-US" sz="2400" dirty="0"/>
              <a:t>James, G., Witten, D., Hastie, T., Tibshirani, R., &amp; Taylor, J. (2023). </a:t>
            </a:r>
            <a:r>
              <a:rPr lang="en-US" sz="2400" i="1" dirty="0"/>
              <a:t>An introduction to statistical learning: With applications in Python. </a:t>
            </a:r>
            <a:r>
              <a:rPr lang="en-US" b="1" dirty="0"/>
              <a:t>Chap. 6.3</a:t>
            </a:r>
            <a:endParaRPr lang="en-US" i="1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18F5EC8-9CA8-BFFB-D2D0-21A5435315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86652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10E4FD-2DBC-AAD4-5AD2-71B1A7DA0C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¿Qué hicimos en la clase de Regularización?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DCB7428-BAF8-C43C-0F61-3A249901DD5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lnSpcReduction="10000"/>
              </a:bodyPr>
              <a:lstStyle/>
              <a:p>
                <a:r>
                  <a:rPr lang="es-ES_tradnl" dirty="0"/>
                  <a:t>Controlar la varianza de </a:t>
                </a:r>
                <a:r>
                  <a:rPr lang="es-ES_tradnl" dirty="0">
                    <a:solidFill>
                      <a:srgbClr val="0070C0"/>
                    </a:solidFill>
                  </a:rPr>
                  <a:t>error de predicción </a:t>
                </a:r>
                <a:r>
                  <a:rPr lang="es-ES_tradnl" dirty="0"/>
                  <a:t>de </a:t>
                </a:r>
                <a:r>
                  <a:rPr lang="es-ES_tradnl" dirty="0">
                    <a:solidFill>
                      <a:srgbClr val="002060"/>
                    </a:solidFill>
                  </a:rPr>
                  <a:t>modelos lineales</a:t>
                </a:r>
                <a:r>
                  <a:rPr lang="es-ES_tradnl" dirty="0"/>
                  <a:t>:</a:t>
                </a:r>
              </a:p>
              <a:p>
                <a:pPr marL="971550" lvl="1" indent="-514350">
                  <a:buFont typeface="+mj-lt"/>
                  <a:buAutoNum type="arabicPeriod"/>
                </a:pPr>
                <a:r>
                  <a:rPr lang="es-ES_tradnl" dirty="0"/>
                  <a:t>Seleccionando un </a:t>
                </a:r>
                <a:r>
                  <a:rPr lang="es-ES_tradnl" dirty="0">
                    <a:solidFill>
                      <a:srgbClr val="002060"/>
                    </a:solidFill>
                  </a:rPr>
                  <a:t>subconjunto</a:t>
                </a:r>
                <a:r>
                  <a:rPr lang="es-ES_tradnl" dirty="0"/>
                  <a:t> de predictores (</a:t>
                </a:r>
                <a:r>
                  <a:rPr lang="es-ES_tradnl" dirty="0" err="1"/>
                  <a:t>Best</a:t>
                </a:r>
                <a:r>
                  <a:rPr lang="es-ES_tradnl" dirty="0"/>
                  <a:t> </a:t>
                </a:r>
                <a:r>
                  <a:rPr lang="es-ES_tradnl" dirty="0" err="1"/>
                  <a:t>Subset</a:t>
                </a:r>
                <a:r>
                  <a:rPr lang="es-ES_tradnl" dirty="0"/>
                  <a:t>, </a:t>
                </a:r>
                <a:r>
                  <a:rPr lang="es-ES_tradnl" dirty="0" err="1"/>
                  <a:t>Stepwise</a:t>
                </a:r>
                <a:r>
                  <a:rPr lang="es-ES_tradnl" dirty="0"/>
                  <a:t> selección y Lasso)</a:t>
                </a:r>
              </a:p>
              <a:p>
                <a:pPr marL="971550" lvl="1" indent="-514350">
                  <a:buFont typeface="+mj-lt"/>
                  <a:buAutoNum type="arabicPeriod"/>
                </a:pPr>
                <a:r>
                  <a:rPr lang="es-ES_tradnl" dirty="0"/>
                  <a:t>Regularización: Reduciendo coeficientes a 0 (Ridge, Lasso, </a:t>
                </a:r>
                <a:r>
                  <a:rPr lang="es-ES_tradnl" dirty="0" err="1"/>
                  <a:t>Elastic</a:t>
                </a:r>
                <a:r>
                  <a:rPr lang="es-ES_tradnl" dirty="0"/>
                  <a:t> Net)</a:t>
                </a:r>
              </a:p>
              <a:p>
                <a:r>
                  <a:rPr lang="es-ES_tradnl" dirty="0">
                    <a:solidFill>
                      <a:srgbClr val="002060"/>
                    </a:solidFill>
                  </a:rPr>
                  <a:t>Método de Reducción de la Dimensionalidad</a:t>
                </a:r>
                <a:r>
                  <a:rPr lang="es-ES_tradnl" dirty="0"/>
                  <a:t>: busca </a:t>
                </a:r>
              </a:p>
              <a:p>
                <a:pPr marL="971550" lvl="1" indent="-514350">
                  <a:buFont typeface="+mj-lt"/>
                  <a:buAutoNum type="arabicPeriod"/>
                </a:pPr>
                <a:r>
                  <a:rPr lang="es-ES_tradnl" dirty="0"/>
                  <a:t>Transformar los predictores  </a:t>
                </a:r>
              </a:p>
              <a:p>
                <a:pPr marL="971550" lvl="1" indent="-514350">
                  <a:buFont typeface="+mj-lt"/>
                  <a:buAutoNum type="arabicPeriod"/>
                </a:pPr>
                <a:r>
                  <a:rPr lang="es-ES_tradnl" dirty="0"/>
                  <a:t>Usar MCO para estimar </a:t>
                </a:r>
                <a14:m>
                  <m:oMath xmlns:m="http://schemas.openxmlformats.org/officeDocument/2006/math">
                    <m:r>
                      <a:rPr lang="es-ES_tradnl" i="1" dirty="0" smtClean="0">
                        <a:latin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lang="es-ES_tradnl" dirty="0"/>
                  <a:t> en los predictores </a:t>
                </a:r>
                <a:r>
                  <a:rPr lang="es-ES_tradnl" dirty="0">
                    <a:solidFill>
                      <a:srgbClr val="002060"/>
                    </a:solidFill>
                  </a:rPr>
                  <a:t>transformados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DCB7428-BAF8-C43C-0F61-3A249901DD5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327" t="-2907"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DD0D8F6-F6DB-41E8-B614-0A42A5FF36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45285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10E4FD-2DBC-AAD4-5AD2-71B1A7DA0C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ES_tradnl" sz="4000" dirty="0"/>
              <a:t>Métodos de Reducción de la Dimensionalidad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DCB7428-BAF8-C43C-0F61-3A249901DD5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70000" lnSpcReduction="20000"/>
              </a:bodyPr>
              <a:lstStyle/>
              <a:p>
                <a:pPr>
                  <a:lnSpc>
                    <a:spcPct val="120000"/>
                  </a:lnSpc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es-ES_tradnl" dirty="0"/>
                  <a:t> predictores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0" smtClean="0">
                        <a:latin typeface="Cambria Math" panose="02040503050406030204" pitchFamily="18" charset="0"/>
                      </a:rPr>
                      <m:t>, …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</m:sSub>
                  </m:oMath>
                </a14:m>
                <a:endParaRPr lang="es-ES_tradnl" i="1" dirty="0"/>
              </a:p>
              <a:p>
                <a:pPr>
                  <a:lnSpc>
                    <a:spcPct val="120000"/>
                  </a:lnSpc>
                </a:pPr>
                <a:r>
                  <a:rPr lang="es-ES_tradnl" dirty="0">
                    <a:solidFill>
                      <a:srgbClr val="002060"/>
                    </a:solidFill>
                  </a:rPr>
                  <a:t>Transformación de predictores</a:t>
                </a:r>
                <a:r>
                  <a:rPr lang="es-ES_tradnl" i="1" dirty="0"/>
                  <a:t>:</a:t>
                </a:r>
                <a:r>
                  <a:rPr lang="es-ES_tradnl" dirty="0"/>
                  <a:t> una combinación lineal de los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es-ES_tradnl" i="1" dirty="0"/>
                  <a:t> </a:t>
                </a:r>
                <a:r>
                  <a:rPr lang="es-ES_tradnl" dirty="0"/>
                  <a:t>predictores originales</a:t>
                </a:r>
              </a:p>
              <a:p>
                <a:pPr marL="0" indent="0">
                  <a:lnSpc>
                    <a:spcPct val="12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𝑍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sup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𝜙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𝑗𝑚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</m:e>
                      </m:nary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        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d>
                    </m:oMath>
                  </m:oMathPara>
                </a14:m>
                <a:endParaRPr lang="es-ES_tradnl" dirty="0"/>
              </a:p>
              <a:p>
                <a:pPr marL="0" indent="0">
                  <a:lnSpc>
                    <a:spcPct val="120000"/>
                  </a:lnSpc>
                  <a:buNone/>
                </a:pPr>
                <a:r>
                  <a:rPr lang="es-ES_tradnl" dirty="0"/>
                  <a:t>Con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=1,…,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lang="es-ES_tradnl" dirty="0"/>
                  <a:t> y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𝑀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endParaRPr lang="es-ES_tradnl" dirty="0"/>
              </a:p>
              <a:p>
                <a:pPr>
                  <a:lnSpc>
                    <a:spcPct val="1200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𝜙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𝜙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,…,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𝜙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</m:oMath>
                </a14:m>
                <a:r>
                  <a:rPr lang="es-ES_tradnl" dirty="0"/>
                  <a:t> coeficientes constantes -&gt; los métodos se </a:t>
                </a:r>
                <a:r>
                  <a:rPr lang="es-ES_tradnl" dirty="0">
                    <a:solidFill>
                      <a:srgbClr val="002060"/>
                    </a:solidFill>
                  </a:rPr>
                  <a:t>diferencian</a:t>
                </a:r>
                <a:r>
                  <a:rPr lang="es-ES_tradnl" dirty="0"/>
                  <a:t> aquí, en la construcción de estas ponderaciones para cada predictor.</a:t>
                </a:r>
              </a:p>
              <a:p>
                <a:pPr>
                  <a:lnSpc>
                    <a:spcPct val="120000"/>
                  </a:lnSpc>
                </a:pPr>
                <a:r>
                  <a:rPr lang="es-ES_tradnl" dirty="0">
                    <a:solidFill>
                      <a:srgbClr val="FF0000"/>
                    </a:solidFill>
                  </a:rPr>
                  <a:t>Idea</a:t>
                </a:r>
                <a:r>
                  <a:rPr lang="es-ES_tradnl" dirty="0"/>
                  <a:t>: Buscamos un </a:t>
                </a:r>
                <a:r>
                  <a:rPr lang="es-ES_tradnl" dirty="0">
                    <a:solidFill>
                      <a:srgbClr val="002060"/>
                    </a:solidFill>
                  </a:rPr>
                  <a:t>menor número de predictores </a:t>
                </a:r>
                <a:r>
                  <a:rPr lang="es-ES_tradnl" dirty="0"/>
                  <a:t>al usar las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lang="es-ES_tradnl" dirty="0"/>
                  <a:t> transformaciones, pero con toda la información de los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es-ES_tradnl" dirty="0"/>
                  <a:t> predictores</a:t>
                </a:r>
              </a:p>
              <a:p>
                <a:pPr>
                  <a:lnSpc>
                    <a:spcPct val="120000"/>
                  </a:lnSpc>
                </a:pPr>
                <a:endParaRPr lang="es-ES_tradnl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DCB7428-BAF8-C43C-0F61-3A249901DD5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724" t="-1163"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5C9053A-FF2F-96E6-3062-D5A770A312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83714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7B2E08-489C-3E76-5C3F-587A964E44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Relevancia: ¿Cuándo es útil dichos métodos?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CE4B15E-049C-D8A5-E8D1-76307FF24C4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 anchor="t"/>
              <a:lstStyle/>
              <a:p>
                <a:pPr>
                  <a:lnSpc>
                    <a:spcPct val="150000"/>
                  </a:lnSpc>
                </a:pPr>
                <a:r>
                  <a:rPr lang="es-ES_tradnl" dirty="0"/>
                  <a:t>Muy útil cuando hay </a:t>
                </a:r>
                <a:r>
                  <a:rPr lang="es-ES_tradnl" dirty="0">
                    <a:solidFill>
                      <a:srgbClr val="FF0000"/>
                    </a:solidFill>
                  </a:rPr>
                  <a:t>alta correlación </a:t>
                </a:r>
                <a:r>
                  <a:rPr lang="es-ES_tradnl" dirty="0"/>
                  <a:t>entre los predictores y la varianza de los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𝑀𝐶𝑂</m:t>
                        </m:r>
                      </m:sub>
                    </m:sSub>
                  </m:oMath>
                </a14:m>
                <a:r>
                  <a:rPr lang="es-ES_tradnl" dirty="0"/>
                  <a:t> muy grande.</a:t>
                </a:r>
              </a:p>
              <a:p>
                <a:pPr>
                  <a:lnSpc>
                    <a:spcPct val="150000"/>
                  </a:lnSpc>
                </a:pPr>
                <a:endParaRPr lang="es-ES_tradnl" sz="600" dirty="0"/>
              </a:p>
              <a:p>
                <a:r>
                  <a:rPr lang="es-ES_tradnl" dirty="0"/>
                  <a:t>Otra solución cuando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US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endParaRPr lang="es-ES_tradnl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CE4B15E-049C-D8A5-E8D1-76307FF24C4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327"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E637DA8-6D4A-9231-0EC3-40551420E4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0125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C42471-9418-E3E3-C7E5-30087178FA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Regresión por Componentes Principales (PCR)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A780597-6948-B78E-E6E3-6E4F9F1321E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References</a:t>
            </a:r>
          </a:p>
          <a:p>
            <a:r>
              <a:rPr lang="es-AR" sz="2400" b="1" dirty="0">
                <a:solidFill>
                  <a:srgbClr val="00663D"/>
                </a:solidFill>
                <a:effectLst/>
                <a:latin typeface="Times" pitchFamily="2" charset="0"/>
                <a:ea typeface="Times" pitchFamily="2" charset="0"/>
                <a:cs typeface="Times" pitchFamily="2" charset="0"/>
              </a:rPr>
              <a:t>† </a:t>
            </a:r>
            <a:r>
              <a:rPr lang="en-US" sz="2400" dirty="0"/>
              <a:t>James, G., Witten, D., Hastie, T., Tibshirani, R., &amp; Taylor, J. (2023). </a:t>
            </a:r>
            <a:r>
              <a:rPr lang="en-US" sz="2400" i="1" dirty="0"/>
              <a:t>An introduction to statistical learning: With applications in Python. </a:t>
            </a:r>
            <a:r>
              <a:rPr lang="en-US" b="1" dirty="0"/>
              <a:t>Chap. 6.3.1</a:t>
            </a:r>
            <a:endParaRPr lang="en-US" i="1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18F5EC8-9CA8-BFFB-D2D0-21A5435315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287465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19CDA2-FBFD-4435-09C4-88FAECC458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Regresión por Componentes Principales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2DE2FE6-2D21-0373-E669-031C93ACF98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85000" lnSpcReduction="20000"/>
              </a:bodyPr>
              <a:lstStyle/>
              <a:p>
                <a:pPr marL="514350" indent="-514350">
                  <a:lnSpc>
                    <a:spcPct val="120000"/>
                  </a:lnSpc>
                  <a:spcBef>
                    <a:spcPts val="0"/>
                  </a:spcBef>
                  <a:buFont typeface="+mj-lt"/>
                  <a:buAutoNum type="arabicPeriod"/>
                </a:pPr>
                <a:r>
                  <a:rPr lang="es-ES_tradnl" dirty="0"/>
                  <a:t>Obtener los componentes principales con PCA(</a:t>
                </a:r>
                <a:r>
                  <a:rPr lang="es-ES_tradnl" dirty="0">
                    <a:solidFill>
                      <a:srgbClr val="0070C0"/>
                    </a:solidFill>
                  </a:rPr>
                  <a:t>C3</a:t>
                </a:r>
                <a:r>
                  <a:rPr lang="es-ES_tradnl" dirty="0"/>
                  <a:t>):  </a:t>
                </a:r>
              </a:p>
              <a:p>
                <a:pPr marL="0" indent="0">
                  <a:lnSpc>
                    <a:spcPct val="120000"/>
                  </a:lnSpc>
                  <a:spcBef>
                    <a:spcPts val="0"/>
                  </a:spcBef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𝑍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sup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𝜙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𝑗𝑚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es-ES_tradnl" dirty="0"/>
              </a:p>
              <a:p>
                <a:pPr marL="514350" indent="-514350">
                  <a:lnSpc>
                    <a:spcPct val="120000"/>
                  </a:lnSpc>
                  <a:spcBef>
                    <a:spcPts val="0"/>
                  </a:spcBef>
                  <a:buFont typeface="+mj-lt"/>
                  <a:buAutoNum type="arabicPeriod" startAt="2"/>
                </a:pPr>
                <a:r>
                  <a:rPr lang="es-ES_tradnl" dirty="0"/>
                  <a:t>Regresar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lang="es-ES_tradnl" dirty="0"/>
                  <a:t> en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𝑍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</m:oMath>
                </a14:m>
                <a:r>
                  <a:rPr lang="es-US" dirty="0"/>
                  <a:t>: </a:t>
                </a:r>
              </a:p>
              <a:p>
                <a:pPr marL="0" indent="0">
                  <a:lnSpc>
                    <a:spcPct val="120000"/>
                  </a:lnSpc>
                  <a:spcBef>
                    <a:spcPts val="0"/>
                  </a:spcBef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nary>
                        <m:naryPr>
                          <m:chr m:val="∑"/>
                          <m:limLoc m:val="subSup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5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𝑀</m:t>
                          </m:r>
                        </m:sup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𝑖𝑚</m:t>
                              </m:r>
                            </m:sub>
                          </m:sSub>
                        </m:e>
                      </m:nary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𝜖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n-US" b="0" dirty="0"/>
              </a:p>
              <a:p>
                <a:pPr marL="0" indent="0">
                  <a:lnSpc>
                    <a:spcPct val="120000"/>
                  </a:lnSpc>
                  <a:spcBef>
                    <a:spcPts val="0"/>
                  </a:spcBef>
                  <a:buNone/>
                </a:pPr>
                <a:endParaRPr lang="es-ES_tradnl" sz="1000" dirty="0"/>
              </a:p>
              <a:p>
                <a:pPr marL="0" indent="0">
                  <a:lnSpc>
                    <a:spcPct val="120000"/>
                  </a:lnSpc>
                  <a:spcBef>
                    <a:spcPts val="0"/>
                  </a:spcBef>
                  <a:buNone/>
                </a:pPr>
                <a:r>
                  <a:rPr lang="es-ES_tradnl" dirty="0"/>
                  <a:t>¿Cómo elegimos el número de componentes?</a:t>
                </a:r>
              </a:p>
              <a:p>
                <a:pPr lvl="1">
                  <a:lnSpc>
                    <a:spcPct val="120000"/>
                  </a:lnSpc>
                  <a:spcBef>
                    <a:spcPts val="0"/>
                  </a:spcBef>
                </a:pPr>
                <a:r>
                  <a:rPr lang="es-ES_tradnl" dirty="0"/>
                  <a:t>Cross </a:t>
                </a:r>
                <a:r>
                  <a:rPr lang="es-ES_tradnl" dirty="0" err="1"/>
                  <a:t>Validation</a:t>
                </a:r>
                <a:endParaRPr lang="es-ES_tradnl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2DE2FE6-2D21-0373-E669-031C93ACF98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327" t="-15698" b="-27326"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A24C9DF-C909-6AEF-F737-502315EAE6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577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ED70F5-7278-BBBE-787E-3CC55D5214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Elección de Número de Componentes</a:t>
            </a:r>
          </a:p>
        </p:txBody>
      </p:sp>
      <p:pic>
        <p:nvPicPr>
          <p:cNvPr id="6" name="Content Placeholder 5" descr="A comparison of a number of components&#10;&#10;Description automatically generated with medium confidence">
            <a:extLst>
              <a:ext uri="{FF2B5EF4-FFF2-40B4-BE49-F238E27FC236}">
                <a16:creationId xmlns:a16="http://schemas.microsoft.com/office/drawing/2014/main" id="{BF335939-A0DD-7330-2BC4-5962A0E8137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43191" y="1909011"/>
            <a:ext cx="10177735" cy="4053965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F0B133F-1C6E-B879-DA06-599B784930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9</a:t>
            </a:fld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826AA94-AD6F-0B00-B6DD-922C2C82AC58}"/>
              </a:ext>
            </a:extLst>
          </p:cNvPr>
          <p:cNvSpPr txBox="1"/>
          <p:nvPr/>
        </p:nvSpPr>
        <p:spPr>
          <a:xfrm>
            <a:off x="1482621" y="6203656"/>
            <a:ext cx="5181599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effectLst/>
                <a:latin typeface="Gill Sans Nova Light" panose="020B0302020104020203" pitchFamily="34" charset="0"/>
              </a:rPr>
              <a:t>Fuente: James, Witten, Hastie, Tibshirani</a:t>
            </a:r>
            <a:r>
              <a:rPr lang="en-US" sz="1600" dirty="0">
                <a:latin typeface="Gill Sans Nova Light" panose="020B0302020104020203" pitchFamily="34" charset="0"/>
              </a:rPr>
              <a:t> &amp; Taylor (</a:t>
            </a:r>
            <a:r>
              <a:rPr lang="en-US" sz="1600" dirty="0">
                <a:effectLst/>
                <a:latin typeface="Gill Sans Nova Light" panose="020B0302020104020203" pitchFamily="34" charset="0"/>
              </a:rPr>
              <a:t>2023). p.</a:t>
            </a:r>
            <a:r>
              <a:rPr lang="en-US" sz="1600" dirty="0">
                <a:latin typeface="Gill Sans Nova Light" panose="020B0302020104020203" pitchFamily="34" charset="0"/>
              </a:rPr>
              <a:t>258</a:t>
            </a:r>
            <a:r>
              <a:rPr lang="en-US" sz="1600" dirty="0">
                <a:effectLst/>
                <a:latin typeface="Gill Sans Nova Light" panose="020B0302020104020203" pitchFamily="34" charset="0"/>
              </a:rPr>
              <a:t> </a:t>
            </a:r>
            <a:endParaRPr lang="en-US" sz="4400" dirty="0">
              <a:effectLst/>
              <a:latin typeface="Gill Sans Nova Light" panose="020B03020201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8308567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E81AB89-405F-5B64-CB2D-D10ACDDD15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PCR: </a:t>
            </a:r>
            <a:r>
              <a:rPr lang="es-ES_tradnl" i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Intuición, Ventaja &amp; Desventaja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F0C424BC-D956-5B70-3FD3-0C65FA0DEB1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s-ES_tradnl" dirty="0">
                    <a:solidFill>
                      <a:srgbClr val="0070C0"/>
                    </a:solidFill>
                  </a:rPr>
                  <a:t>Intuición</a:t>
                </a:r>
                <a:r>
                  <a:rPr lang="es-ES_tradnl" dirty="0"/>
                  <a:t>: Reduce el problema de estimar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+1</m:t>
                    </m:r>
                  </m:oMath>
                </a14:m>
                <a:r>
                  <a:rPr lang="es-ES_tradnl" dirty="0"/>
                  <a:t> coeficientes del modelo original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,…,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</m:sSub>
                  </m:oMath>
                </a14:m>
                <a:r>
                  <a:rPr lang="es-ES_tradnl" dirty="0"/>
                  <a:t>) a estimar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𝑀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+1</m:t>
                    </m:r>
                  </m:oMath>
                </a14:m>
                <a:r>
                  <a:rPr lang="es-ES_tradnl" dirty="0"/>
                  <a:t> coeficientes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,…,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𝑀</m:t>
                        </m:r>
                      </m:sub>
                    </m:sSub>
                  </m:oMath>
                </a14:m>
                <a:r>
                  <a:rPr lang="es-ES_tradnl" dirty="0"/>
                  <a:t>) </a:t>
                </a:r>
              </a:p>
              <a:p>
                <a:pPr>
                  <a:lnSpc>
                    <a:spcPct val="150000"/>
                  </a:lnSpc>
                </a:pPr>
                <a:r>
                  <a:rPr lang="es-ES_tradnl" dirty="0">
                    <a:solidFill>
                      <a:srgbClr val="00B050"/>
                    </a:solidFill>
                  </a:rPr>
                  <a:t>Ventaja</a:t>
                </a:r>
                <a:r>
                  <a:rPr lang="es-ES_tradnl" dirty="0"/>
                  <a:t>: Performance de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lang="es-ES_tradnl" dirty="0"/>
                  <a:t> en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𝑍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</m:oMath>
                </a14:m>
                <a:r>
                  <a:rPr lang="en-US" dirty="0"/>
                  <a:t> &gt; </a:t>
                </a:r>
                <a:r>
                  <a:rPr lang="es-ES_tradnl" dirty="0"/>
                  <a:t>Performance de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lang="es-ES_tradnl" dirty="0"/>
                  <a:t> en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endParaRPr lang="es-ES_tradnl" dirty="0"/>
              </a:p>
              <a:p>
                <a:pPr>
                  <a:lnSpc>
                    <a:spcPct val="150000"/>
                  </a:lnSpc>
                </a:pPr>
                <a:r>
                  <a:rPr lang="es-ES_tradnl" dirty="0">
                    <a:solidFill>
                      <a:srgbClr val="FF0000"/>
                    </a:solidFill>
                  </a:rPr>
                  <a:t>Desventaja</a:t>
                </a:r>
                <a:r>
                  <a:rPr lang="es-ES_tradnl" dirty="0"/>
                  <a:t>: Perdemos interpretabilidad de la relación entre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lang="es-ES_tradnl" dirty="0"/>
                  <a:t> y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endParaRPr lang="es-ES_tradnl" dirty="0"/>
              </a:p>
              <a:p>
                <a:pPr>
                  <a:lnSpc>
                    <a:spcPct val="150000"/>
                  </a:lnSpc>
                </a:pPr>
                <a:endParaRPr lang="es-ES_tradnl" dirty="0"/>
              </a:p>
              <a:p>
                <a:endParaRPr lang="es-ES_tradnl" dirty="0"/>
              </a:p>
            </p:txBody>
          </p:sp>
        </mc:Choice>
        <mc:Fallback xmlns=""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F0C424BC-D956-5B70-3FD3-0C65FA0DEB1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06"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D0873731-B5C3-409B-054F-8EEAB1708D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79660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1547ED6-E0B0-7534-6CC5-8D3F1E8567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PCR y Modelo lineal general I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B5931804-7A9D-6F46-201E-D02A4BA9DE6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77500" lnSpcReduction="20000"/>
              </a:bodyPr>
              <a:lstStyle/>
              <a:p>
                <a:r>
                  <a:rPr lang="es-ES_tradnl" dirty="0"/>
                  <a:t>Modelo lineal general: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𝑌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+</m:t>
                    </m:r>
                    <m:nary>
                      <m:naryPr>
                        <m:chr m:val="∑"/>
                        <m:limLoc m:val="subSup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1"/>
                          </m:rPr>
                          <a:rPr lang="en-US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sup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𝛽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</m:e>
                    </m:nary>
                    <m:r>
                      <a:rPr lang="en-US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𝜖</m:t>
                    </m:r>
                  </m:oMath>
                </a14:m>
                <a:endParaRPr lang="es-ES_tradnl" dirty="0"/>
              </a:p>
              <a:p>
                <a:r>
                  <a:rPr lang="es-ES_tradnl" dirty="0"/>
                  <a:t>PCR: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+</m:t>
                    </m:r>
                    <m:nary>
                      <m:naryPr>
                        <m:chr m:val="∑"/>
                        <m:limLoc m:val="subSup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5"/>
                          </m:rPr>
                          <a:rPr lang="en-US" i="1"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𝑀</m:t>
                        </m:r>
                      </m:sup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𝑚</m:t>
                            </m:r>
                          </m:sub>
                        </m:sSub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𝑖𝑚</m:t>
                            </m:r>
                          </m:sub>
                        </m:sSub>
                      </m:e>
                    </m:nary>
                    <m:r>
                      <a:rPr lang="en-US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𝜖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endParaRPr lang="es-ES_tradnl" dirty="0"/>
              </a:p>
              <a:p>
                <a:r>
                  <a:rPr lang="es-ES_tradnl" dirty="0"/>
                  <a:t>Entonces: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limLoc m:val="subSup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5"/>
                            </m:rPr>
                            <a:rPr lang="en-US" i="1">
                              <a:latin typeface="Cambria Math" panose="02040503050406030204" pitchFamily="18" charset="0"/>
                            </a:rPr>
                            <m:t>𝑚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𝑀</m:t>
                          </m:r>
                        </m:sup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b>
                              <m:r>
                                <a:rPr lang="en-US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𝑖𝑚</m:t>
                              </m:r>
                            </m:sub>
                          </m:sSub>
                        </m:e>
                      </m:nary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limLoc m:val="subSup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5"/>
                            </m:rPr>
                            <a:rPr lang="en-US" i="1">
                              <a:latin typeface="Cambria Math" panose="02040503050406030204" pitchFamily="18" charset="0"/>
                            </a:rPr>
                            <m:t>𝑚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𝑀</m:t>
                          </m:r>
                        </m:sup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sub>
                          </m:sSub>
                          <m:nary>
                            <m:naryPr>
                              <m:chr m:val="∑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sup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𝜙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𝑗𝑚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</m:e>
                          </m:nary>
                        </m:e>
                      </m:nary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i="1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𝑝</m:t>
                          </m:r>
                        </m:sup>
                        <m:e>
                          <m:nary>
                            <m:naryPr>
                              <m:chr m:val="∑"/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𝑀</m:t>
                              </m:r>
                            </m:sup>
                            <m:e>
                              <m:sSub>
                                <m:sSubPr>
                                  <m:ctrlPr>
                                    <a:rPr lang="en-US" i="1" smtClean="0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  <m:sub>
                                  <m:r>
                                    <a:rPr lang="en-US" i="1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sub>
                              </m:sSub>
                            </m:e>
                          </m:nary>
                          <m:sSub>
                            <m:sSubPr>
                              <m:ctrlPr>
                                <a:rPr lang="en-US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𝜙</m:t>
                              </m:r>
                            </m:e>
                            <m:sub>
                              <m:r>
                                <a:rPr lang="en-US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𝑗𝑚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𝑖𝑗</m:t>
                              </m:r>
                            </m:sub>
                          </m:sSub>
                        </m:e>
                      </m:nary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i="1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𝑝</m:t>
                          </m:r>
                        </m:sup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𝛽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𝑖𝑗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es-ES_tradnl" dirty="0"/>
              </a:p>
              <a:p>
                <a:pPr marL="0" indent="0">
                  <a:buNone/>
                </a:pPr>
                <a:r>
                  <a:rPr lang="es-ES_tradnl" dirty="0"/>
                  <a:t>Con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dirty="0"/>
                  <a:t>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ctrlPr>
                          <a:rPr lang="en-US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𝑀</m:t>
                        </m:r>
                      </m:sup>
                      <m:e>
                        <m:sSub>
                          <m:sSubPr>
                            <m:ctrlPr>
                              <a:rPr lang="en-US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en-US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𝑚</m:t>
                            </m:r>
                          </m:sub>
                        </m:sSub>
                      </m:e>
                    </m:nary>
                    <m:sSub>
                      <m:sSubPr>
                        <m:ctrlP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𝜙</m:t>
                        </m:r>
                      </m:e>
                      <m:sub>
                        <m: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𝑗𝑚</m:t>
                        </m:r>
                      </m:sub>
                    </m:sSub>
                  </m:oMath>
                </a14:m>
                <a:r>
                  <a:rPr lang="es-ES_tradnl" dirty="0"/>
                  <a:t> </a:t>
                </a:r>
                <a:r>
                  <a:rPr lang="es-US" dirty="0"/>
                  <a:t>→ </a:t>
                </a:r>
                <a:r>
                  <a:rPr lang="es-ES_tradnl" dirty="0"/>
                  <a:t>PCR es un </a:t>
                </a:r>
                <a:r>
                  <a:rPr lang="es-ES_tradnl" dirty="0">
                    <a:solidFill>
                      <a:srgbClr val="002060"/>
                    </a:solidFill>
                  </a:rPr>
                  <a:t>caso especial </a:t>
                </a:r>
                <a:r>
                  <a:rPr lang="es-ES_tradnl" dirty="0"/>
                  <a:t>del modelo lineal general (¿Por qué?)</a:t>
                </a:r>
              </a:p>
              <a:p>
                <a:endParaRPr lang="es-ES_tradnl" dirty="0"/>
              </a:p>
            </p:txBody>
          </p:sp>
        </mc:Choice>
        <mc:Fallback xmlns=""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B5931804-7A9D-6F46-201E-D02A4BA9DE6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65" t="-14826" b="-23837"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433CE38D-B76B-D91A-3945-EDE20284DA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738934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8FF89E-2BFC-CC5C-E105-836F32ADFF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7EFFB11-DEE3-1CF1-E763-0979999A7F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PCR y Modelo lineal general I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BE35CFA3-09F2-07DB-818F-367413A659E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lnSpcReduction="10000"/>
              </a:bodyPr>
              <a:lstStyle/>
              <a:p>
                <a:pPr marL="0" indent="0">
                  <a:buNone/>
                </a:pPr>
                <a:r>
                  <a:rPr lang="es-ES_tradnl" dirty="0"/>
                  <a:t>Con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dirty="0"/>
                  <a:t>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ctrlPr>
                          <a:rPr lang="en-US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𝑀</m:t>
                        </m:r>
                      </m:sup>
                      <m:e>
                        <m:sSub>
                          <m:sSubPr>
                            <m:ctrlPr>
                              <a:rPr lang="en-US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en-US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𝑚</m:t>
                            </m:r>
                          </m:sub>
                        </m:sSub>
                      </m:e>
                    </m:nary>
                    <m:sSub>
                      <m:sSubPr>
                        <m:ctrlP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𝜙</m:t>
                        </m:r>
                      </m:e>
                      <m:sub>
                        <m: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𝑗𝑚</m:t>
                        </m:r>
                      </m:sub>
                    </m:sSub>
                  </m:oMath>
                </a14:m>
                <a:r>
                  <a:rPr lang="es-ES_tradnl" dirty="0"/>
                  <a:t> </a:t>
                </a:r>
                <a:r>
                  <a:rPr lang="es-US" dirty="0"/>
                  <a:t>→ </a:t>
                </a:r>
                <a:r>
                  <a:rPr lang="es-ES_tradnl" dirty="0"/>
                  <a:t>PCR es un </a:t>
                </a:r>
                <a:r>
                  <a:rPr lang="es-ES_tradnl" dirty="0">
                    <a:solidFill>
                      <a:srgbClr val="002060"/>
                    </a:solidFill>
                  </a:rPr>
                  <a:t>caso especial </a:t>
                </a:r>
                <a:r>
                  <a:rPr lang="es-ES_tradnl" dirty="0"/>
                  <a:t>del modelo lineal general (¿Por qué?)</a:t>
                </a:r>
              </a:p>
              <a:p>
                <a:pPr lvl="1"/>
                <a:r>
                  <a:rPr lang="es-ES_tradnl" dirty="0"/>
                  <a:t>Esta restricción sesga los coeficientes estimados por OLS en el modelo general</a:t>
                </a:r>
              </a:p>
              <a:p>
                <a:pPr lvl="1"/>
                <a:r>
                  <a:rPr lang="es-ES_tradnl" dirty="0"/>
                  <a:t>Cuando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US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es-ES_tradnl" dirty="0"/>
                  <a:t> entonces elegir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𝑀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≪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es-ES_tradnl" dirty="0"/>
                  <a:t> reduce significantemente la varianza de los coeficientes</a:t>
                </a:r>
              </a:p>
              <a:p>
                <a:pPr lvl="1"/>
                <a:r>
                  <a:rPr lang="es-ES_tradnl" dirty="0"/>
                  <a:t>Cuando </a:t>
                </a:r>
                <a14:m>
                  <m:oMath xmlns:m="http://schemas.openxmlformats.org/officeDocument/2006/math">
                    <m:r>
                      <a:rPr lang="en-US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a:rPr lang="en-US" b="0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es-ES_tradnl" dirty="0"/>
                  <a:t> y todos los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𝑍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s-ES_tradnl" dirty="0">
                    <a:solidFill>
                      <a:srgbClr val="002060"/>
                    </a:solidFill>
                  </a:rPr>
                  <a:t> son linealmente independientes</a:t>
                </a:r>
                <a:r>
                  <a:rPr lang="es-ES_tradnl" dirty="0"/>
                  <a:t>, entonces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dirty="0"/>
                  <a:t>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i="1"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𝑀</m:t>
                        </m:r>
                      </m:sup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𝑚</m:t>
                            </m:r>
                          </m:sub>
                        </m:sSub>
                      </m:e>
                    </m:nary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𝜙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𝑗𝑚</m:t>
                        </m:r>
                      </m:sub>
                    </m:sSub>
                  </m:oMath>
                </a14:m>
                <a:r>
                  <a:rPr lang="es-ES_tradnl" dirty="0"/>
                  <a:t> no imponen ninguna restricción</a:t>
                </a:r>
              </a:p>
              <a:p>
                <a:pPr lvl="2"/>
                <a:r>
                  <a:rPr lang="es-ES_tradnl" dirty="0"/>
                  <a:t>No hay reducción de la dimensionalidad ya que es equivalente al modelo general</a:t>
                </a:r>
              </a:p>
              <a:p>
                <a:pPr lvl="1"/>
                <a:endParaRPr lang="es-ES_tradnl" dirty="0"/>
              </a:p>
              <a:p>
                <a:endParaRPr lang="es-ES_tradnl" dirty="0"/>
              </a:p>
            </p:txBody>
          </p:sp>
        </mc:Choice>
        <mc:Fallback xmlns=""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BE35CFA3-09F2-07DB-818F-367413A659E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568" t="-18314" r="-2413" b="-5814"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BB5145B8-9881-60CF-CF56-7F1AC59647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938085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ED70F5-7278-BBBE-787E-3CC55D5214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Comparando PCR con LASSO &amp; Ridge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F0B133F-1C6E-B879-DA06-599B784930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13</a:t>
            </a:fld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826AA94-AD6F-0B00-B6DD-922C2C82AC58}"/>
              </a:ext>
            </a:extLst>
          </p:cNvPr>
          <p:cNvSpPr txBox="1"/>
          <p:nvPr/>
        </p:nvSpPr>
        <p:spPr>
          <a:xfrm>
            <a:off x="1482621" y="6203656"/>
            <a:ext cx="5181599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effectLst/>
                <a:latin typeface="Gill Sans Nova Light" panose="020B0302020104020203" pitchFamily="34" charset="0"/>
              </a:rPr>
              <a:t>Fuente: James, Witten, Hastie, Tibshirani</a:t>
            </a:r>
            <a:r>
              <a:rPr lang="en-US" sz="1600" dirty="0">
                <a:latin typeface="Gill Sans Nova Light" panose="020B0302020104020203" pitchFamily="34" charset="0"/>
              </a:rPr>
              <a:t> &amp; Taylor (</a:t>
            </a:r>
            <a:r>
              <a:rPr lang="en-US" sz="1600" dirty="0">
                <a:effectLst/>
                <a:latin typeface="Gill Sans Nova Light" panose="020B0302020104020203" pitchFamily="34" charset="0"/>
              </a:rPr>
              <a:t>2023). p.</a:t>
            </a:r>
            <a:r>
              <a:rPr lang="en-US" sz="1600" dirty="0">
                <a:latin typeface="Gill Sans Nova Light" panose="020B0302020104020203" pitchFamily="34" charset="0"/>
              </a:rPr>
              <a:t>259</a:t>
            </a:r>
            <a:r>
              <a:rPr lang="en-US" sz="1600" dirty="0">
                <a:effectLst/>
                <a:latin typeface="Gill Sans Nova Light" panose="020B0302020104020203" pitchFamily="34" charset="0"/>
              </a:rPr>
              <a:t> </a:t>
            </a:r>
            <a:endParaRPr lang="en-US" sz="4400" dirty="0">
              <a:effectLst/>
              <a:latin typeface="Gill Sans Nova Light" panose="020B0302020104020203" pitchFamily="34" charset="0"/>
            </a:endParaRPr>
          </a:p>
        </p:txBody>
      </p:sp>
      <p:pic>
        <p:nvPicPr>
          <p:cNvPr id="9" name="Content Placeholder 8" descr="A comparison of a graph&#10;&#10;Description automatically generated with medium confidence">
            <a:extLst>
              <a:ext uri="{FF2B5EF4-FFF2-40B4-BE49-F238E27FC236}">
                <a16:creationId xmlns:a16="http://schemas.microsoft.com/office/drawing/2014/main" id="{841E36BE-E687-CBAB-EFFE-70ACC357573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53870" y="1690688"/>
            <a:ext cx="9342680" cy="4368006"/>
          </a:xfrm>
        </p:spPr>
      </p:pic>
    </p:spTree>
    <p:extLst>
      <p:ext uri="{BB962C8B-B14F-4D97-AF65-F5344CB8AC3E}">
        <p14:creationId xmlns:p14="http://schemas.microsoft.com/office/powerpoint/2010/main" val="12287768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5017D9-C559-76C9-154B-242D64FFF0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Consideración técnica: Recordatorio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F2CC90-9FB3-02D5-1229-B4B0F73AD9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200000"/>
              </a:lnSpc>
            </a:pPr>
            <a:r>
              <a:rPr lang="es-ES_tradnl" dirty="0"/>
              <a:t>Estandarizar las variables antes de usar PCR</a:t>
            </a:r>
          </a:p>
          <a:p>
            <a:pPr lvl="1">
              <a:lnSpc>
                <a:spcPct val="200000"/>
              </a:lnSpc>
            </a:pPr>
            <a:r>
              <a:rPr lang="es-ES_tradnl" b="0" dirty="0"/>
              <a:t>Al igual que en PCA, las </a:t>
            </a:r>
            <a:r>
              <a:rPr lang="es-ES_tradnl" dirty="0"/>
              <a:t>variables con alta varianza pueden influenciar la estimación de los coeficientes de cada componente.</a:t>
            </a:r>
          </a:p>
          <a:p>
            <a:pPr lvl="1">
              <a:lnSpc>
                <a:spcPct val="200000"/>
              </a:lnSpc>
            </a:pPr>
            <a:endParaRPr lang="es-ES_tradnl" b="0" dirty="0"/>
          </a:p>
          <a:p>
            <a:pPr>
              <a:lnSpc>
                <a:spcPct val="200000"/>
              </a:lnSpc>
            </a:pPr>
            <a:endParaRPr lang="es-ES_tradnl" b="0" dirty="0"/>
          </a:p>
          <a:p>
            <a:pPr>
              <a:lnSpc>
                <a:spcPct val="200000"/>
              </a:lnSpc>
            </a:pPr>
            <a:endParaRPr lang="es-ES_tradn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3C64194-4B01-401C-8018-3E8420BDF4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679285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C42471-9418-E3E3-C7E5-30087178FA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Mínimo Cuadrados Parciales (PLS)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A780597-6948-B78E-E6E3-6E4F9F1321E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References</a:t>
            </a:r>
          </a:p>
          <a:p>
            <a:r>
              <a:rPr lang="es-AR" sz="2400" b="1" dirty="0">
                <a:solidFill>
                  <a:srgbClr val="00663D"/>
                </a:solidFill>
                <a:effectLst/>
                <a:latin typeface="Times" pitchFamily="2" charset="0"/>
                <a:ea typeface="Times" pitchFamily="2" charset="0"/>
                <a:cs typeface="Times" pitchFamily="2" charset="0"/>
              </a:rPr>
              <a:t>† </a:t>
            </a:r>
            <a:r>
              <a:rPr lang="en-US" sz="2400" dirty="0"/>
              <a:t>James, G., Witten, D., Hastie, T., Tibshirani, R., &amp; Taylor, J. (2023). </a:t>
            </a:r>
            <a:r>
              <a:rPr lang="en-US" sz="2400" i="1" dirty="0"/>
              <a:t>An introduction to statistical learning: With applications in Python. </a:t>
            </a:r>
            <a:r>
              <a:rPr lang="en-US" b="1" dirty="0"/>
              <a:t>Chap. 6.3.2</a:t>
            </a:r>
            <a:endParaRPr lang="en-US" i="1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18F5EC8-9CA8-BFFB-D2D0-21A5435315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710005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1047C5-1CF1-5BD7-8E22-5FD0B175D3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PCA vs. Mínimo Cuadrado Parciales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EDEC7B7-FFAA-1B1E-300A-35BAE8E1B19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/>
              </a:bodyPr>
              <a:lstStyle/>
              <a:p>
                <a:r>
                  <a:rPr lang="es-ES_tradnl" dirty="0">
                    <a:solidFill>
                      <a:srgbClr val="00B050"/>
                    </a:solidFill>
                  </a:rPr>
                  <a:t>Alternativa a PCA</a:t>
                </a:r>
                <a:r>
                  <a:rPr lang="es-ES_tradnl" dirty="0"/>
                  <a:t>: Combinación lineal usando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s-ES_tradnl" dirty="0"/>
                  <a:t> 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endParaRPr lang="es-ES_tradnl" dirty="0"/>
              </a:p>
              <a:p>
                <a:r>
                  <a:rPr lang="es-ES_tradnl" dirty="0"/>
                  <a:t>Recordamos para PCA: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𝑍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sup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𝜙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𝑗𝑚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es-ES_tradnl" dirty="0"/>
              </a:p>
              <a:p>
                <a:r>
                  <a:rPr lang="es-ES_tradnl" dirty="0"/>
                  <a:t>Para el primer componente, teníamos: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ES_tradnl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S_tradnl" i="1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r>
                            <a:rPr lang="es-ES_tradnl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s-ES_tradnl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s-ES_tradnl" i="1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s-ES_tradnl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s-ES_tradnl" i="1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s-ES_tradnl" i="1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s-ES_tradnl" i="1">
                              <a:latin typeface="Cambria Math" panose="02040503050406030204" pitchFamily="18" charset="0"/>
                            </a:rPr>
                            <m:t>𝑝</m:t>
                          </m:r>
                        </m:sup>
                        <m:e>
                          <m:sSub>
                            <m:sSubPr>
                              <m:ctrlPr>
                                <a:rPr lang="es-ES_tradnl" i="1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ES_tradnl" i="1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𝜙</m:t>
                              </m:r>
                            </m:e>
                            <m:sub>
                              <m:r>
                                <a:rPr lang="es-ES_tradnl" i="1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es-ES_tradnl" i="1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sSub>
                            <m:sSubPr>
                              <m:ctrlPr>
                                <a:rPr lang="es-ES_tradnl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ES_tradnl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s-ES_tradnl" i="1">
                                  <a:latin typeface="Cambria Math" panose="02040503050406030204" pitchFamily="18" charset="0"/>
                                </a:rPr>
                                <m:t>𝑖𝑗</m:t>
                              </m:r>
                            </m:sub>
                          </m:sSub>
                        </m:e>
                      </m:nary>
                      <m:r>
                        <a:rPr lang="es-ES_tradnl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s-ES_tradnl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S_tradnl" i="1">
                              <a:latin typeface="Cambria Math" panose="02040503050406030204" pitchFamily="18" charset="0"/>
                            </a:rPr>
                            <m:t>𝜙</m:t>
                          </m:r>
                        </m:e>
                        <m:sub>
                          <m:r>
                            <a:rPr lang="es-ES_tradnl">
                              <a:latin typeface="Cambria Math" panose="02040503050406030204" pitchFamily="18" charset="0"/>
                            </a:rPr>
                            <m:t>11</m:t>
                          </m:r>
                        </m:sub>
                      </m:sSub>
                      <m:sSub>
                        <m:sSubPr>
                          <m:ctrlPr>
                            <a:rPr lang="es-ES_tradnl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S_tradnl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s-ES_tradnl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s-ES_tradnl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s-ES_tradnl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s-ES_tradnl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S_tradnl" i="1">
                              <a:latin typeface="Cambria Math" panose="02040503050406030204" pitchFamily="18" charset="0"/>
                            </a:rPr>
                            <m:t>𝜙</m:t>
                          </m:r>
                        </m:e>
                        <m:sub>
                          <m:r>
                            <a:rPr lang="es-ES_tradnl" i="1">
                              <a:latin typeface="Cambria Math" panose="02040503050406030204" pitchFamily="18" charset="0"/>
                            </a:rPr>
                            <m:t>21</m:t>
                          </m:r>
                        </m:sub>
                      </m:sSub>
                      <m:sSub>
                        <m:sSubPr>
                          <m:ctrlPr>
                            <a:rPr lang="es-ES_tradnl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S_tradnl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s-ES_tradnl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s-ES_tradnl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s-ES_tradnl" i="1">
                          <a:latin typeface="Cambria Math" panose="02040503050406030204" pitchFamily="18" charset="0"/>
                        </a:rPr>
                        <m:t>+…+</m:t>
                      </m:r>
                      <m:sSub>
                        <m:sSubPr>
                          <m:ctrlPr>
                            <a:rPr lang="es-ES_tradnl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S_tradnl" i="1">
                              <a:latin typeface="Cambria Math" panose="02040503050406030204" pitchFamily="18" charset="0"/>
                            </a:rPr>
                            <m:t>𝜙</m:t>
                          </m:r>
                        </m:e>
                        <m:sub>
                          <m:r>
                            <a:rPr lang="es-ES_tradnl" i="1">
                              <a:latin typeface="Cambria Math" panose="02040503050406030204" pitchFamily="18" charset="0"/>
                            </a:rPr>
                            <m:t>𝑝</m:t>
                          </m:r>
                          <m:r>
                            <a:rPr lang="es-ES_tradnl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s-ES_tradnl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S_tradnl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s-ES_tradnl" i="1">
                              <a:latin typeface="Cambria Math" panose="02040503050406030204" pitchFamily="18" charset="0"/>
                            </a:rPr>
                            <m:t>𝑖𝑝</m:t>
                          </m:r>
                        </m:sub>
                      </m:sSub>
                    </m:oMath>
                  </m:oMathPara>
                </a14:m>
                <a:endParaRPr lang="es-ES_tradnl" dirty="0"/>
              </a:p>
              <a:p>
                <a:endParaRPr lang="es-ES_tradnl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EDEC7B7-FFAA-1B1E-300A-35BAE8E1B19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06" t="-9884" b="-49709"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4893AEB-46B7-240A-8A97-C9F3BC82A4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540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BA2171-C0B4-A096-7149-03951BC16B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B5B85B-84D8-7D0B-2DFB-870F8033F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Mínimo Cuadrado Parciales (PLS): </a:t>
            </a:r>
            <a:r>
              <a:rPr lang="es-ES_tradnl" i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Idea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3430190-77FE-978C-B3BC-B9A568651D8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s-ES_tradnl" dirty="0"/>
                  <a:t>PLS: </a:t>
                </a:r>
                <a:r>
                  <a:rPr lang="es-ES_tradnl" i="1" dirty="0" err="1"/>
                  <a:t>Partial</a:t>
                </a:r>
                <a:r>
                  <a:rPr lang="es-ES_tradnl" i="1" dirty="0"/>
                  <a:t> </a:t>
                </a:r>
                <a:r>
                  <a:rPr lang="es-ES_tradnl" i="1" dirty="0" err="1"/>
                  <a:t>Least</a:t>
                </a:r>
                <a:r>
                  <a:rPr lang="es-ES_tradnl" i="1" dirty="0"/>
                  <a:t> </a:t>
                </a:r>
                <a:r>
                  <a:rPr lang="es-ES_tradnl" i="1" dirty="0" err="1"/>
                  <a:t>Squares</a:t>
                </a:r>
                <a:endParaRPr lang="es-ES_tradnl" i="1" dirty="0">
                  <a:solidFill>
                    <a:srgbClr val="FF0000"/>
                  </a:solidFill>
                </a:endParaRPr>
              </a:p>
              <a:p>
                <a:pPr>
                  <a:lnSpc>
                    <a:spcPct val="150000"/>
                  </a:lnSpc>
                </a:pPr>
                <a:r>
                  <a:rPr lang="es-ES_tradnl" dirty="0">
                    <a:solidFill>
                      <a:srgbClr val="FF0000"/>
                    </a:solidFill>
                  </a:rPr>
                  <a:t>Problema</a:t>
                </a:r>
                <a:r>
                  <a:rPr lang="es-ES_tradnl" dirty="0"/>
                  <a:t>: PCA es método no supervisado y no tiene encuentra la relación de </a:t>
                </a:r>
                <a14:m>
                  <m:oMath xmlns:m="http://schemas.openxmlformats.org/officeDocument/2006/math">
                    <m:r>
                      <a:rPr lang="es-ES_tradnl" i="1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s-ES_tradnl" dirty="0"/>
                  <a:t> con los predictores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ES_tradnl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_tradnl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s-ES_tradnl" i="1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s-ES_tradnl" dirty="0"/>
                  <a:t> </a:t>
                </a:r>
              </a:p>
              <a:p>
                <a:pPr>
                  <a:lnSpc>
                    <a:spcPct val="150000"/>
                  </a:lnSpc>
                </a:pPr>
                <a:r>
                  <a:rPr lang="es-ES_tradnl" dirty="0">
                    <a:solidFill>
                      <a:srgbClr val="002060"/>
                    </a:solidFill>
                  </a:rPr>
                  <a:t>Idea</a:t>
                </a:r>
                <a:r>
                  <a:rPr lang="es-ES_tradnl" dirty="0"/>
                  <a:t>: PLS pone </a:t>
                </a:r>
                <a:r>
                  <a:rPr lang="es-ES_tradnl" dirty="0">
                    <a:solidFill>
                      <a:srgbClr val="00B050"/>
                    </a:solidFill>
                  </a:rPr>
                  <a:t>ponderación más alta </a:t>
                </a:r>
                <a:r>
                  <a:rPr lang="es-ES_tradnl" dirty="0"/>
                  <a:t>a las variables que están </a:t>
                </a:r>
                <a:r>
                  <a:rPr lang="es-ES_tradnl" dirty="0">
                    <a:solidFill>
                      <a:srgbClr val="002060"/>
                    </a:solidFill>
                  </a:rPr>
                  <a:t>más correlacionadas </a:t>
                </a:r>
                <a:r>
                  <a:rPr lang="es-ES_tradnl" dirty="0"/>
                  <a:t>con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endParaRPr lang="es-ES_tradnl" dirty="0"/>
              </a:p>
              <a:p>
                <a:pPr>
                  <a:lnSpc>
                    <a:spcPct val="150000"/>
                  </a:lnSpc>
                </a:pPr>
                <a:endParaRPr lang="es-ES_tradnl" dirty="0"/>
              </a:p>
              <a:p>
                <a:pPr>
                  <a:lnSpc>
                    <a:spcPct val="150000"/>
                  </a:lnSpc>
                </a:pPr>
                <a:endParaRPr lang="es-ES_tradnl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3430190-77FE-978C-B3BC-B9A568651D8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327"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5FC0462-5A35-B014-9DB3-07416B9369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41835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1047C5-1CF1-5BD7-8E22-5FD0B175D3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PLS: </a:t>
            </a:r>
            <a:r>
              <a:rPr lang="es-ES_tradnl" i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Calculo del 1er componente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EDEC7B7-FFAA-1B1E-300A-35BAE8E1B19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514350" indent="-514350">
                  <a:lnSpc>
                    <a:spcPct val="150000"/>
                  </a:lnSpc>
                  <a:buFont typeface="+mj-lt"/>
                  <a:buAutoNum type="arabicPeriod"/>
                </a:pPr>
                <a:r>
                  <a:rPr lang="es-ES_tradnl" dirty="0"/>
                  <a:t>Regresar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s-ES_tradnl" dirty="0"/>
                  <a:t> en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s-ES_tradnl" dirty="0"/>
                  <a:t>. Usar los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𝛽</m:t>
                            </m:r>
                          </m:e>
                        </m:acc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𝑀𝐶𝑂𝑗</m:t>
                        </m:r>
                      </m:sub>
                    </m:sSub>
                  </m:oMath>
                </a14:m>
                <a:r>
                  <a:rPr lang="es-ES_tradnl" dirty="0"/>
                  <a:t> como ponderadores</a:t>
                </a:r>
              </a:p>
              <a:p>
                <a:pPr marL="514350" indent="-514350">
                  <a:lnSpc>
                    <a:spcPct val="150000"/>
                  </a:lnSpc>
                  <a:buFont typeface="+mj-lt"/>
                  <a:buAutoNum type="arabicPeriod"/>
                </a:pPr>
                <a:r>
                  <a:rPr lang="es-ES_tradnl" dirty="0"/>
                  <a:t>Computar como </a:t>
                </a:r>
                <a:r>
                  <a:rPr lang="es-ES_tradnl" dirty="0">
                    <a:solidFill>
                      <a:srgbClr val="002060"/>
                    </a:solidFill>
                  </a:rPr>
                  <a:t>1er componente:</a:t>
                </a:r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ES_tradnl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S_tradnl" i="1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r>
                            <a:rPr lang="es-ES_tradnl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s-ES_tradnl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s-ES_tradnl" i="1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s-ES_tradnl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s-ES_tradnl" i="1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s-ES_tradnl" i="1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s-ES_tradnl" i="1">
                              <a:latin typeface="Cambria Math" panose="02040503050406030204" pitchFamily="18" charset="0"/>
                            </a:rPr>
                            <m:t>𝑝</m:t>
                          </m:r>
                        </m:sup>
                        <m:e>
                          <m:sSub>
                            <m:sSubPr>
                              <m:ctrlPr>
                                <a:rPr lang="en-US" i="1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̂"/>
                                  <m:ctrlPr>
                                    <a:rPr lang="en-US" i="1">
                                      <a:solidFill>
                                        <a:srgbClr val="00B05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i="1">
                                      <a:solidFill>
                                        <a:srgbClr val="00B050"/>
                                      </a:solidFill>
                                      <a:latin typeface="Cambria Math" panose="02040503050406030204" pitchFamily="18" charset="0"/>
                                    </a:rPr>
                                    <m:t>𝛽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b="0" i="1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en-US" i="1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sSub>
                            <m:sSubPr>
                              <m:ctrlPr>
                                <a:rPr lang="es-ES_tradnl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ES_tradnl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s-ES_tradnl" i="1">
                                  <a:latin typeface="Cambria Math" panose="02040503050406030204" pitchFamily="18" charset="0"/>
                                </a:rPr>
                                <m:t>𝑖𝑗</m:t>
                              </m:r>
                            </m:sub>
                          </m:sSub>
                        </m:e>
                      </m:nary>
                      <m:r>
                        <a:rPr lang="es-ES_tradnl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𝛽</m:t>
                              </m:r>
                            </m:e>
                          </m:acc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11</m:t>
                          </m:r>
                        </m:sub>
                      </m:sSub>
                      <m:sSub>
                        <m:sSubPr>
                          <m:ctrlPr>
                            <a:rPr lang="es-ES_tradnl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S_tradnl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s-ES_tradnl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s-ES_tradnl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s-ES_tradnl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𝛽</m:t>
                              </m:r>
                            </m:e>
                          </m:acc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s-ES_tradnl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S_tradnl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s-ES_tradnl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s-ES_tradnl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s-ES_tradnl" i="1">
                          <a:latin typeface="Cambria Math" panose="02040503050406030204" pitchFamily="18" charset="0"/>
                        </a:rPr>
                        <m:t>+…+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𝛽</m:t>
                              </m:r>
                            </m:e>
                          </m:acc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s-ES_tradnl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S_tradnl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s-ES_tradnl" i="1">
                              <a:latin typeface="Cambria Math" panose="02040503050406030204" pitchFamily="18" charset="0"/>
                            </a:rPr>
                            <m:t>𝑖𝑝</m:t>
                          </m:r>
                        </m:sub>
                      </m:sSub>
                    </m:oMath>
                  </m:oMathPara>
                </a14:m>
                <a:endParaRPr lang="es-ES_tradnl" dirty="0"/>
              </a:p>
              <a:p>
                <a:pPr>
                  <a:lnSpc>
                    <a:spcPct val="150000"/>
                  </a:lnSpc>
                </a:pPr>
                <a:endParaRPr lang="es-ES_tradnl" dirty="0">
                  <a:solidFill>
                    <a:srgbClr val="002060"/>
                  </a:solidFill>
                </a:endParaRPr>
              </a:p>
              <a:p>
                <a:pPr>
                  <a:lnSpc>
                    <a:spcPct val="150000"/>
                  </a:lnSpc>
                </a:pPr>
                <a:endParaRPr lang="es-ES_tradnl" dirty="0"/>
              </a:p>
              <a:p>
                <a:pPr>
                  <a:lnSpc>
                    <a:spcPct val="150000"/>
                  </a:lnSpc>
                </a:pPr>
                <a:endParaRPr lang="es-ES_tradnl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EDEC7B7-FFAA-1B1E-300A-35BAE8E1B19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809" b="-43314"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4893AEB-46B7-240A-8A97-C9F3BC82A4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23546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1047C5-1CF1-5BD7-8E22-5FD0B175D3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PLS: </a:t>
            </a:r>
            <a:r>
              <a:rPr lang="es-ES_tradnl" i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Ilustración y comparación con PCA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EDEC7B7-FFAA-1B1E-300A-35BAE8E1B19C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/>
            <p:txBody>
              <a:bodyPr>
                <a:normAutofit fontScale="85000" lnSpcReduction="20000"/>
              </a:bodyPr>
              <a:lstStyle/>
              <a:p>
                <a:pPr marL="0" indent="0">
                  <a:lnSpc>
                    <a:spcPct val="120000"/>
                  </a:lnSpc>
                  <a:buNone/>
                </a:pPr>
                <a:r>
                  <a:rPr lang="es-ES_tradnl" dirty="0"/>
                  <a:t>Usando el ejemplo de población y publicidad</a:t>
                </a:r>
              </a:p>
              <a:p>
                <a:pPr>
                  <a:lnSpc>
                    <a:spcPct val="120000"/>
                  </a:lnSpc>
                </a:pP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s-ES_tradnl" dirty="0"/>
                  <a:t> ventas</a:t>
                </a:r>
              </a:p>
              <a:p>
                <a:pPr>
                  <a:lnSpc>
                    <a:spcPct val="120000"/>
                  </a:lnSpc>
                </a:pPr>
                <a:r>
                  <a:rPr lang="es-ES_tradnl" dirty="0"/>
                  <a:t>Línea </a:t>
                </a:r>
                <a:r>
                  <a:rPr lang="es-ES_tradnl" dirty="0">
                    <a:solidFill>
                      <a:srgbClr val="00B050"/>
                    </a:solidFill>
                  </a:rPr>
                  <a:t>solida</a:t>
                </a:r>
                <a:r>
                  <a:rPr lang="es-ES_tradnl" dirty="0"/>
                  <a:t>: PLS</a:t>
                </a:r>
              </a:p>
              <a:p>
                <a:pPr>
                  <a:lnSpc>
                    <a:spcPct val="120000"/>
                  </a:lnSpc>
                </a:pPr>
                <a:r>
                  <a:rPr lang="es-ES_tradnl" dirty="0"/>
                  <a:t>Línea </a:t>
                </a:r>
                <a:r>
                  <a:rPr lang="es-ES_tradnl" dirty="0">
                    <a:solidFill>
                      <a:srgbClr val="0070C0"/>
                    </a:solidFill>
                  </a:rPr>
                  <a:t>punteada</a:t>
                </a:r>
                <a:r>
                  <a:rPr lang="es-ES_tradnl" dirty="0"/>
                  <a:t>: PCA</a:t>
                </a:r>
              </a:p>
              <a:p>
                <a:pPr>
                  <a:lnSpc>
                    <a:spcPct val="120000"/>
                  </a:lnSpc>
                </a:pPr>
                <a:r>
                  <a:rPr lang="es-ES_tradnl" dirty="0"/>
                  <a:t>Notar para el 1er componente:</a:t>
                </a:r>
              </a:p>
              <a:p>
                <a:pPr marL="457200" lvl="1" indent="0">
                  <a:lnSpc>
                    <a:spcPct val="12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_tradnl" sz="2400" i="1" dirty="0" smtClean="0">
                          <a:latin typeface="Cambria Math" panose="02040503050406030204" pitchFamily="18" charset="0"/>
                        </a:rPr>
                        <m:t>𝑃𝑒𝑛𝑑𝑖𝑒𝑛𝑡𝑒</m:t>
                      </m:r>
                      <m:r>
                        <a:rPr lang="es-ES_tradnl" sz="2400" i="1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s-ES_tradnl" sz="2400" i="1" dirty="0" smtClean="0">
                          <a:latin typeface="Cambria Math" panose="02040503050406030204" pitchFamily="18" charset="0"/>
                        </a:rPr>
                        <m:t>𝑑𝑒</m:t>
                      </m:r>
                      <m:r>
                        <a:rPr lang="es-ES_tradnl" sz="2400" i="1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s-ES_tradnl" sz="2400" i="1" dirty="0" smtClean="0">
                          <a:latin typeface="Cambria Math" panose="02040503050406030204" pitchFamily="18" charset="0"/>
                        </a:rPr>
                        <m:t>𝑃𝐿𝑆</m:t>
                      </m:r>
                      <m:r>
                        <a:rPr lang="es-ES_tradnl" sz="2400" i="1" dirty="0" smtClean="0">
                          <a:latin typeface="Cambria Math" panose="02040503050406030204" pitchFamily="18" charset="0"/>
                        </a:rPr>
                        <m:t>&lt;</m:t>
                      </m:r>
                      <m:r>
                        <a:rPr lang="es-ES_tradnl" sz="2400" i="1" dirty="0" smtClean="0">
                          <a:latin typeface="Cambria Math" panose="02040503050406030204" pitchFamily="18" charset="0"/>
                        </a:rPr>
                        <m:t>𝑝𝑒𝑛𝑑𝑖𝑒𝑛𝑡𝑒</m:t>
                      </m:r>
                      <m:r>
                        <a:rPr lang="es-ES_tradnl" sz="2400" i="1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s-ES_tradnl" sz="2400" i="1" dirty="0" smtClean="0">
                          <a:latin typeface="Cambria Math" panose="02040503050406030204" pitchFamily="18" charset="0"/>
                        </a:rPr>
                        <m:t>𝑑𝑒</m:t>
                      </m:r>
                      <m:r>
                        <a:rPr lang="es-ES_tradnl" sz="2400" i="1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s-ES_tradnl" sz="2400" i="1" dirty="0" smtClean="0">
                          <a:latin typeface="Cambria Math" panose="02040503050406030204" pitchFamily="18" charset="0"/>
                        </a:rPr>
                        <m:t>𝑃𝐶𝐴</m:t>
                      </m:r>
                    </m:oMath>
                  </m:oMathPara>
                </a14:m>
                <a:endParaRPr lang="es-ES_tradnl" sz="2400" dirty="0"/>
              </a:p>
              <a:p>
                <a:pPr lvl="1">
                  <a:lnSpc>
                    <a:spcPct val="120000"/>
                  </a:lnSpc>
                </a:pPr>
                <a:r>
                  <a:rPr lang="es-ES_tradnl" dirty="0"/>
                  <a:t>Población está más relacionada con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endParaRPr lang="es-ES_tradnl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EDEC7B7-FFAA-1B1E-300A-35BAE8E1B19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blipFill>
                <a:blip r:embed="rId2"/>
                <a:stretch>
                  <a:fillRect l="-2200" t="-1163" r="-489"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Content Placeholder 6" descr="A green line with purple dots&#10;&#10;Description automatically generated">
            <a:extLst>
              <a:ext uri="{FF2B5EF4-FFF2-40B4-BE49-F238E27FC236}">
                <a16:creationId xmlns:a16="http://schemas.microsoft.com/office/drawing/2014/main" id="{19B213DD-BB50-113E-FE83-AE51B90CBB97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5775384" y="1825625"/>
            <a:ext cx="6047240" cy="3815520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4893AEB-46B7-240A-8A97-C9F3BC82A4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698908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1047C5-1CF1-5BD7-8E22-5FD0B175D3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PLS: </a:t>
            </a:r>
            <a:r>
              <a:rPr lang="es-ES_tradnl" i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Calculo del 2do componente</a:t>
            </a:r>
            <a:endParaRPr lang="es-ES_tradnl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EDEC7B7-FFAA-1B1E-300A-35BAE8E1B19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lnSpcReduction="10000"/>
              </a:bodyPr>
              <a:lstStyle/>
              <a:p>
                <a:pPr marL="514350" indent="-514350">
                  <a:buFont typeface="+mj-lt"/>
                  <a:buAutoNum type="arabicPeriod"/>
                </a:pPr>
                <a:r>
                  <a:rPr lang="es-ES_tradnl" dirty="0"/>
                  <a:t>Regresamos cada predictor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s-ES_tradnl" dirty="0"/>
                  <a:t> en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𝑍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endParaRPr lang="es-ES_tradnl" dirty="0"/>
              </a:p>
              <a:p>
                <a:pPr marL="514350" indent="-514350">
                  <a:buFont typeface="+mj-lt"/>
                  <a:buAutoNum type="arabicPeriod"/>
                </a:pPr>
                <a:r>
                  <a:rPr lang="es-ES_tradnl" dirty="0"/>
                  <a:t>Computamos residuos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sup>
                    </m:sSubSup>
                  </m:oMath>
                </a14:m>
                <a:endParaRPr lang="es-ES_tradnl" dirty="0"/>
              </a:p>
              <a:p>
                <a:pPr marL="514350" indent="-514350">
                  <a:buFont typeface="+mj-lt"/>
                  <a:buAutoNum type="arabicPeriod"/>
                </a:pPr>
                <a:r>
                  <a:rPr lang="es-ES_tradnl" dirty="0">
                    <a:solidFill>
                      <a:srgbClr val="0070C0"/>
                    </a:solidFill>
                  </a:rPr>
                  <a:t>Regresar</a:t>
                </a:r>
                <a:r>
                  <a:rPr lang="es-ES_tradnl" dirty="0"/>
                  <a:t>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s-ES_tradnl" dirty="0"/>
                  <a:t> en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𝑟</m:t>
                        </m:r>
                      </m:sup>
                    </m:sSubSup>
                  </m:oMath>
                </a14:m>
                <a:endParaRPr lang="es-ES_tradnl" dirty="0"/>
              </a:p>
              <a:p>
                <a:pPr marL="514350" indent="-514350">
                  <a:buFont typeface="+mj-lt"/>
                  <a:buAutoNum type="arabicPeriod"/>
                </a:pPr>
                <a:r>
                  <a:rPr lang="es-ES_tradnl" dirty="0"/>
                  <a:t>Calcular el 2do componente usando los coeficientes de la regresión en el ítem </a:t>
                </a:r>
                <a:r>
                  <a:rPr lang="es-ES_tradnl" dirty="0">
                    <a:solidFill>
                      <a:srgbClr val="0070C0"/>
                    </a:solidFill>
                  </a:rPr>
                  <a:t>3</a:t>
                </a:r>
                <a:r>
                  <a:rPr lang="es-ES_tradnl" dirty="0"/>
                  <a:t> como ponderadores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𝜙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𝛽</m:t>
                            </m:r>
                          </m:e>
                        </m:acc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𝑀𝐶𝑂𝑗</m:t>
                        </m:r>
                      </m:sub>
                    </m:sSub>
                  </m:oMath>
                </a14:m>
                <a:r>
                  <a:rPr lang="es-ES_tradnl" dirty="0"/>
                  <a:t>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ES_tradnl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S_tradnl" i="1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r>
                            <a:rPr lang="es-ES_tradnl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s-ES_tradnl" i="1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s-ES_tradnl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s-ES_tradnl" i="1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s-ES_tradnl" i="1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s-ES_tradnl" i="1">
                              <a:latin typeface="Cambria Math" panose="02040503050406030204" pitchFamily="18" charset="0"/>
                            </a:rPr>
                            <m:t>𝑝</m:t>
                          </m:r>
                        </m:sup>
                        <m:e>
                          <m:sSub>
                            <m:sSubPr>
                              <m:ctrlPr>
                                <a:rPr lang="en-US" i="1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̂"/>
                                  <m:ctrlPr>
                                    <a:rPr lang="en-US" i="1">
                                      <a:solidFill>
                                        <a:srgbClr val="00B05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i="1">
                                      <a:solidFill>
                                        <a:srgbClr val="00B050"/>
                                      </a:solidFill>
                                      <a:latin typeface="Cambria Math" panose="02040503050406030204" pitchFamily="18" charset="0"/>
                                    </a:rPr>
                                    <m:t>𝛽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i="1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en-US" b="0" i="1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sSub>
                            <m:sSubPr>
                              <m:ctrlPr>
                                <a:rPr lang="es-ES_tradnl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ES_tradnl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s-ES_tradnl" i="1">
                                  <a:latin typeface="Cambria Math" panose="02040503050406030204" pitchFamily="18" charset="0"/>
                                </a:rPr>
                                <m:t>𝑖𝑗</m:t>
                              </m:r>
                            </m:sub>
                          </m:sSub>
                        </m:e>
                      </m:nary>
                      <m:r>
                        <a:rPr lang="es-ES_tradnl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𝛽</m:t>
                              </m:r>
                            </m:e>
                          </m:acc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es-ES_tradnl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S_tradnl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s-ES_tradnl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s-ES_tradnl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s-ES_tradnl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𝛽</m:t>
                              </m:r>
                            </m:e>
                          </m:acc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es-ES_tradnl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S_tradnl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s-ES_tradnl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s-ES_tradnl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s-ES_tradnl" i="1">
                          <a:latin typeface="Cambria Math" panose="02040503050406030204" pitchFamily="18" charset="0"/>
                        </a:rPr>
                        <m:t>+…+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𝛽</m:t>
                              </m:r>
                            </m:e>
                          </m:acc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𝑝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es-ES_tradnl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S_tradnl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s-ES_tradnl" i="1">
                              <a:latin typeface="Cambria Math" panose="02040503050406030204" pitchFamily="18" charset="0"/>
                            </a:rPr>
                            <m:t>𝑖𝑝</m:t>
                          </m:r>
                        </m:sub>
                      </m:sSub>
                    </m:oMath>
                  </m:oMathPara>
                </a14:m>
                <a:endParaRPr lang="es-ES_tradnl" dirty="0"/>
              </a:p>
              <a:p>
                <a:pPr marL="0" indent="0">
                  <a:buNone/>
                </a:pPr>
                <a:endParaRPr lang="es-ES_tradnl" dirty="0"/>
              </a:p>
              <a:p>
                <a:endParaRPr lang="es-ES_tradnl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EDEC7B7-FFAA-1B1E-300A-35BAE8E1B19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809" t="-3488" b="-5203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4893AEB-46B7-240A-8A97-C9F3BC82A4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33679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8F94D6-1B32-C4A5-E5A8-345AED8DE7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B8E159-79F5-B085-0C53-C82304F68B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PLS: </a:t>
            </a:r>
            <a:r>
              <a:rPr lang="es-ES_tradnl" i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2do componente - Interpretación</a:t>
            </a:r>
            <a:endParaRPr lang="es-ES_tradnl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7B1146D-3371-E1DF-9A9B-1C494261AF5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s-ES_tradnl" dirty="0">
                    <a:solidFill>
                      <a:srgbClr val="002060"/>
                    </a:solidFill>
                  </a:rPr>
                  <a:t>Interpretación de los residuos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  <m:sup>
                        <m:r>
                          <a:rPr lang="en-US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sup>
                    </m:sSubSup>
                  </m:oMath>
                </a14:m>
                <a:r>
                  <a:rPr lang="es-ES_tradnl" dirty="0"/>
                  <a:t>: </a:t>
                </a:r>
              </a:p>
              <a:p>
                <a:pPr lvl="1">
                  <a:lnSpc>
                    <a:spcPct val="150000"/>
                  </a:lnSpc>
                </a:pPr>
                <a:r>
                  <a:rPr lang="es-ES_tradnl" dirty="0"/>
                  <a:t>Información remanente del predictor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s-ES_tradnl" dirty="0"/>
                  <a:t> no explicada por el 1er componente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𝑍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endParaRPr lang="es-ES_tradnl" sz="2000" dirty="0"/>
              </a:p>
              <a:p>
                <a:pPr>
                  <a:lnSpc>
                    <a:spcPct val="150000"/>
                  </a:lnSpc>
                </a:pPr>
                <a:r>
                  <a:rPr lang="es-ES_tradnl" dirty="0"/>
                  <a:t>El 2do componente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𝑍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s-ES_tradnl" dirty="0"/>
                  <a:t> es </a:t>
                </a:r>
                <a:r>
                  <a:rPr lang="es-ES_tradnl" dirty="0">
                    <a:solidFill>
                      <a:srgbClr val="002060"/>
                    </a:solidFill>
                  </a:rPr>
                  <a:t>ortogonal</a:t>
                </a:r>
                <a:r>
                  <a:rPr lang="es-ES_tradnl" dirty="0"/>
                  <a:t> al 1er componente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𝑍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endParaRPr lang="es-ES_tradnl" dirty="0"/>
              </a:p>
              <a:p>
                <a:pPr lvl="1">
                  <a:lnSpc>
                    <a:spcPct val="150000"/>
                  </a:lnSpc>
                </a:pPr>
                <a:r>
                  <a:rPr lang="es-ES_tradnl" dirty="0"/>
                  <a:t>Por la regresión auxiliar de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s-ES_tradnl" dirty="0"/>
                  <a:t>en el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𝑍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s-ES_tradnl" dirty="0"/>
                  <a:t> y calcular los residuos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  <m:sup>
                        <m:r>
                          <a:rPr lang="en-US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sup>
                    </m:sSubSup>
                  </m:oMath>
                </a14:m>
                <a:endParaRPr lang="es-ES_tradnl" dirty="0"/>
              </a:p>
              <a:p>
                <a:pPr marL="0" indent="0">
                  <a:lnSpc>
                    <a:spcPct val="150000"/>
                  </a:lnSpc>
                  <a:buNone/>
                </a:pPr>
                <a:endParaRPr lang="es-ES_tradnl" dirty="0"/>
              </a:p>
              <a:p>
                <a:pPr>
                  <a:lnSpc>
                    <a:spcPct val="150000"/>
                  </a:lnSpc>
                </a:pPr>
                <a:endParaRPr lang="es-ES_tradnl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7B1146D-3371-E1DF-9A9B-1C494261AF5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32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0559521-3257-8339-A6E5-6AB5B12F82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4403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DB1F94A4-F260-BCA5-E875-B23731B5A6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Comparación del Problema de Optimización</a:t>
            </a:r>
            <a:br>
              <a:rPr lang="es-ES_tradnl" dirty="0"/>
            </a:br>
            <a:r>
              <a:rPr lang="es-ES_tradnl" sz="4000" i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Intuición</a:t>
            </a:r>
            <a:endParaRPr lang="es-ES_tradnl" i="1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D4C5894C-0E63-4AD1-4D1C-80DE00F67EA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anchor="ctr"/>
          <a:lstStyle/>
          <a:p>
            <a:pPr algn="ctr"/>
            <a:r>
              <a:rPr lang="es-ES_tradnl" dirty="0">
                <a:solidFill>
                  <a:srgbClr val="002060"/>
                </a:solidFill>
              </a:rPr>
              <a:t>Regresión por Componentes Principales (PCR)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Content Placeholder 8">
                <a:extLst>
                  <a:ext uri="{FF2B5EF4-FFF2-40B4-BE49-F238E27FC236}">
                    <a16:creationId xmlns:a16="http://schemas.microsoft.com/office/drawing/2014/main" id="{BC620891-62E4-C4E5-0992-2D6F795C3FAC}"/>
                  </a:ext>
                </a:extLst>
              </p:cNvPr>
              <p:cNvSpPr>
                <a:spLocks noGrp="1"/>
              </p:cNvSpPr>
              <p:nvPr>
                <p:ph sz="half" idx="2"/>
              </p:nvPr>
            </p:nvSpPr>
            <p:spPr/>
            <p:txBody>
              <a:bodyPr anchor="ctr"/>
              <a:lstStyle/>
              <a:p>
                <a:r>
                  <a:rPr lang="es-ES_tradnl" dirty="0"/>
                  <a:t>Maximiza varianza de </a:t>
                </a:r>
                <a14:m>
                  <m:oMath xmlns:m="http://schemas.openxmlformats.org/officeDocument/2006/math">
                    <m:r>
                      <a:rPr lang="es-ES_tradnl" i="1" dirty="0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endParaRPr lang="es-ES_tradnl" dirty="0"/>
              </a:p>
            </p:txBody>
          </p:sp>
        </mc:Choice>
        <mc:Fallback xmlns="">
          <p:sp>
            <p:nvSpPr>
              <p:cNvPr id="9" name="Content Placeholder 8">
                <a:extLst>
                  <a:ext uri="{FF2B5EF4-FFF2-40B4-BE49-F238E27FC236}">
                    <a16:creationId xmlns:a16="http://schemas.microsoft.com/office/drawing/2014/main" id="{BC620891-62E4-C4E5-0992-2D6F795C3FA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blipFill>
                <a:blip r:embed="rId2"/>
                <a:stretch>
                  <a:fillRect l="-270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6606E993-B366-C399-56A4-2276088D480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 anchor="ctr"/>
          <a:lstStyle/>
          <a:p>
            <a:pPr algn="ctr"/>
            <a:r>
              <a:rPr lang="es-ES_tradnl" dirty="0">
                <a:solidFill>
                  <a:srgbClr val="002060"/>
                </a:solidFill>
              </a:rPr>
              <a:t>Regresión de Mínimos Cuadrados Parciales (PLS)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Content Placeholder 10">
                <a:extLst>
                  <a:ext uri="{FF2B5EF4-FFF2-40B4-BE49-F238E27FC236}">
                    <a16:creationId xmlns:a16="http://schemas.microsoft.com/office/drawing/2014/main" id="{5EBB3223-25AD-9AF4-F56F-B1A8769B307F}"/>
                  </a:ext>
                </a:extLst>
              </p:cNvPr>
              <p:cNvSpPr>
                <a:spLocks noGrp="1"/>
              </p:cNvSpPr>
              <p:nvPr>
                <p:ph sz="quarter" idx="4"/>
              </p:nvPr>
            </p:nvSpPr>
            <p:spPr/>
            <p:txBody>
              <a:bodyPr anchor="ctr"/>
              <a:lstStyle/>
              <a:p>
                <a:r>
                  <a:rPr lang="es-ES_tradnl" dirty="0"/>
                  <a:t>Maximiza varianza de </a:t>
                </a:r>
                <a14:m>
                  <m:oMath xmlns:m="http://schemas.openxmlformats.org/officeDocument/2006/math">
                    <m:r>
                      <a:rPr lang="es-ES_tradnl" i="1" dirty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s-ES_tradnl" dirty="0"/>
                  <a:t> y alta correlación con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endParaRPr lang="es-ES_tradnl" dirty="0"/>
              </a:p>
            </p:txBody>
          </p:sp>
        </mc:Choice>
        <mc:Fallback xmlns="">
          <p:sp>
            <p:nvSpPr>
              <p:cNvPr id="11" name="Content Placeholder 10">
                <a:extLst>
                  <a:ext uri="{FF2B5EF4-FFF2-40B4-BE49-F238E27FC236}">
                    <a16:creationId xmlns:a16="http://schemas.microsoft.com/office/drawing/2014/main" id="{5EBB3223-25AD-9AF4-F56F-B1A8769B307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4"/>
              </p:nvPr>
            </p:nvSpPr>
            <p:spPr>
              <a:blipFill>
                <a:blip r:embed="rId3"/>
                <a:stretch>
                  <a:fillRect l="-2689" r="-2689"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09A8EC8-7B6D-176F-ACDC-19B9C74B09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21702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DB1F94A4-F260-BCA5-E875-B23731B5A6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Comparación del Problema de Optimización</a:t>
            </a:r>
            <a:br>
              <a:rPr lang="es-ES_tradnl" dirty="0"/>
            </a:br>
            <a:r>
              <a:rPr lang="es-ES_tradnl" sz="4000" i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Formalmente</a:t>
            </a:r>
            <a:endParaRPr lang="es-ES_tradnl" i="1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D4C5894C-0E63-4AD1-4D1C-80DE00F67EA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anchor="ctr"/>
          <a:lstStyle/>
          <a:p>
            <a:pPr algn="ctr"/>
            <a:r>
              <a:rPr lang="es-ES_tradnl" dirty="0">
                <a:solidFill>
                  <a:srgbClr val="002060"/>
                </a:solidFill>
              </a:rPr>
              <a:t>PCR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Content Placeholder 8">
                <a:extLst>
                  <a:ext uri="{FF2B5EF4-FFF2-40B4-BE49-F238E27FC236}">
                    <a16:creationId xmlns:a16="http://schemas.microsoft.com/office/drawing/2014/main" id="{BC620891-62E4-C4E5-0992-2D6F795C3FAC}"/>
                  </a:ext>
                </a:extLst>
              </p:cNvPr>
              <p:cNvSpPr>
                <a:spLocks noGrp="1"/>
              </p:cNvSpPr>
              <p:nvPr>
                <p:ph sz="half" idx="2"/>
              </p:nvPr>
            </p:nvSpPr>
            <p:spPr/>
            <p:txBody>
              <a:bodyPr anchor="t">
                <a:normAutofit fontScale="85000" lnSpcReduction="20000"/>
              </a:bodyPr>
              <a:lstStyle/>
              <a:p>
                <a:pPr marL="0" indent="0">
                  <a:buNone/>
                </a:pPr>
                <a:r>
                  <a:rPr lang="es-ES_tradnl" dirty="0"/>
                  <a:t>La dirección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𝑙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s-ES_tradnl" dirty="0"/>
                  <a:t>para el m-</a:t>
                </a:r>
                <a:r>
                  <a:rPr lang="es-ES_tradnl" dirty="0" err="1"/>
                  <a:t>ésimo</a:t>
                </a:r>
                <a:r>
                  <a:rPr lang="es-ES_tradnl" dirty="0"/>
                  <a:t> componente:</a:t>
                </a:r>
                <a:endParaRPr lang="en-US" b="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max</m:t>
                              </m:r>
                            </m:e>
                            <m:li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𝜙</m:t>
                              </m:r>
                            </m:lim>
                          </m:limLow>
                        </m:fName>
                        <m:e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Var</m:t>
                          </m:r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1" i="1" smtClean="0">
                                  <a:latin typeface="Cambria Math" panose="02040503050406030204" pitchFamily="18" charset="0"/>
                                </a:rPr>
                                <m:t>𝑿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𝜙</m:t>
                              </m:r>
                            </m:e>
                          </m:d>
                        </m:e>
                      </m:func>
                    </m:oMath>
                  </m:oMathPara>
                </a14:m>
                <a:endParaRPr lang="es-ES_tradnl" dirty="0"/>
              </a:p>
              <a:p>
                <a:pPr marL="0" indent="0">
                  <a:buNone/>
                </a:pPr>
                <a:r>
                  <a:rPr lang="es-ES_tradnl" dirty="0"/>
                  <a:t>Sujeta a </a:t>
                </a:r>
                <a:endParaRPr lang="en-US" i="1" dirty="0">
                  <a:latin typeface="Cambria Math" panose="02040503050406030204" pitchFamily="18" charset="0"/>
                </a:endParaRPr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d>
                      <m:dPr>
                        <m:begChr m:val="‖"/>
                        <m:endChr m:val="‖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𝜙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es-ES_tradnl" dirty="0"/>
                  <a:t>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𝜙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𝑺</m:t>
                      </m:r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𝑙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s-ES_tradnl" dirty="0"/>
              </a:p>
              <a:p>
                <a:pPr marL="0" indent="0">
                  <a:buNone/>
                </a:pPr>
                <a:r>
                  <a:rPr lang="en-US" b="0" dirty="0"/>
                  <a:t>Con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𝑙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=1, …,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−1</m:t>
                    </m:r>
                  </m:oMath>
                </a14:m>
                <a:r>
                  <a:rPr lang="es-ES_tradnl" dirty="0"/>
                  <a:t>, </a:t>
                </a:r>
                <a14:m>
                  <m:oMath xmlns:m="http://schemas.openxmlformats.org/officeDocument/2006/math">
                    <m:r>
                      <a:rPr lang="en-US" b="1" i="1">
                        <a:latin typeface="Cambria Math" panose="02040503050406030204" pitchFamily="18" charset="0"/>
                      </a:rPr>
                      <m:t>𝑺</m:t>
                    </m:r>
                  </m:oMath>
                </a14:m>
                <a:r>
                  <a:rPr lang="es-ES_tradnl" dirty="0"/>
                  <a:t> matriz de varianza-covarianzas de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endParaRPr lang="es-ES_tradnl" dirty="0"/>
              </a:p>
            </p:txBody>
          </p:sp>
        </mc:Choice>
        <mc:Fallback xmlns="">
          <p:sp>
            <p:nvSpPr>
              <p:cNvPr id="9" name="Content Placeholder 8">
                <a:extLst>
                  <a:ext uri="{FF2B5EF4-FFF2-40B4-BE49-F238E27FC236}">
                    <a16:creationId xmlns:a16="http://schemas.microsoft.com/office/drawing/2014/main" id="{BC620891-62E4-C4E5-0992-2D6F795C3FA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blipFill>
                <a:blip r:embed="rId2"/>
                <a:stretch>
                  <a:fillRect l="-2211" t="-3780"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6606E993-B366-C399-56A4-2276088D480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 anchor="ctr"/>
          <a:lstStyle/>
          <a:p>
            <a:pPr algn="ctr"/>
            <a:r>
              <a:rPr lang="es-ES_tradnl" dirty="0">
                <a:solidFill>
                  <a:srgbClr val="002060"/>
                </a:solidFill>
              </a:rPr>
              <a:t>PLS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Content Placeholder 10">
                <a:extLst>
                  <a:ext uri="{FF2B5EF4-FFF2-40B4-BE49-F238E27FC236}">
                    <a16:creationId xmlns:a16="http://schemas.microsoft.com/office/drawing/2014/main" id="{5EBB3223-25AD-9AF4-F56F-B1A8769B307F}"/>
                  </a:ext>
                </a:extLst>
              </p:cNvPr>
              <p:cNvSpPr>
                <a:spLocks noGrp="1"/>
              </p:cNvSpPr>
              <p:nvPr>
                <p:ph sz="quarter" idx="4"/>
              </p:nvPr>
            </p:nvSpPr>
            <p:spPr/>
            <p:txBody>
              <a:bodyPr anchor="t">
                <a:normAutofit fontScale="85000" lnSpcReduction="20000"/>
              </a:bodyPr>
              <a:lstStyle/>
              <a:p>
                <a:pPr marL="0" indent="0">
                  <a:buNone/>
                </a:pPr>
                <a:r>
                  <a:rPr lang="es-ES_tradnl" dirty="0"/>
                  <a:t>La dirección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𝜑</m:t>
                            </m:r>
                          </m:e>
                        </m:acc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𝑙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s-ES_tradnl" dirty="0"/>
                  <a:t>para el m-</a:t>
                </a:r>
                <a:r>
                  <a:rPr lang="es-ES_tradnl" dirty="0" err="1"/>
                  <a:t>ésimo</a:t>
                </a:r>
                <a:r>
                  <a:rPr lang="es-ES_tradnl" dirty="0"/>
                  <a:t> componente:</a:t>
                </a:r>
                <a:endParaRPr lang="en-US" b="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max</m:t>
                              </m:r>
                            </m:e>
                            <m:li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𝜙</m:t>
                              </m:r>
                            </m:lim>
                          </m:limLow>
                        </m:fName>
                        <m:e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Corr</m:t>
                              </m:r>
                            </m:e>
                            <m:sup>
                              <m: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b="0" i="0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𝒚</m:t>
                          </m:r>
                          <m:r>
                            <a:rPr lang="en-US" b="0" i="0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𝑿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𝜙</m:t>
                          </m:r>
                          <m:r>
                            <a:rPr lang="en-US" b="0" i="0" smtClean="0">
                              <a:latin typeface="Cambria Math" panose="02040503050406030204" pitchFamily="18" charset="0"/>
                            </a:rPr>
                            <m:t>)</m:t>
                          </m:r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Var</m:t>
                          </m:r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1" i="1" smtClean="0">
                                  <a:latin typeface="Cambria Math" panose="02040503050406030204" pitchFamily="18" charset="0"/>
                                </a:rPr>
                                <m:t>𝑿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𝜙</m:t>
                              </m:r>
                            </m:e>
                          </m:d>
                        </m:e>
                      </m:func>
                    </m:oMath>
                  </m:oMathPara>
                </a14:m>
                <a:endParaRPr lang="es-ES_tradnl" dirty="0"/>
              </a:p>
              <a:p>
                <a:pPr marL="0" indent="0">
                  <a:buNone/>
                </a:pPr>
                <a:r>
                  <a:rPr lang="es-ES_tradnl" dirty="0"/>
                  <a:t>Sujeta a </a:t>
                </a:r>
                <a:endParaRPr lang="en-US" i="1" dirty="0">
                  <a:latin typeface="Cambria Math" panose="02040503050406030204" pitchFamily="18" charset="0"/>
                </a:endParaRPr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d>
                      <m:dPr>
                        <m:begChr m:val="‖"/>
                        <m:endChr m:val="‖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𝜙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es-ES_tradnl" dirty="0"/>
                  <a:t>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𝜙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𝑺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𝜑</m:t>
                              </m:r>
                            </m:e>
                          </m:acc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𝑙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s-ES_tradnl" dirty="0"/>
              </a:p>
              <a:p>
                <a:pPr marL="0" indent="0">
                  <a:buNone/>
                </a:pPr>
                <a:r>
                  <a:rPr lang="en-US" b="0" dirty="0"/>
                  <a:t>Con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𝑙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=1, …,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−1</m:t>
                    </m:r>
                  </m:oMath>
                </a14:m>
                <a:r>
                  <a:rPr lang="es-ES_tradnl" dirty="0"/>
                  <a:t>, </a:t>
                </a:r>
                <a14:m>
                  <m:oMath xmlns:m="http://schemas.openxmlformats.org/officeDocument/2006/math">
                    <m:r>
                      <a:rPr lang="en-US" b="1" i="1">
                        <a:latin typeface="Cambria Math" panose="02040503050406030204" pitchFamily="18" charset="0"/>
                      </a:rPr>
                      <m:t>𝑺</m:t>
                    </m:r>
                  </m:oMath>
                </a14:m>
                <a:r>
                  <a:rPr lang="es-ES_tradnl" dirty="0"/>
                  <a:t> matriz de varianza-covarianzas de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endParaRPr lang="es-ES_tradnl" dirty="0"/>
              </a:p>
              <a:p>
                <a:endParaRPr lang="es-ES_tradnl" dirty="0"/>
              </a:p>
            </p:txBody>
          </p:sp>
        </mc:Choice>
        <mc:Fallback xmlns="">
          <p:sp>
            <p:nvSpPr>
              <p:cNvPr id="11" name="Content Placeholder 10">
                <a:extLst>
                  <a:ext uri="{FF2B5EF4-FFF2-40B4-BE49-F238E27FC236}">
                    <a16:creationId xmlns:a16="http://schemas.microsoft.com/office/drawing/2014/main" id="{5EBB3223-25AD-9AF4-F56F-B1A8769B307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4"/>
              </p:nvPr>
            </p:nvSpPr>
            <p:spPr>
              <a:blipFill>
                <a:blip r:embed="rId3"/>
                <a:stretch>
                  <a:fillRect l="-2200" t="-3780"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09A8EC8-7B6D-176F-ACDC-19B9C74B09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799486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7BD43F-9B6A-861A-B0BD-684AEE101A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Consideraciones finales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A627EDC-9CA4-1BDD-E1E9-D3DAE3FD3A8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lnSpcReduction="10000"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s-ES_tradnl" dirty="0"/>
                  <a:t>Estandarizamos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s-ES_tradnl" dirty="0"/>
                  <a:t>,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s-ES_tradnl" dirty="0"/>
                  <a:t> antes de usar ambos métodos</a:t>
                </a:r>
              </a:p>
              <a:p>
                <a:pPr>
                  <a:lnSpc>
                    <a:spcPct val="150000"/>
                  </a:lnSpc>
                </a:pPr>
                <a:r>
                  <a:rPr lang="es-ES_tradnl" dirty="0"/>
                  <a:t>¿Cómo elegimos el </a:t>
                </a:r>
                <a:r>
                  <a:rPr lang="es-ES_tradnl" dirty="0">
                    <a:solidFill>
                      <a:srgbClr val="002060"/>
                    </a:solidFill>
                  </a:rPr>
                  <a:t>número de componentes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lang="es-ES_tradnl" dirty="0"/>
                  <a:t>?</a:t>
                </a:r>
              </a:p>
              <a:p>
                <a:pPr lvl="1">
                  <a:lnSpc>
                    <a:spcPct val="150000"/>
                  </a:lnSpc>
                </a:pPr>
                <a:r>
                  <a:rPr lang="es-ES_tradnl" dirty="0"/>
                  <a:t>Por Cross </a:t>
                </a:r>
                <a:r>
                  <a:rPr lang="es-ES_tradnl" dirty="0" err="1"/>
                  <a:t>Validation</a:t>
                </a:r>
                <a:endParaRPr lang="es-ES_tradnl" dirty="0"/>
              </a:p>
              <a:p>
                <a:pPr>
                  <a:lnSpc>
                    <a:spcPct val="150000"/>
                  </a:lnSpc>
                </a:pPr>
                <a:r>
                  <a:rPr lang="es-ES_tradnl" dirty="0">
                    <a:solidFill>
                      <a:srgbClr val="002060"/>
                    </a:solidFill>
                  </a:rPr>
                  <a:t>En la práctica</a:t>
                </a:r>
                <a:r>
                  <a:rPr lang="es-ES_tradnl" dirty="0"/>
                  <a:t>: PLS </a:t>
                </a:r>
                <a14:m>
                  <m:oMath xmlns:m="http://schemas.openxmlformats.org/officeDocument/2006/math">
                    <m:r>
                      <a:rPr lang="es-ES_tradnl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~ </m:t>
                    </m:r>
                  </m:oMath>
                </a14:m>
                <a:r>
                  <a:rPr lang="es-ES_tradnl" dirty="0"/>
                  <a:t>PCR y Ridge</a:t>
                </a:r>
              </a:p>
              <a:p>
                <a:pPr lvl="1">
                  <a:lnSpc>
                    <a:spcPct val="150000"/>
                  </a:lnSpc>
                </a:pPr>
                <a:r>
                  <a:rPr lang="es-ES_tradnl" dirty="0"/>
                  <a:t>Aunque se reduce el sesgo incorporando la relación de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s-ES_tradnl" dirty="0"/>
                  <a:t> con las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s-ES_tradnl" dirty="0"/>
                  <a:t>, puede </a:t>
                </a:r>
                <a:r>
                  <a:rPr lang="es-ES_tradnl" dirty="0">
                    <a:solidFill>
                      <a:srgbClr val="FF0000"/>
                    </a:solidFill>
                  </a:rPr>
                  <a:t>aumentar la varianza</a:t>
                </a:r>
                <a:r>
                  <a:rPr lang="es-ES_tradnl" dirty="0"/>
                  <a:t> del modelo </a:t>
                </a:r>
              </a:p>
              <a:p>
                <a:pPr>
                  <a:lnSpc>
                    <a:spcPct val="150000"/>
                  </a:lnSpc>
                </a:pPr>
                <a:endParaRPr lang="es-ES_tradnl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A627EDC-9CA4-1BDD-E1E9-D3DAE3FD3A8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327" b="-203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61637C7-98D2-096C-AA66-B08C55E029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662007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C42471-9418-E3E3-C7E5-30087178FA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Modelos No Lineales I: Motivación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A780597-6948-B78E-E6E3-6E4F9F1321E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r>
              <a:rPr lang="en-US" sz="2000" dirty="0"/>
              <a:t>References</a:t>
            </a:r>
          </a:p>
          <a:p>
            <a:r>
              <a:rPr lang="es-AR" sz="2000" b="1" dirty="0">
                <a:solidFill>
                  <a:srgbClr val="00663D"/>
                </a:solidFill>
                <a:effectLst/>
                <a:latin typeface="Times" pitchFamily="2" charset="0"/>
                <a:ea typeface="Times" pitchFamily="2" charset="0"/>
                <a:cs typeface="Times" pitchFamily="2" charset="0"/>
              </a:rPr>
              <a:t>† </a:t>
            </a:r>
            <a:r>
              <a:rPr lang="en-US" sz="2000" dirty="0"/>
              <a:t>James, G., Witten, D., Hastie, T., Tibshirani, R., &amp; Taylor, J. (2023). </a:t>
            </a:r>
            <a:r>
              <a:rPr lang="en-US" sz="2000" i="1" dirty="0"/>
              <a:t>An introduction to statistical learning: With applications in Python. </a:t>
            </a:r>
            <a:r>
              <a:rPr lang="en-US" sz="2000" b="1" dirty="0"/>
              <a:t>Chap. 7</a:t>
            </a:r>
          </a:p>
          <a:p>
            <a:r>
              <a:rPr lang="en-US" sz="2000" b="1" cap="small" dirty="0">
                <a:solidFill>
                  <a:srgbClr val="002060"/>
                </a:solidFill>
                <a:effectLst/>
                <a:latin typeface="Times" pitchFamily="2" charset="0"/>
                <a:ea typeface="Times" pitchFamily="2" charset="0"/>
                <a:cs typeface="Times" pitchFamily="2" charset="0"/>
              </a:rPr>
              <a:t>* </a:t>
            </a:r>
            <a:r>
              <a:rPr lang="en-US" sz="200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Gill Sans Nova Light" panose="020B0302020104020203" pitchFamily="34" charset="0"/>
                <a:ea typeface="Gill Sans" panose="020B0502020104020203" pitchFamily="34" charset="-79"/>
                <a:cs typeface="Gill Sans" panose="020B0502020104020203" pitchFamily="34" charset="-79"/>
              </a:rPr>
              <a:t>Friedman, J., Hastie, T., &amp; Tibshirani, R. (2001). </a:t>
            </a:r>
            <a:r>
              <a:rPr lang="en-US" sz="2000" i="1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Gill Sans Nova Light" panose="020B0302020104020203" pitchFamily="34" charset="0"/>
                <a:ea typeface="Gill Sans" panose="020B0502020104020203" pitchFamily="34" charset="-79"/>
                <a:cs typeface="Gill Sans" panose="020B0502020104020203" pitchFamily="34" charset="-79"/>
              </a:rPr>
              <a:t>The elements of statistical learning </a:t>
            </a:r>
            <a:r>
              <a:rPr lang="en-US" sz="200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Gill Sans Nova Light" panose="020B0302020104020203" pitchFamily="34" charset="0"/>
                <a:ea typeface="Gill Sans" panose="020B0502020104020203" pitchFamily="34" charset="-79"/>
                <a:cs typeface="Gill Sans" panose="020B0502020104020203" pitchFamily="34" charset="-79"/>
              </a:rPr>
              <a:t>(Vol. 1). </a:t>
            </a:r>
            <a:r>
              <a:rPr lang="en-US" sz="2000" b="1" dirty="0"/>
              <a:t>Chap 5.1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18F5EC8-9CA8-BFFB-D2D0-21A5435315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060892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8F928D-A2F2-F5F0-0018-094C88CCAF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Motivación I: </a:t>
            </a:r>
            <a:r>
              <a:rPr lang="es-ES_tradnl" i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“Mas allá de la linealidad”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2251C54-6391-40F9-DD28-4D35AA1D76B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77500" lnSpcReduction="20000"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s-ES_tradnl" dirty="0"/>
                  <a:t>Modelos lineales</a:t>
                </a:r>
              </a:p>
              <a:p>
                <a:pPr lvl="1">
                  <a:lnSpc>
                    <a:spcPct val="150000"/>
                  </a:lnSpc>
                  <a:buFont typeface="Wingdings" pitchFamily="2" charset="2"/>
                  <a:buChar char="ü"/>
                </a:pPr>
                <a:r>
                  <a:rPr lang="es-ES_tradnl" dirty="0">
                    <a:solidFill>
                      <a:srgbClr val="00B050"/>
                    </a:solidFill>
                  </a:rPr>
                  <a:t> </a:t>
                </a:r>
                <a:r>
                  <a:rPr lang="es-ES_tradnl" dirty="0"/>
                  <a:t>Simples </a:t>
                </a:r>
              </a:p>
              <a:p>
                <a:pPr lvl="1">
                  <a:lnSpc>
                    <a:spcPct val="150000"/>
                  </a:lnSpc>
                  <a:buFont typeface="Wingdings" pitchFamily="2" charset="2"/>
                  <a:buChar char="ü"/>
                </a:pPr>
                <a:r>
                  <a:rPr lang="es-ES_tradnl" dirty="0">
                    <a:solidFill>
                      <a:srgbClr val="00B050"/>
                    </a:solidFill>
                  </a:rPr>
                  <a:t> </a:t>
                </a:r>
                <a:r>
                  <a:rPr lang="es-ES_tradnl" dirty="0"/>
                  <a:t>Fáciles de interpretar</a:t>
                </a:r>
              </a:p>
              <a:p>
                <a:pPr lvl="1">
                  <a:lnSpc>
                    <a:spcPct val="150000"/>
                  </a:lnSpc>
                  <a:buFont typeface="Wingdings" pitchFamily="2" charset="2"/>
                  <a:buChar char="ü"/>
                </a:pPr>
                <a:r>
                  <a:rPr lang="es-ES_tradnl" dirty="0">
                    <a:solidFill>
                      <a:srgbClr val="00B050"/>
                    </a:solidFill>
                  </a:rPr>
                  <a:t> </a:t>
                </a:r>
                <a:r>
                  <a:rPr lang="es-ES_tradnl" dirty="0"/>
                  <a:t>MCO: Inferencia acerca de </a:t>
                </a:r>
                <a14:m>
                  <m:oMath xmlns:m="http://schemas.openxmlformats.org/officeDocument/2006/math">
                    <m:r>
                      <a:rPr lang="es-ES_tradnl" i="1" smtClean="0">
                        <a:latin typeface="Cambria Math" panose="02040503050406030204" pitchFamily="18" charset="0"/>
                      </a:rPr>
                      <m:t>𝛽</m:t>
                    </m:r>
                  </m:oMath>
                </a14:m>
                <a:endParaRPr lang="es-ES_tradnl" dirty="0"/>
              </a:p>
              <a:p>
                <a:pPr lvl="1">
                  <a:lnSpc>
                    <a:spcPct val="150000"/>
                  </a:lnSpc>
                  <a:buFont typeface="Wingdings" pitchFamily="2" charset="2"/>
                  <a:buChar char="ü"/>
                </a:pPr>
                <a:r>
                  <a:rPr lang="es-ES_tradnl" dirty="0">
                    <a:solidFill>
                      <a:srgbClr val="00B050"/>
                    </a:solidFill>
                  </a:rPr>
                  <a:t> </a:t>
                </a:r>
                <a:r>
                  <a:rPr lang="es-ES_tradnl" dirty="0">
                    <a:solidFill>
                      <a:srgbClr val="002060"/>
                    </a:solidFill>
                  </a:rPr>
                  <a:t>Clasificación</a:t>
                </a:r>
                <a:r>
                  <a:rPr lang="es-ES_tradnl" dirty="0"/>
                  <a:t>: transformación </a:t>
                </a:r>
                <a:r>
                  <a:rPr lang="es-ES_tradnl" dirty="0" err="1"/>
                  <a:t>odd</a:t>
                </a:r>
                <a:r>
                  <a:rPr lang="es-ES_tradnl" dirty="0"/>
                  <a:t>-ratio lineal en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endParaRPr lang="es-ES_tradnl" dirty="0"/>
              </a:p>
              <a:p>
                <a:pPr lvl="1">
                  <a:lnSpc>
                    <a:spcPct val="150000"/>
                  </a:lnSpc>
                  <a:buFont typeface="Wingdings" pitchFamily="2" charset="2"/>
                  <a:buChar char="ü"/>
                </a:pPr>
                <a:r>
                  <a:rPr lang="es-ES_tradnl" dirty="0">
                    <a:solidFill>
                      <a:srgbClr val="00B050"/>
                    </a:solidFill>
                  </a:rPr>
                  <a:t> </a:t>
                </a:r>
                <a:r>
                  <a:rPr lang="es-ES_tradnl" dirty="0">
                    <a:solidFill>
                      <a:srgbClr val="002060"/>
                    </a:solidFill>
                  </a:rPr>
                  <a:t>Regularización</a:t>
                </a:r>
                <a:r>
                  <a:rPr lang="es-ES_tradnl" dirty="0"/>
                  <a:t>: LASSO, Ridge -&gt; menos complejidad, reducción de varianza</a:t>
                </a:r>
              </a:p>
              <a:p>
                <a:pPr lvl="1">
                  <a:lnSpc>
                    <a:spcPct val="150000"/>
                  </a:lnSpc>
                  <a:buFont typeface="System Font Regular"/>
                  <a:buChar char="✗"/>
                </a:pPr>
                <a:r>
                  <a:rPr lang="es-ES_tradnl" dirty="0">
                    <a:solidFill>
                      <a:srgbClr val="FF0000"/>
                    </a:solidFill>
                  </a:rPr>
                  <a:t> </a:t>
                </a:r>
                <a:r>
                  <a:rPr lang="es-ES_tradnl" dirty="0"/>
                  <a:t>Poder predictivo limitado: </a:t>
                </a:r>
                <a:r>
                  <a:rPr lang="es-ES_tradnl" dirty="0">
                    <a:solidFill>
                      <a:srgbClr val="002060"/>
                    </a:solidFill>
                  </a:rPr>
                  <a:t>aproximación</a:t>
                </a:r>
                <a:r>
                  <a:rPr lang="es-ES_tradnl" i="1" dirty="0"/>
                  <a:t> </a:t>
                </a:r>
              </a:p>
              <a:p>
                <a:pPr>
                  <a:lnSpc>
                    <a:spcPct val="150000"/>
                  </a:lnSpc>
                </a:pPr>
                <a:r>
                  <a:rPr lang="es-ES_tradnl" dirty="0">
                    <a:solidFill>
                      <a:srgbClr val="002060"/>
                    </a:solidFill>
                  </a:rPr>
                  <a:t>Idea</a:t>
                </a:r>
                <a:r>
                  <a:rPr lang="es-ES_tradnl" dirty="0"/>
                  <a:t>: relajar el supuesto de linealidad, pero tratando de mantener interpretabilidad</a:t>
                </a:r>
              </a:p>
              <a:p>
                <a:pPr marL="0" indent="0">
                  <a:lnSpc>
                    <a:spcPct val="150000"/>
                  </a:lnSpc>
                  <a:buNone/>
                </a:pPr>
                <a:endParaRPr lang="es-ES_tradnl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2251C54-6391-40F9-DD28-4D35AA1D76B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844" r="-60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002FF52-2078-33AA-2581-B2D482047C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47429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10E4FD-2DBC-AAD4-5AD2-71B1A7DA0C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Motivación II: </a:t>
            </a:r>
            <a:r>
              <a:rPr lang="es-ES_tradnl" i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“Mas allá de la linealidad”</a:t>
            </a:r>
            <a:endParaRPr lang="es-ES_tradnl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DCB7428-BAF8-C43C-0F61-3A249901DD5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>
                  <a:lnSpc>
                    <a:spcPct val="100000"/>
                  </a:lnSpc>
                </a:pPr>
                <a:r>
                  <a:rPr lang="es-ES_tradnl" dirty="0"/>
                  <a:t>Extensión más </a:t>
                </a:r>
                <a:r>
                  <a:rPr lang="es-ES_tradnl" dirty="0">
                    <a:solidFill>
                      <a:srgbClr val="002060"/>
                    </a:solidFill>
                  </a:rPr>
                  <a:t>simple</a:t>
                </a:r>
              </a:p>
              <a:p>
                <a:pPr lvl="1">
                  <a:lnSpc>
                    <a:spcPct val="100000"/>
                  </a:lnSpc>
                </a:pPr>
                <a:r>
                  <a:rPr lang="es-ES_tradnl" dirty="0"/>
                  <a:t>Regresión de polinomios</a:t>
                </a:r>
              </a:p>
              <a:p>
                <a:pPr lvl="1">
                  <a:lnSpc>
                    <a:spcPct val="100000"/>
                  </a:lnSpc>
                </a:pPr>
                <a:r>
                  <a:rPr lang="es-ES_tradnl" dirty="0"/>
                  <a:t>Step </a:t>
                </a:r>
                <a:r>
                  <a:rPr lang="es-ES_tradnl" dirty="0" err="1"/>
                  <a:t>Functions</a:t>
                </a:r>
                <a:endParaRPr lang="es-ES_tradnl" dirty="0"/>
              </a:p>
              <a:p>
                <a:pPr>
                  <a:lnSpc>
                    <a:spcPct val="100000"/>
                  </a:lnSpc>
                </a:pPr>
                <a:r>
                  <a:rPr lang="es-ES_tradnl" dirty="0"/>
                  <a:t>Extensión más </a:t>
                </a:r>
                <a:r>
                  <a:rPr lang="es-ES_tradnl" dirty="0">
                    <a:solidFill>
                      <a:srgbClr val="002060"/>
                    </a:solidFill>
                  </a:rPr>
                  <a:t>compleja</a:t>
                </a:r>
              </a:p>
              <a:p>
                <a:pPr lvl="1">
                  <a:lnSpc>
                    <a:spcPct val="100000"/>
                  </a:lnSpc>
                </a:pPr>
                <a:r>
                  <a:rPr lang="es-ES_tradnl" dirty="0" err="1"/>
                  <a:t>Splines</a:t>
                </a:r>
                <a:endParaRPr lang="es-ES_tradnl" dirty="0"/>
              </a:p>
              <a:p>
                <a:pPr lvl="1">
                  <a:lnSpc>
                    <a:spcPct val="100000"/>
                  </a:lnSpc>
                </a:pPr>
                <a:r>
                  <a:rPr lang="es-ES_tradnl" dirty="0"/>
                  <a:t>Regresión Local -&gt; usan funciones de Kernels</a:t>
                </a:r>
              </a:p>
              <a:p>
                <a:pPr lvl="1">
                  <a:lnSpc>
                    <a:spcPct val="100000"/>
                  </a:lnSpc>
                </a:pPr>
                <a:endParaRPr lang="es-ES_tradnl" sz="1400" dirty="0"/>
              </a:p>
              <a:p>
                <a:r>
                  <a:rPr lang="es-ES_tradnl" dirty="0">
                    <a:solidFill>
                      <a:srgbClr val="002060"/>
                    </a:solidFill>
                  </a:rPr>
                  <a:t>Extensiones</a:t>
                </a:r>
                <a:r>
                  <a:rPr lang="es-ES_tradnl" dirty="0"/>
                  <a:t>: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lang="es-ES_tradnl" dirty="0"/>
                  <a:t> cuantitativo o binario (categórico)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DCB7428-BAF8-C43C-0F61-3A249901DD5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327" t="-174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DD0D8F6-F6DB-41E8-B614-0A42A5FF36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203604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C42471-9418-E3E3-C7E5-30087178FA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Modelos No Lineales II: Regresión de Polinomios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A780597-6948-B78E-E6E3-6E4F9F1321E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Autofit/>
          </a:bodyPr>
          <a:lstStyle/>
          <a:p>
            <a:r>
              <a:rPr lang="en-US" sz="2000" dirty="0"/>
              <a:t>References</a:t>
            </a:r>
          </a:p>
          <a:p>
            <a:r>
              <a:rPr lang="es-AR" sz="2000" b="1" dirty="0">
                <a:solidFill>
                  <a:srgbClr val="00663D"/>
                </a:solidFill>
                <a:effectLst/>
                <a:latin typeface="Times" pitchFamily="2" charset="0"/>
                <a:ea typeface="Times" pitchFamily="2" charset="0"/>
                <a:cs typeface="Times" pitchFamily="2" charset="0"/>
              </a:rPr>
              <a:t>† </a:t>
            </a:r>
            <a:r>
              <a:rPr lang="en-US" sz="2000" dirty="0"/>
              <a:t>James, G., Witten, D., Hastie, T., Tibshirani, R., &amp; Taylor, J. (2023). </a:t>
            </a:r>
            <a:r>
              <a:rPr lang="en-US" sz="2000" i="1" dirty="0"/>
              <a:t>An introduction to statistical learning: With applications in Python. </a:t>
            </a:r>
            <a:r>
              <a:rPr lang="en-US" sz="2000" b="1" dirty="0"/>
              <a:t>Chap. 7.1</a:t>
            </a:r>
          </a:p>
          <a:p>
            <a:r>
              <a:rPr lang="en-US" sz="2000" b="1" cap="small" dirty="0">
                <a:solidFill>
                  <a:srgbClr val="002060"/>
                </a:solidFill>
                <a:effectLst/>
                <a:latin typeface="Times" pitchFamily="2" charset="0"/>
                <a:ea typeface="Times" pitchFamily="2" charset="0"/>
                <a:cs typeface="Times" pitchFamily="2" charset="0"/>
              </a:rPr>
              <a:t>* </a:t>
            </a:r>
            <a:r>
              <a:rPr lang="en-US" sz="200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Gill Sans Nova Light" panose="020B0302020104020203" pitchFamily="34" charset="0"/>
                <a:ea typeface="Gill Sans" panose="020B0502020104020203" pitchFamily="34" charset="-79"/>
                <a:cs typeface="Gill Sans" panose="020B0502020104020203" pitchFamily="34" charset="-79"/>
              </a:rPr>
              <a:t>Friedman, J., Hastie, T., &amp; Tibshirani, R. (2001). </a:t>
            </a:r>
            <a:r>
              <a:rPr lang="en-US" sz="2000" i="1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Gill Sans Nova Light" panose="020B0302020104020203" pitchFamily="34" charset="0"/>
                <a:ea typeface="Gill Sans" panose="020B0502020104020203" pitchFamily="34" charset="-79"/>
                <a:cs typeface="Gill Sans" panose="020B0502020104020203" pitchFamily="34" charset="-79"/>
              </a:rPr>
              <a:t>The elements of statistical learning </a:t>
            </a:r>
            <a:r>
              <a:rPr lang="en-US" sz="200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Gill Sans Nova Light" panose="020B0302020104020203" pitchFamily="34" charset="0"/>
                <a:ea typeface="Gill Sans" panose="020B0502020104020203" pitchFamily="34" charset="-79"/>
                <a:cs typeface="Gill Sans" panose="020B0502020104020203" pitchFamily="34" charset="-79"/>
              </a:rPr>
              <a:t>(Vol. 1). </a:t>
            </a:r>
            <a:r>
              <a:rPr lang="en-US" sz="2000" b="1" dirty="0"/>
              <a:t>Chap 5.2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18F5EC8-9CA8-BFFB-D2D0-21A5435315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066359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10E4FD-2DBC-AAD4-5AD2-71B1A7DA0C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Polinomios: </a:t>
            </a:r>
            <a:r>
              <a:rPr lang="es-ES_tradnl" i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Idea y Definición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DCB7428-BAF8-C43C-0F61-3A249901DD5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20000"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s-ES_tradnl" dirty="0"/>
                  <a:t>Modelo lineal: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𝜖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endParaRPr lang="es-ES_tradnl" dirty="0"/>
              </a:p>
              <a:p>
                <a:pPr>
                  <a:lnSpc>
                    <a:spcPct val="150000"/>
                  </a:lnSpc>
                </a:pPr>
                <a:r>
                  <a:rPr lang="es-ES_tradnl" dirty="0"/>
                  <a:t>Regresión de polinomios:</a:t>
                </a:r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bSup>
                        <m:sSub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r>
                        <a:rPr lang="en-US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sSubSup>
                        <m:sSub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b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+…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sub>
                      </m:sSub>
                      <m:sSubSup>
                        <m:sSub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sup>
                      </m:sSub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𝜖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  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d>
                    </m:oMath>
                  </m:oMathPara>
                </a14:m>
                <a:endParaRPr lang="es-ES_tradnl" dirty="0"/>
              </a:p>
              <a:p>
                <a:pPr>
                  <a:lnSpc>
                    <a:spcPct val="150000"/>
                  </a:lnSpc>
                </a:pPr>
                <a:r>
                  <a:rPr lang="es-ES_tradnl" dirty="0">
                    <a:solidFill>
                      <a:srgbClr val="002060"/>
                    </a:solidFill>
                  </a:rPr>
                  <a:t>Idea</a:t>
                </a:r>
                <a:r>
                  <a:rPr lang="es-ES_tradnl" dirty="0"/>
                  <a:t>: a mayor grado de polinomio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r>
                  <a:rPr lang="es-ES_tradnl" dirty="0"/>
                  <a:t>, mayor overfitting</a:t>
                </a:r>
              </a:p>
              <a:p>
                <a:pPr lvl="1">
                  <a:lnSpc>
                    <a:spcPct val="150000"/>
                  </a:lnSpc>
                </a:pPr>
                <a:r>
                  <a:rPr lang="es-ES_tradnl" dirty="0">
                    <a:solidFill>
                      <a:srgbClr val="002060"/>
                    </a:solidFill>
                  </a:rPr>
                  <a:t>Parámetro </a:t>
                </a:r>
                <a:r>
                  <a:rPr lang="es-ES_tradnl" dirty="0" err="1">
                    <a:solidFill>
                      <a:srgbClr val="002060"/>
                    </a:solidFill>
                  </a:rPr>
                  <a:t>tuning</a:t>
                </a:r>
                <a:r>
                  <a:rPr lang="es-ES_tradnl" dirty="0"/>
                  <a:t>: grado de polinomio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r>
                  <a:rPr lang="es-ES_tradnl" dirty="0"/>
                  <a:t> -&gt; Elección por </a:t>
                </a:r>
                <a:r>
                  <a:rPr lang="es-ES_tradnl" dirty="0" err="1"/>
                  <a:t>cross</a:t>
                </a:r>
                <a:r>
                  <a:rPr lang="es-ES_tradnl" dirty="0"/>
                  <a:t> </a:t>
                </a:r>
                <a:r>
                  <a:rPr lang="es-ES_tradnl" dirty="0" err="1"/>
                  <a:t>validation</a:t>
                </a:r>
                <a:endParaRPr lang="es-ES_tradnl" dirty="0"/>
              </a:p>
              <a:p>
                <a:pPr>
                  <a:lnSpc>
                    <a:spcPct val="150000"/>
                  </a:lnSpc>
                </a:pPr>
                <a:r>
                  <a:rPr lang="es-ES_tradnl" dirty="0"/>
                  <a:t>Estimación de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</m:oMath>
                </a14:m>
                <a:r>
                  <a:rPr lang="es-ES_tradnl" dirty="0"/>
                  <a:t>: </a:t>
                </a:r>
                <a:r>
                  <a:rPr lang="es-ES_tradnl" dirty="0">
                    <a:solidFill>
                      <a:srgbClr val="002060"/>
                    </a:solidFill>
                  </a:rPr>
                  <a:t>MCO</a:t>
                </a:r>
              </a:p>
              <a:p>
                <a:pPr>
                  <a:lnSpc>
                    <a:spcPct val="150000"/>
                  </a:lnSpc>
                </a:pPr>
                <a:endParaRPr lang="es-ES_tradnl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DCB7428-BAF8-C43C-0F61-3A249901DD5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0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5C9053A-FF2F-96E6-3062-D5A770A312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53180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19CDA2-FBFD-4435-09C4-88FAECC458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Con el polinomio de mayor grado…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6BD426E6-D618-C483-9539-62233E71E3F7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>
              <a:xfrm>
                <a:off x="548639" y="1825625"/>
                <a:ext cx="4251961" cy="4351338"/>
              </a:xfrm>
            </p:spPr>
            <p:txBody>
              <a:bodyPr>
                <a:normAutofit/>
              </a:bodyPr>
              <a:lstStyle/>
              <a:p>
                <a:pPr>
                  <a:lnSpc>
                    <a:spcPct val="120000"/>
                  </a:lnSpc>
                </a:pPr>
                <a:r>
                  <a:rPr lang="es-ES_tradnl" sz="2800" dirty="0">
                    <a:solidFill>
                      <a:srgbClr val="FF0000"/>
                    </a:solidFill>
                  </a:rPr>
                  <a:t>Overfit</a:t>
                </a:r>
                <a:r>
                  <a:rPr lang="es-ES_tradnl" sz="2800" dirty="0"/>
                  <a:t>: ‘</a:t>
                </a:r>
                <a:r>
                  <a:rPr lang="es-ES_tradnl" sz="2800" dirty="0" err="1">
                    <a:solidFill>
                      <a:srgbClr val="002060"/>
                    </a:solidFill>
                  </a:rPr>
                  <a:t>sobreajustar</a:t>
                </a:r>
                <a:r>
                  <a:rPr lang="es-ES_tradnl" sz="2800" dirty="0"/>
                  <a:t>’ el sesgo aumenta considerablemente la varianza.</a:t>
                </a:r>
              </a:p>
              <a:p>
                <a:pPr>
                  <a:lnSpc>
                    <a:spcPct val="120000"/>
                  </a:lnSpc>
                </a:pPr>
                <a:r>
                  <a:rPr lang="es-ES_tradnl" sz="2800" dirty="0"/>
                  <a:t>Recordamos:</a:t>
                </a:r>
              </a:p>
              <a:p>
                <a:pPr>
                  <a:lnSpc>
                    <a:spcPct val="120000"/>
                  </a:lnSpc>
                </a:pPr>
                <a:endParaRPr lang="es-ES_tradnl" sz="1200" dirty="0"/>
              </a:p>
              <a:p>
                <a:pPr marL="0" indent="0">
                  <a:lnSpc>
                    <a:spcPct val="12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𝐸</m:t>
                      </m:r>
                      <m:sSup>
                        <m:sSupPr>
                          <m:ctrlPr>
                            <a:rPr lang="en-US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sz="1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𝑌</m:t>
                              </m:r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  <m:acc>
                                <m:accPr>
                                  <m:chr m:val="̂"/>
                                  <m:ctrlPr>
                                    <a:rPr lang="en-US" sz="18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sz="18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𝑓</m:t>
                                  </m:r>
                                </m:e>
                              </m:acc>
                            </m:e>
                          </m:d>
                        </m:e>
                        <m:sup>
                          <m:r>
                            <a:rPr lang="en-US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1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sz="1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𝑆𝑒𝑠𝑔</m:t>
                      </m:r>
                      <m:sSup>
                        <m:sSupPr>
                          <m:ctrlPr>
                            <a:rPr lang="en-US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𝑜</m:t>
                          </m:r>
                        </m:e>
                        <m:sup>
                          <m:r>
                            <a:rPr lang="en-US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d>
                        <m:dPr>
                          <m:ctrlPr>
                            <a:rPr lang="en-US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̂"/>
                              <m:ctrlPr>
                                <a:rPr lang="en-US" sz="1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1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𝑓</m:t>
                              </m:r>
                            </m:e>
                          </m:acc>
                        </m:e>
                      </m:d>
                      <m:r>
                        <a:rPr lang="en-US" sz="1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a:rPr lang="en-US" sz="1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𝑉</m:t>
                      </m:r>
                      <m:d>
                        <m:dPr>
                          <m:ctrlPr>
                            <a:rPr lang="en-US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̂"/>
                              <m:ctrlPr>
                                <a:rPr lang="en-US" sz="1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1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𝑓</m:t>
                              </m:r>
                            </m:e>
                          </m:acc>
                        </m:e>
                      </m:d>
                      <m:r>
                        <a:rPr lang="en-US" sz="1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US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𝜎</m:t>
                          </m:r>
                        </m:e>
                        <m:sup>
                          <m:r>
                            <a:rPr lang="en-US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s-ES_tradnl" sz="1800" dirty="0"/>
              </a:p>
            </p:txBody>
          </p:sp>
        </mc:Choice>
        <mc:Fallback xmlns="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6BD426E6-D618-C483-9539-62233E71E3F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xfrm>
                <a:off x="548639" y="1825625"/>
                <a:ext cx="4251961" cy="4351338"/>
              </a:xfrm>
              <a:blipFill>
                <a:blip r:embed="rId3"/>
                <a:stretch>
                  <a:fillRect l="-2679" t="-29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Content Placeholder 7" descr="A close-up of a graph&#10;&#10;Description automatically generated">
            <a:extLst>
              <a:ext uri="{FF2B5EF4-FFF2-40B4-BE49-F238E27FC236}">
                <a16:creationId xmlns:a16="http://schemas.microsoft.com/office/drawing/2014/main" id="{78D76834-7F41-11EB-44E6-264289F03B38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4"/>
          <a:stretch>
            <a:fillRect/>
          </a:stretch>
        </p:blipFill>
        <p:spPr>
          <a:xfrm>
            <a:off x="4649492" y="1825625"/>
            <a:ext cx="7406264" cy="3748477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F9887E9-CEAB-6AB7-BC39-1C33553BCC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30</a:t>
            </a:fld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67798CC-0766-3E77-CD62-6253F71840CD}"/>
              </a:ext>
            </a:extLst>
          </p:cNvPr>
          <p:cNvSpPr txBox="1"/>
          <p:nvPr/>
        </p:nvSpPr>
        <p:spPr>
          <a:xfrm>
            <a:off x="4800601" y="5706255"/>
            <a:ext cx="5775959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Gill Sans Nova Light" panose="020B0302020104020203" pitchFamily="34" charset="0"/>
              </a:rPr>
              <a:t>Fuente: WSE, 2019, </a:t>
            </a:r>
            <a:r>
              <a:rPr lang="en-US" sz="1600" i="1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Gill Sans Nova Light" panose="020B0302020104020203" pitchFamily="34" charset="0"/>
              </a:rPr>
              <a:t>Big data</a:t>
            </a:r>
            <a:r>
              <a:rPr lang="en-US" sz="160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Gill Sans Nova Light" panose="020B0302020104020203" pitchFamily="34" charset="0"/>
              </a:rPr>
              <a:t>, </a:t>
            </a:r>
            <a:r>
              <a:rPr lang="en-US" sz="1600" dirty="0" err="1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Gill Sans Nova Light" panose="020B0302020104020203" pitchFamily="34" charset="0"/>
              </a:rPr>
              <a:t>Siglo</a:t>
            </a:r>
            <a:r>
              <a:rPr lang="en-US" sz="160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Gill Sans Nova Light" panose="020B0302020104020203" pitchFamily="34" charset="0"/>
              </a:rPr>
              <a:t> XXI </a:t>
            </a:r>
            <a:r>
              <a:rPr lang="en-US" sz="1600" dirty="0" err="1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Gill Sans Nova Light" panose="020B0302020104020203" pitchFamily="34" charset="0"/>
              </a:rPr>
              <a:t>Editores</a:t>
            </a:r>
            <a:r>
              <a:rPr lang="en-US" sz="160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Gill Sans Nova Light" panose="020B0302020104020203" pitchFamily="34" charset="0"/>
              </a:rPr>
              <a:t>, </a:t>
            </a:r>
            <a:r>
              <a:rPr lang="es-ES_tradnl" sz="160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Gill Sans Nova Light" panose="020B0302020104020203" pitchFamily="34" charset="0"/>
              </a:rPr>
              <a:t>capitulo</a:t>
            </a:r>
            <a:r>
              <a:rPr lang="en-US" sz="160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Gill Sans Nova Light" panose="020B0302020104020203" pitchFamily="34" charset="0"/>
              </a:rPr>
              <a:t> 5, p.123</a:t>
            </a:r>
            <a:endParaRPr lang="en-US" sz="4400" dirty="0">
              <a:solidFill>
                <a:schemeClr val="tx1">
                  <a:lumMod val="50000"/>
                  <a:lumOff val="50000"/>
                </a:schemeClr>
              </a:solidFill>
              <a:effectLst/>
              <a:latin typeface="Gill Sans Nova Light" panose="020B03020201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754001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6B10E4FD-2DBC-AAD4-5AD2-71B1A7DA0CEF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>
              <a:xfrm>
                <a:off x="838200" y="291973"/>
                <a:ext cx="10515600" cy="1325563"/>
              </a:xfrm>
            </p:spPr>
            <p:txBody>
              <a:bodyPr>
                <a:noAutofit/>
              </a:bodyPr>
              <a:lstStyle/>
              <a:p>
                <a:r>
                  <a:rPr lang="es-ES_tradnl" sz="4000" dirty="0"/>
                  <a:t>Polinomio: </a:t>
                </a:r>
                <a:r>
                  <a:rPr lang="es-ES_tradnl" sz="4000" i="1" dirty="0">
                    <a:solidFill>
                      <a:schemeClr val="tx1">
                        <a:lumMod val="50000"/>
                        <a:lumOff val="50000"/>
                      </a:schemeClr>
                    </a:solidFill>
                  </a:rPr>
                  <a:t>Ilustración</a:t>
                </a:r>
                <a:r>
                  <a:rPr lang="es-ES_tradnl" sz="4000" dirty="0"/>
                  <a:t> </a:t>
                </a:r>
                <a:r>
                  <a:rPr lang="es-ES_tradnl" sz="4000" i="1" dirty="0">
                    <a:solidFill>
                      <a:schemeClr val="tx1">
                        <a:lumMod val="50000"/>
                        <a:lumOff val="50000"/>
                      </a:schemeClr>
                    </a:solidFill>
                  </a:rPr>
                  <a:t>de salarios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4000" i="1" dirty="0">
                            <a:solidFill>
                              <a:schemeClr val="tx1">
                                <a:lumMod val="50000"/>
                                <a:lumOff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ES_tradnl" sz="4000" i="1" dirty="0">
                            <a:solidFill>
                              <a:schemeClr val="tx1">
                                <a:lumMod val="50000"/>
                                <a:lumOff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</m:d>
                  </m:oMath>
                </a14:m>
                <a:r>
                  <a:rPr lang="es-ES_tradnl" sz="4000" i="1" dirty="0">
                    <a:solidFill>
                      <a:schemeClr val="tx1">
                        <a:lumMod val="50000"/>
                        <a:lumOff val="50000"/>
                      </a:schemeClr>
                    </a:solidFill>
                  </a:rPr>
                  <a:t>en edad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4000" i="1" dirty="0">
                            <a:solidFill>
                              <a:schemeClr val="tx1">
                                <a:lumMod val="50000"/>
                                <a:lumOff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ES_tradnl" sz="4000" i="1" dirty="0">
                            <a:solidFill>
                              <a:schemeClr val="tx1">
                                <a:lumMod val="50000"/>
                                <a:lumOff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d>
                  </m:oMath>
                </a14:m>
                <a:r>
                  <a:rPr lang="es-ES_tradnl" sz="4000" dirty="0">
                    <a:solidFill>
                      <a:schemeClr val="tx1"/>
                    </a:solidFill>
                  </a:rPr>
                  <a:t> </a:t>
                </a:r>
                <a:endParaRPr lang="es-ES_tradnl" sz="4000" i="1" dirty="0"/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6B10E4FD-2DBC-AAD4-5AD2-71B1A7DA0CE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838200" y="291973"/>
                <a:ext cx="10515600" cy="1325563"/>
              </a:xfrm>
              <a:blipFill>
                <a:blip r:embed="rId2"/>
                <a:stretch>
                  <a:fillRect l="-2171"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5C9053A-FF2F-96E6-3062-D5A770A312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31</a:t>
            </a:fld>
            <a:endParaRPr lang="en-US"/>
          </a:p>
        </p:txBody>
      </p:sp>
      <p:pic>
        <p:nvPicPr>
          <p:cNvPr id="13" name="Picture 12" descr="A graph of a graph of a person's degree&#10;&#10;Description automatically generated with medium confidence">
            <a:extLst>
              <a:ext uri="{FF2B5EF4-FFF2-40B4-BE49-F238E27FC236}">
                <a16:creationId xmlns:a16="http://schemas.microsoft.com/office/drawing/2014/main" id="{A3112D88-A97C-CA0B-A0FA-CE3CA79948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82223" y="1394431"/>
            <a:ext cx="8427553" cy="5144481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F502C932-C558-6562-4620-ABED8482C49A}"/>
              </a:ext>
            </a:extLst>
          </p:cNvPr>
          <p:cNvSpPr txBox="1"/>
          <p:nvPr/>
        </p:nvSpPr>
        <p:spPr>
          <a:xfrm>
            <a:off x="201168" y="5584183"/>
            <a:ext cx="2029968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effectLst/>
                <a:latin typeface="Gill Sans Nova Light" panose="020B0302020104020203" pitchFamily="34" charset="0"/>
              </a:rPr>
              <a:t>James, Witten, Hastie, Tibshirani</a:t>
            </a:r>
            <a:r>
              <a:rPr lang="en-US" sz="1600" dirty="0">
                <a:latin typeface="Gill Sans Nova Light" panose="020B0302020104020203" pitchFamily="34" charset="0"/>
              </a:rPr>
              <a:t> &amp; Taylor (</a:t>
            </a:r>
            <a:r>
              <a:rPr lang="en-US" sz="1600" dirty="0">
                <a:effectLst/>
                <a:latin typeface="Gill Sans Nova Light" panose="020B0302020104020203" pitchFamily="34" charset="0"/>
              </a:rPr>
              <a:t>2023). p.</a:t>
            </a:r>
            <a:r>
              <a:rPr lang="en-US" sz="1600" dirty="0">
                <a:latin typeface="Gill Sans Nova Light" panose="020B0302020104020203" pitchFamily="34" charset="0"/>
              </a:rPr>
              <a:t>291</a:t>
            </a:r>
            <a:endParaRPr lang="en-US" sz="4400" dirty="0">
              <a:effectLst/>
              <a:latin typeface="Gill Sans Nova Light" panose="020B0302020104020203" pitchFamily="34" charset="0"/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129D402A-503F-39D7-02B9-C2F0B0E2B375}"/>
              </a:ext>
            </a:extLst>
          </p:cNvPr>
          <p:cNvSpPr/>
          <p:nvPr/>
        </p:nvSpPr>
        <p:spPr>
          <a:xfrm>
            <a:off x="1882223" y="3429000"/>
            <a:ext cx="348913" cy="1051560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638E7346-D8F0-E136-1E43-0605F52EF5DB}"/>
              </a:ext>
            </a:extLst>
          </p:cNvPr>
          <p:cNvSpPr/>
          <p:nvPr/>
        </p:nvSpPr>
        <p:spPr>
          <a:xfrm>
            <a:off x="5921542" y="3111654"/>
            <a:ext cx="534122" cy="1972409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ABA04D87-96C7-68FC-4947-41676F22AFAF}"/>
              </a:ext>
            </a:extLst>
          </p:cNvPr>
          <p:cNvSpPr/>
          <p:nvPr/>
        </p:nvSpPr>
        <p:spPr>
          <a:xfrm>
            <a:off x="7152934" y="5323538"/>
            <a:ext cx="2356826" cy="518159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0405C5C3-A1F1-3ADB-D9EA-1513308FCA08}"/>
              </a:ext>
            </a:extLst>
          </p:cNvPr>
          <p:cNvSpPr/>
          <p:nvPr/>
        </p:nvSpPr>
        <p:spPr>
          <a:xfrm>
            <a:off x="8610601" y="2041684"/>
            <a:ext cx="1699176" cy="3542499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02F9C52E-3912-7738-90CC-BC10DB2895B1}"/>
              </a:ext>
            </a:extLst>
          </p:cNvPr>
          <p:cNvSpPr/>
          <p:nvPr/>
        </p:nvSpPr>
        <p:spPr>
          <a:xfrm flipH="1">
            <a:off x="5179714" y="3966671"/>
            <a:ext cx="1008889" cy="1804663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C671610E-06B5-DD50-E5C5-39BBAC5E601B}"/>
                  </a:ext>
                </a:extLst>
              </p:cNvPr>
              <p:cNvSpPr txBox="1"/>
              <p:nvPr/>
            </p:nvSpPr>
            <p:spPr>
              <a:xfrm>
                <a:off x="6940297" y="1369950"/>
                <a:ext cx="5251703" cy="42037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s-ES_tradnl" sz="20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2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</m:acc>
                      <m:d>
                        <m:dPr>
                          <m:ctrlPr>
                            <a:rPr lang="en-US" sz="2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000" b="0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b="0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2000" b="0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e>
                      </m:d>
                      <m:r>
                        <a:rPr lang="en-US" sz="20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sz="2000" b="0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000" b="0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𝛽</m:t>
                              </m:r>
                            </m:e>
                          </m:acc>
                        </m:e>
                        <m:sub>
                          <m:r>
                            <a:rPr lang="en-US" sz="2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sz="20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0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sz="20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0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𝛽</m:t>
                              </m:r>
                            </m:e>
                          </m:acc>
                        </m:e>
                        <m:sub>
                          <m:r>
                            <a:rPr lang="en-US" sz="2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US" sz="20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0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sz="200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0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sz="20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0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𝛽</m:t>
                              </m:r>
                            </m:e>
                          </m:acc>
                        </m:e>
                        <m:sub>
                          <m:r>
                            <a:rPr lang="en-US" sz="2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bSup>
                        <m:sSubSupPr>
                          <m:ctrlPr>
                            <a:rPr lang="en-US" sz="2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0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0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en-US" sz="2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r>
                        <a:rPr lang="en-US" sz="200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0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sz="20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0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𝛽</m:t>
                              </m:r>
                            </m:e>
                          </m:acc>
                        </m:e>
                        <m:sub>
                          <m:r>
                            <a:rPr lang="en-US" sz="2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sSubSup>
                        <m:sSubSupPr>
                          <m:ctrlPr>
                            <a:rPr lang="en-US" sz="20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0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0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en-US" sz="2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bSup>
                      <m:r>
                        <a:rPr lang="en-US" sz="200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0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sz="20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0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𝛽</m:t>
                              </m:r>
                            </m:e>
                          </m:acc>
                        </m:e>
                        <m:sub>
                          <m:r>
                            <a:rPr lang="en-US" sz="2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  <m:sSubSup>
                        <m:sSubSupPr>
                          <m:ctrlPr>
                            <a:rPr lang="en-US" sz="20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0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0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en-US" sz="2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sup>
                      </m:sSubSup>
                    </m:oMath>
                  </m:oMathPara>
                </a14:m>
                <a:endParaRPr lang="es-ES_tradnl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C671610E-06B5-DD50-E5C5-39BBAC5E601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40297" y="1369950"/>
                <a:ext cx="5251703" cy="420371"/>
              </a:xfrm>
              <a:prstGeom prst="rect">
                <a:avLst/>
              </a:prstGeom>
              <a:blipFill>
                <a:blip r:embed="rId4"/>
                <a:stretch>
                  <a:fillRect l="-482" t="-5882" b="-8824"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" name="Oval 20">
            <a:extLst>
              <a:ext uri="{FF2B5EF4-FFF2-40B4-BE49-F238E27FC236}">
                <a16:creationId xmlns:a16="http://schemas.microsoft.com/office/drawing/2014/main" id="{2D0A59EB-321F-9325-3079-C7D111EF2926}"/>
              </a:ext>
            </a:extLst>
          </p:cNvPr>
          <p:cNvSpPr/>
          <p:nvPr/>
        </p:nvSpPr>
        <p:spPr>
          <a:xfrm>
            <a:off x="3127325" y="2218317"/>
            <a:ext cx="2272205" cy="1157409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216537A4-97D9-1366-3250-6582095D8929}"/>
              </a:ext>
            </a:extLst>
          </p:cNvPr>
          <p:cNvSpPr/>
          <p:nvPr/>
        </p:nvSpPr>
        <p:spPr>
          <a:xfrm>
            <a:off x="7209322" y="2041684"/>
            <a:ext cx="2356826" cy="518159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8197023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21" grpId="0" animBg="1"/>
      <p:bldP spid="22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C42471-9418-E3E3-C7E5-30087178FA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Modelos No Lineales III: Funciones No Lineales 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A780597-6948-B78E-E6E3-6E4F9F1321E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n-US" dirty="0"/>
              <a:t>References</a:t>
            </a:r>
          </a:p>
          <a:p>
            <a:r>
              <a:rPr lang="es-AR" sz="2400" b="1" dirty="0">
                <a:solidFill>
                  <a:srgbClr val="00663D"/>
                </a:solidFill>
                <a:effectLst/>
                <a:latin typeface="Times" pitchFamily="2" charset="0"/>
                <a:ea typeface="Times" pitchFamily="2" charset="0"/>
                <a:cs typeface="Times" pitchFamily="2" charset="0"/>
              </a:rPr>
              <a:t>† </a:t>
            </a:r>
            <a:r>
              <a:rPr lang="en-US" sz="2400" dirty="0"/>
              <a:t>James, G., Witten, D., Hastie, T., Tibshirani, R., &amp; Taylor, J. (2023). </a:t>
            </a:r>
            <a:r>
              <a:rPr lang="en-US" sz="2400" i="1" dirty="0"/>
              <a:t>An introduction to statistical learning: With applications in Python. </a:t>
            </a:r>
            <a:r>
              <a:rPr lang="en-US" sz="2400" b="1" dirty="0"/>
              <a:t>Chap. 7.2 &amp; 7.3</a:t>
            </a:r>
          </a:p>
          <a:p>
            <a:r>
              <a:rPr lang="en-US" sz="2400" b="1" cap="small" dirty="0">
                <a:solidFill>
                  <a:srgbClr val="002060"/>
                </a:solidFill>
                <a:effectLst/>
                <a:latin typeface="Times" pitchFamily="2" charset="0"/>
                <a:ea typeface="Times" pitchFamily="2" charset="0"/>
                <a:cs typeface="Times" pitchFamily="2" charset="0"/>
              </a:rPr>
              <a:t>* </a:t>
            </a:r>
            <a:r>
              <a:rPr lang="en-US" sz="240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Gill Sans Nova Light" panose="020B0302020104020203" pitchFamily="34" charset="0"/>
                <a:ea typeface="Gill Sans" panose="020B0502020104020203" pitchFamily="34" charset="-79"/>
                <a:cs typeface="Gill Sans" panose="020B0502020104020203" pitchFamily="34" charset="-79"/>
              </a:rPr>
              <a:t>Friedman, J., Hastie, T., &amp; Tibshirani, R. (2001). </a:t>
            </a:r>
            <a:r>
              <a:rPr lang="en-US" sz="2400" i="1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Gill Sans Nova Light" panose="020B0302020104020203" pitchFamily="34" charset="0"/>
                <a:ea typeface="Gill Sans" panose="020B0502020104020203" pitchFamily="34" charset="-79"/>
                <a:cs typeface="Gill Sans" panose="020B0502020104020203" pitchFamily="34" charset="-79"/>
              </a:rPr>
              <a:t>The elements of statistical learning </a:t>
            </a:r>
            <a:r>
              <a:rPr lang="en-US" sz="240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Gill Sans Nova Light" panose="020B0302020104020203" pitchFamily="34" charset="0"/>
                <a:ea typeface="Gill Sans" panose="020B0502020104020203" pitchFamily="34" charset="-79"/>
                <a:cs typeface="Gill Sans" panose="020B0502020104020203" pitchFamily="34" charset="-79"/>
              </a:rPr>
              <a:t>(Vol. 1). </a:t>
            </a:r>
            <a:r>
              <a:rPr lang="en-US" sz="2400" b="1" dirty="0"/>
              <a:t>Chap 5.2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18F5EC8-9CA8-BFFB-D2D0-21A5435315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570036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10E4FD-2DBC-AAD4-5AD2-71B1A7DA0C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Step </a:t>
            </a:r>
            <a:r>
              <a:rPr lang="en-US" dirty="0"/>
              <a:t>Function</a:t>
            </a:r>
            <a:r>
              <a:rPr lang="es-ES_tradnl" dirty="0"/>
              <a:t>: </a:t>
            </a:r>
            <a:r>
              <a:rPr lang="es-ES_tradnl" i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Idea y definición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DCB7428-BAF8-C43C-0F61-3A249901DD5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/>
              </a:bodyPr>
              <a:lstStyle/>
              <a:p>
                <a:pPr>
                  <a:lnSpc>
                    <a:spcPct val="110000"/>
                  </a:lnSpc>
                </a:pPr>
                <a:r>
                  <a:rPr lang="es-ES_tradnl" dirty="0">
                    <a:solidFill>
                      <a:srgbClr val="FF0000"/>
                    </a:solidFill>
                  </a:rPr>
                  <a:t>Problema</a:t>
                </a:r>
                <a:r>
                  <a:rPr lang="es-ES_tradnl" dirty="0"/>
                  <a:t>: impone función </a:t>
                </a:r>
                <a:r>
                  <a:rPr lang="es-ES_tradnl" dirty="0">
                    <a:solidFill>
                      <a:srgbClr val="002060"/>
                    </a:solidFill>
                  </a:rPr>
                  <a:t>global</a:t>
                </a:r>
                <a:r>
                  <a:rPr lang="es-ES_tradnl" dirty="0"/>
                  <a:t> no lineal de </a:t>
                </a:r>
                <a14:m>
                  <m:oMath xmlns:m="http://schemas.openxmlformats.org/officeDocument/2006/math">
                    <m:r>
                      <a:rPr lang="es-ES_tradnl" i="1" dirty="0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endParaRPr lang="es-ES_tradnl" dirty="0"/>
              </a:p>
              <a:p>
                <a:pPr>
                  <a:lnSpc>
                    <a:spcPct val="110000"/>
                  </a:lnSpc>
                </a:pPr>
                <a:r>
                  <a:rPr lang="es-ES_tradnl" dirty="0">
                    <a:solidFill>
                      <a:srgbClr val="00B050"/>
                    </a:solidFill>
                  </a:rPr>
                  <a:t>Solución</a:t>
                </a:r>
                <a:r>
                  <a:rPr lang="es-ES_tradnl" dirty="0"/>
                  <a:t>: estimar una función constante para distintos rangos de </a:t>
                </a:r>
                <a14:m>
                  <m:oMath xmlns:m="http://schemas.openxmlformats.org/officeDocument/2006/math">
                    <m:r>
                      <a:rPr lang="es-ES_tradnl" i="1" dirty="0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endParaRPr lang="es-ES_tradnl" dirty="0"/>
              </a:p>
              <a:p>
                <a:pPr>
                  <a:lnSpc>
                    <a:spcPct val="110000"/>
                  </a:lnSpc>
                </a:pPr>
                <a:r>
                  <a:rPr lang="es-ES_tradnl" dirty="0">
                    <a:solidFill>
                      <a:srgbClr val="002060"/>
                    </a:solidFill>
                  </a:rPr>
                  <a:t>Implicancia</a:t>
                </a:r>
                <a:r>
                  <a:rPr lang="es-ES_tradnl" dirty="0"/>
                  <a:t>: convertir </a:t>
                </a:r>
                <a14:m>
                  <m:oMath xmlns:m="http://schemas.openxmlformats.org/officeDocument/2006/math">
                    <m:r>
                      <a:rPr lang="es-ES_tradnl" i="1" dirty="0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s-ES_tradnl" dirty="0"/>
                  <a:t> en una variable categórica ordenada</a:t>
                </a:r>
              </a:p>
              <a:p>
                <a:pPr lvl="1">
                  <a:lnSpc>
                    <a:spcPct val="110000"/>
                  </a:lnSpc>
                </a:pPr>
                <a:r>
                  <a:rPr lang="es-ES_tradnl" dirty="0"/>
                  <a:t>Para </a:t>
                </a:r>
                <a14:m>
                  <m:oMath xmlns:m="http://schemas.openxmlformats.org/officeDocument/2006/math"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𝐾</m:t>
                    </m:r>
                  </m:oMath>
                </a14:m>
                <a:r>
                  <a:rPr lang="es-ES_tradnl" dirty="0"/>
                  <a:t> puntos </a:t>
                </a:r>
                <a:r>
                  <a:rPr lang="es-ES_tradnl" dirty="0">
                    <a:solidFill>
                      <a:srgbClr val="002060"/>
                    </a:solidFill>
                  </a:rPr>
                  <a:t>umbrales</a:t>
                </a:r>
                <a:r>
                  <a:rPr lang="es-ES_tradnl" dirty="0"/>
                  <a:t> (</a:t>
                </a:r>
                <a:r>
                  <a:rPr lang="es-ES_tradnl" dirty="0" err="1"/>
                  <a:t>knots</a:t>
                </a:r>
                <a:r>
                  <a:rPr lang="es-ES_tradnl" dirty="0"/>
                  <a:t>):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, …,</m:t>
                    </m:r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𝐾</m:t>
                        </m:r>
                      </m:sub>
                    </m:sSub>
                  </m:oMath>
                </a14:m>
                <a:r>
                  <a:rPr lang="es-ES_tradnl" dirty="0"/>
                  <a:t> en el rango de </a:t>
                </a:r>
                <a14:m>
                  <m:oMath xmlns:m="http://schemas.openxmlformats.org/officeDocument/2006/math">
                    <m:r>
                      <a:rPr lang="es-ES_tradnl" i="1" dirty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s-ES_tradnl" dirty="0"/>
                  <a:t>, creamos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𝐾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+1</m:t>
                    </m:r>
                  </m:oMath>
                </a14:m>
                <a:r>
                  <a:rPr lang="es-ES_tradnl" dirty="0"/>
                  <a:t> variables </a:t>
                </a:r>
                <a:r>
                  <a:rPr lang="es-ES_tradnl" dirty="0" err="1"/>
                  <a:t>dummy</a:t>
                </a:r>
                <a:br>
                  <a:rPr lang="es-ES_tradnl" dirty="0"/>
                </a:b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d>
                      <m:d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  <m:r>
                      <a:rPr lang="en-US" i="1" dirty="0">
                        <a:latin typeface="Cambria Math" panose="02040503050406030204" pitchFamily="18" charset="0"/>
                      </a:rPr>
                      <m:t>=1</m:t>
                    </m:r>
                    <m:d>
                      <m:d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&lt;</m:t>
                        </m:r>
                        <m:sSub>
                          <m:sSubPr>
                            <m:ctrlPr>
                              <a:rPr lang="en-US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  <m:sub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</m:oMath>
                </a14:m>
                <a:endParaRPr lang="es-ES_tradnl" dirty="0"/>
              </a:p>
              <a:p>
                <a:pPr marL="0" indent="0">
                  <a:lnSpc>
                    <a:spcPct val="11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d>
                        <m:dPr>
                          <m:ctrlPr>
                            <a:rPr lang="en-US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  <m:r>
                        <a:rPr lang="en-US" i="1" dirty="0">
                          <a:latin typeface="Cambria Math" panose="02040503050406030204" pitchFamily="18" charset="0"/>
                        </a:rPr>
                        <m:t>=1</m:t>
                      </m:r>
                      <m:d>
                        <m:dPr>
                          <m:ctrlPr>
                            <a:rPr lang="en-US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≤</m:t>
                          </m:r>
                          <m:sSub>
                            <m:sSubPr>
                              <m:ctrlPr>
                                <a:rPr lang="en-US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&lt;</m:t>
                          </m:r>
                          <m:sSub>
                            <m:sSubPr>
                              <m:ctrlPr>
                                <a:rPr lang="en-US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  <m:r>
                        <a:rPr lang="en-US" i="1" dirty="0">
                          <a:latin typeface="Cambria Math" panose="02040503050406030204" pitchFamily="18" charset="0"/>
                        </a:rPr>
                        <m:t> …</m:t>
                      </m:r>
                    </m:oMath>
                  </m:oMathPara>
                </a14:m>
                <a:endParaRPr lang="en-US" dirty="0"/>
              </a:p>
              <a:p>
                <a:pPr marL="0" indent="0">
                  <a:lnSpc>
                    <a:spcPct val="11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𝐾</m:t>
                          </m:r>
                        </m:sub>
                      </m:sSub>
                      <m:d>
                        <m:dPr>
                          <m:ctrlPr>
                            <a:rPr lang="en-US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  <m:r>
                        <a:rPr lang="en-US" i="1" dirty="0">
                          <a:latin typeface="Cambria Math" panose="02040503050406030204" pitchFamily="18" charset="0"/>
                        </a:rPr>
                        <m:t>=1</m:t>
                      </m:r>
                      <m:d>
                        <m:dPr>
                          <m:ctrlPr>
                            <a:rPr lang="en-US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𝐾</m:t>
                              </m:r>
                            </m:sub>
                          </m:sSub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&lt;</m:t>
                          </m:r>
                          <m:sSub>
                            <m:sSubPr>
                              <m:ctrlPr>
                                <a:rPr lang="en-US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s-ES_tradnl" dirty="0"/>
              </a:p>
              <a:p>
                <a:pPr marL="0" indent="0">
                  <a:lnSpc>
                    <a:spcPct val="110000"/>
                  </a:lnSpc>
                  <a:buNone/>
                </a:pPr>
                <a:endParaRPr lang="es-ES_tradnl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DCB7428-BAF8-C43C-0F61-3A249901DD5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206" t="-87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5C9053A-FF2F-96E6-3062-D5A770A312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08066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10E4FD-2DBC-AAD4-5AD2-71B1A7DA0C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Step Function: </a:t>
            </a:r>
            <a:r>
              <a:rPr lang="es-ES_tradnl" i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Definición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DCB7428-BAF8-C43C-0F61-3A249901DD5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lnSpcReduction="10000"/>
              </a:bodyPr>
              <a:lstStyle/>
              <a:p>
                <a:pPr lvl="1">
                  <a:lnSpc>
                    <a:spcPct val="120000"/>
                  </a:lnSpc>
                </a:pPr>
                <a:r>
                  <a:rPr lang="es-ES_tradnl" dirty="0"/>
                  <a:t>Creamos</a:t>
                </a:r>
                <a:r>
                  <a:rPr lang="en-US" dirty="0">
                    <a:solidFill>
                      <a:srgbClr val="FF000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𝐾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+1</m:t>
                    </m:r>
                  </m:oMath>
                </a14:m>
                <a:r>
                  <a:rPr lang="es-ES_tradnl" dirty="0"/>
                  <a:t> variables dummies</a:t>
                </a:r>
                <a:br>
                  <a:rPr lang="es-ES_tradnl" dirty="0"/>
                </a:br>
                <a14:m>
                  <m:oMath xmlns:m="http://schemas.openxmlformats.org/officeDocument/2006/math"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d>
                      <m:d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=1</m:t>
                    </m:r>
                    <m:d>
                      <m:d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&lt;</m:t>
                        </m:r>
                        <m:sSub>
                          <m:sSubPr>
                            <m:ctrlPr>
                              <a:rPr lang="en-US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  <m:sub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</m:oMath>
                </a14:m>
                <a:endParaRPr lang="es-ES_tradnl" dirty="0"/>
              </a:p>
              <a:p>
                <a:pPr marL="457200" lvl="1" indent="0">
                  <a:lnSpc>
                    <a:spcPct val="12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d>
                        <m:dPr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=1</m:t>
                      </m:r>
                      <m:d>
                        <m:dPr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≤</m:t>
                          </m:r>
                          <m:sSub>
                            <m:sSubPr>
                              <m:ctrlPr>
                                <a:rPr lang="en-US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&lt;</m:t>
                          </m:r>
                          <m:sSub>
                            <m:sSubPr>
                              <m:ctrlPr>
                                <a:rPr lang="en-US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 …</m:t>
                      </m:r>
                    </m:oMath>
                  </m:oMathPara>
                </a14:m>
                <a:endParaRPr lang="en-US" b="0" dirty="0"/>
              </a:p>
              <a:p>
                <a:pPr marL="457200" lvl="1" indent="0">
                  <a:lnSpc>
                    <a:spcPct val="12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𝐾</m:t>
                          </m:r>
                        </m:sub>
                      </m:sSub>
                      <m:d>
                        <m:dPr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=1</m:t>
                      </m:r>
                      <m:d>
                        <m:dPr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𝐾</m:t>
                              </m:r>
                            </m:sub>
                          </m:sSub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&lt;</m:t>
                          </m:r>
                          <m:sSub>
                            <m:sSubPr>
                              <m:ctrlPr>
                                <a:rPr lang="en-US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s-ES_tradnl" dirty="0"/>
              </a:p>
              <a:p>
                <a:pPr>
                  <a:lnSpc>
                    <a:spcPct val="120000"/>
                  </a:lnSpc>
                </a:pPr>
                <a:r>
                  <a:rPr lang="es-ES_tradnl" dirty="0">
                    <a:solidFill>
                      <a:srgbClr val="002060"/>
                    </a:solidFill>
                  </a:rPr>
                  <a:t>Modelo</a:t>
                </a:r>
                <a:r>
                  <a:rPr lang="es-ES_tradnl" dirty="0"/>
                  <a:t>:</a:t>
                </a:r>
              </a:p>
              <a:p>
                <a:pPr marL="0" indent="0">
                  <a:lnSpc>
                    <a:spcPct val="12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)+…+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𝐾</m:t>
                          </m:r>
                        </m:sub>
                      </m:sSub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𝐾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)+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𝜖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   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</m:d>
                    </m:oMath>
                  </m:oMathPara>
                </a14:m>
                <a:endParaRPr lang="es-ES_tradnl" dirty="0"/>
              </a:p>
              <a:p>
                <a:pPr lvl="1">
                  <a:lnSpc>
                    <a:spcPct val="1200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s-ES_tradnl" dirty="0"/>
                  <a:t> representa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d>
                      <m:d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d>
                    <m:r>
                      <a:rPr lang="en-US" i="1" dirty="0">
                        <a:latin typeface="Cambria Math" panose="02040503050406030204" pitchFamily="18" charset="0"/>
                      </a:rPr>
                      <m:t>=1</m:t>
                    </m:r>
                    <m:d>
                      <m:d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&lt;</m:t>
                        </m:r>
                        <m:sSub>
                          <m:sSubPr>
                            <m:ctrlPr>
                              <a:rPr lang="en-US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  <m:sub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</m:oMath>
                </a14:m>
                <a:r>
                  <a:rPr lang="es-ES_tradnl" dirty="0"/>
                  <a:t> </a:t>
                </a:r>
              </a:p>
              <a:p>
                <a:pPr lvl="2">
                  <a:lnSpc>
                    <a:spcPct val="120000"/>
                  </a:lnSpc>
                </a:pPr>
                <a:r>
                  <a:rPr lang="es-ES_tradnl" dirty="0">
                    <a:solidFill>
                      <a:srgbClr val="002060"/>
                    </a:solidFill>
                  </a:rPr>
                  <a:t>Base de referencia</a:t>
                </a:r>
                <a:r>
                  <a:rPr lang="es-ES_tradnl" dirty="0"/>
                  <a:t>: Promedio de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s-ES_tradnl" dirty="0"/>
                  <a:t> cuando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&lt;</m:t>
                    </m:r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endParaRPr lang="es-ES_tradnl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DCB7428-BAF8-C43C-0F61-3A249901DD5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327" t="-872" b="-174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5C9053A-FF2F-96E6-3062-D5A770A312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934289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comparison of a graph&#10;&#10;Description automatically generated">
            <a:extLst>
              <a:ext uri="{FF2B5EF4-FFF2-40B4-BE49-F238E27FC236}">
                <a16:creationId xmlns:a16="http://schemas.microsoft.com/office/drawing/2014/main" id="{05BD0A1F-48F6-7C47-87FD-877D413E06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82223" y="1235435"/>
            <a:ext cx="8510891" cy="5179746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6B10E4FD-2DBC-AAD4-5AD2-71B1A7DA0CEF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>
              <a:xfrm>
                <a:off x="838200" y="291973"/>
                <a:ext cx="10515600" cy="1325563"/>
              </a:xfrm>
            </p:spPr>
            <p:txBody>
              <a:bodyPr>
                <a:normAutofit/>
              </a:bodyPr>
              <a:lstStyle/>
              <a:p>
                <a:r>
                  <a:rPr lang="es-ES_tradnl" sz="3600" dirty="0"/>
                  <a:t>Step function: </a:t>
                </a:r>
                <a:r>
                  <a:rPr lang="es-ES_tradnl" sz="3600" i="1" dirty="0">
                    <a:solidFill>
                      <a:schemeClr val="tx1">
                        <a:lumMod val="50000"/>
                        <a:lumOff val="50000"/>
                      </a:schemeClr>
                    </a:solidFill>
                  </a:rPr>
                  <a:t>Ilustración</a:t>
                </a:r>
                <a:r>
                  <a:rPr lang="es-ES_tradnl" sz="3600" dirty="0"/>
                  <a:t> </a:t>
                </a:r>
                <a:r>
                  <a:rPr lang="es-ES_tradnl" sz="3600" i="1" dirty="0">
                    <a:solidFill>
                      <a:schemeClr val="tx1">
                        <a:lumMod val="50000"/>
                        <a:lumOff val="50000"/>
                      </a:schemeClr>
                    </a:solidFill>
                  </a:rPr>
                  <a:t>de salarios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3600" i="1" dirty="0">
                            <a:solidFill>
                              <a:schemeClr val="tx1">
                                <a:lumMod val="50000"/>
                                <a:lumOff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ES_tradnl" sz="3600" i="1" dirty="0">
                            <a:solidFill>
                              <a:schemeClr val="tx1">
                                <a:lumMod val="50000"/>
                                <a:lumOff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</m:d>
                  </m:oMath>
                </a14:m>
                <a:r>
                  <a:rPr lang="es-ES_tradnl" sz="3600" i="1" dirty="0">
                    <a:solidFill>
                      <a:schemeClr val="tx1">
                        <a:lumMod val="50000"/>
                        <a:lumOff val="50000"/>
                      </a:schemeClr>
                    </a:solidFill>
                  </a:rPr>
                  <a:t>en edad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3600" i="1" dirty="0">
                            <a:solidFill>
                              <a:schemeClr val="tx1">
                                <a:lumMod val="50000"/>
                                <a:lumOff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ES_tradnl" sz="3600" i="1" dirty="0">
                            <a:solidFill>
                              <a:schemeClr val="tx1">
                                <a:lumMod val="50000"/>
                                <a:lumOff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d>
                  </m:oMath>
                </a14:m>
                <a:r>
                  <a:rPr lang="es-ES_tradnl" sz="3600" dirty="0">
                    <a:solidFill>
                      <a:schemeClr val="tx1"/>
                    </a:solidFill>
                  </a:rPr>
                  <a:t> </a:t>
                </a:r>
                <a:endParaRPr lang="es-ES_tradnl" sz="3600" i="1" dirty="0"/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6B10E4FD-2DBC-AAD4-5AD2-71B1A7DA0CE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838200" y="291973"/>
                <a:ext cx="10515600" cy="1325563"/>
              </a:xfrm>
              <a:blipFill>
                <a:blip r:embed="rId3"/>
                <a:stretch>
                  <a:fillRect l="-1809"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5C9053A-FF2F-96E6-3062-D5A770A312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35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502C932-C558-6562-4620-ABED8482C49A}"/>
              </a:ext>
            </a:extLst>
          </p:cNvPr>
          <p:cNvSpPr txBox="1"/>
          <p:nvPr/>
        </p:nvSpPr>
        <p:spPr>
          <a:xfrm>
            <a:off x="201168" y="5584183"/>
            <a:ext cx="2029968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effectLst/>
                <a:latin typeface="Gill Sans Nova Light" panose="020B0302020104020203" pitchFamily="34" charset="0"/>
              </a:rPr>
              <a:t>James, Witten, Hastie, Tibshirani</a:t>
            </a:r>
            <a:r>
              <a:rPr lang="en-US" sz="1600" dirty="0">
                <a:latin typeface="Gill Sans Nova Light" panose="020B0302020104020203" pitchFamily="34" charset="0"/>
              </a:rPr>
              <a:t> &amp; Taylor (</a:t>
            </a:r>
            <a:r>
              <a:rPr lang="en-US" sz="1600" dirty="0">
                <a:effectLst/>
                <a:latin typeface="Gill Sans Nova Light" panose="020B0302020104020203" pitchFamily="34" charset="0"/>
              </a:rPr>
              <a:t>2023). p.</a:t>
            </a:r>
            <a:r>
              <a:rPr lang="en-US" sz="1600" dirty="0">
                <a:latin typeface="Gill Sans Nova Light" panose="020B0302020104020203" pitchFamily="34" charset="0"/>
              </a:rPr>
              <a:t>293</a:t>
            </a:r>
            <a:endParaRPr lang="en-US" sz="4400" dirty="0">
              <a:effectLst/>
              <a:latin typeface="Gill Sans Nova Light" panose="020B0302020104020203" pitchFamily="34" charset="0"/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129D402A-503F-39D7-02B9-C2F0B0E2B375}"/>
              </a:ext>
            </a:extLst>
          </p:cNvPr>
          <p:cNvSpPr/>
          <p:nvPr/>
        </p:nvSpPr>
        <p:spPr>
          <a:xfrm>
            <a:off x="1937884" y="3287153"/>
            <a:ext cx="348913" cy="1051560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638E7346-D8F0-E136-1E43-0605F52EF5DB}"/>
              </a:ext>
            </a:extLst>
          </p:cNvPr>
          <p:cNvSpPr/>
          <p:nvPr/>
        </p:nvSpPr>
        <p:spPr>
          <a:xfrm>
            <a:off x="6038089" y="2965868"/>
            <a:ext cx="534122" cy="1972409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ABA04D87-96C7-68FC-4947-41676F22AFAF}"/>
              </a:ext>
            </a:extLst>
          </p:cNvPr>
          <p:cNvSpPr/>
          <p:nvPr/>
        </p:nvSpPr>
        <p:spPr>
          <a:xfrm>
            <a:off x="7353458" y="5143957"/>
            <a:ext cx="2356826" cy="518159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0405C5C3-A1F1-3ADB-D9EA-1513308FCA08}"/>
              </a:ext>
            </a:extLst>
          </p:cNvPr>
          <p:cNvSpPr/>
          <p:nvPr/>
        </p:nvSpPr>
        <p:spPr>
          <a:xfrm>
            <a:off x="9018387" y="3429000"/>
            <a:ext cx="1291389" cy="2155183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02F9C52E-3912-7738-90CC-BC10DB2895B1}"/>
              </a:ext>
            </a:extLst>
          </p:cNvPr>
          <p:cNvSpPr/>
          <p:nvPr/>
        </p:nvSpPr>
        <p:spPr>
          <a:xfrm flipH="1">
            <a:off x="4945861" y="3718299"/>
            <a:ext cx="1008889" cy="1804663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C671610E-06B5-DD50-E5C5-39BBAC5E601B}"/>
                  </a:ext>
                </a:extLst>
              </p:cNvPr>
              <p:cNvSpPr txBox="1"/>
              <p:nvPr/>
            </p:nvSpPr>
            <p:spPr>
              <a:xfrm>
                <a:off x="7038229" y="1282416"/>
                <a:ext cx="5251703" cy="35246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s-ES_tradnl" sz="16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16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</m:acc>
                      <m:d>
                        <m:dPr>
                          <m:ctrlPr>
                            <a:rPr lang="en-US" sz="16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1600" b="0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b="0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1600" b="0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e>
                      </m:d>
                      <m:r>
                        <a:rPr lang="en-US" sz="16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16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sz="1600" b="0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1600" b="0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𝛽</m:t>
                              </m:r>
                            </m:e>
                          </m:acc>
                        </m:e>
                        <m:sub>
                          <m:r>
                            <a:rPr lang="en-US" sz="16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sz="16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16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sz="16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16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𝛽</m:t>
                              </m:r>
                            </m:e>
                          </m:acc>
                        </m:e>
                        <m:sub>
                          <m:r>
                            <a:rPr lang="en-US" sz="16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US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1600" i="1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sz="1600" i="1"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en-US" sz="160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16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sz="16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16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𝛽</m:t>
                              </m:r>
                            </m:e>
                          </m:acc>
                        </m:e>
                        <m:sub>
                          <m:r>
                            <a:rPr lang="en-US" sz="16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en-US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1600" i="1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sz="1600" i="1"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en-US" sz="160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16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sz="16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16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𝛽</m:t>
                              </m:r>
                            </m:e>
                          </m:acc>
                        </m:e>
                        <m:sub>
                          <m:r>
                            <a:rPr lang="en-US" sz="16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sSub>
                        <m:sSubPr>
                          <m:ctrlPr>
                            <a:rPr lang="en-US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sz="1600" i="1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s-ES_tradnl" sz="16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C671610E-06B5-DD50-E5C5-39BBAC5E601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38229" y="1282416"/>
                <a:ext cx="5251703" cy="352469"/>
              </a:xfrm>
              <a:prstGeom prst="rect">
                <a:avLst/>
              </a:prstGeom>
              <a:blipFill>
                <a:blip r:embed="rId4"/>
                <a:stretch>
                  <a:fillRect l="-242" b="-13793"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" name="Oval 20">
            <a:extLst>
              <a:ext uri="{FF2B5EF4-FFF2-40B4-BE49-F238E27FC236}">
                <a16:creationId xmlns:a16="http://schemas.microsoft.com/office/drawing/2014/main" id="{2D0A59EB-321F-9325-3079-C7D111EF2926}"/>
              </a:ext>
            </a:extLst>
          </p:cNvPr>
          <p:cNvSpPr/>
          <p:nvPr/>
        </p:nvSpPr>
        <p:spPr>
          <a:xfrm>
            <a:off x="3103100" y="1982293"/>
            <a:ext cx="2272205" cy="1157409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3E5DBDA6-BEC7-B1D7-BEE6-F36FBA1FBBF7}"/>
              </a:ext>
            </a:extLst>
          </p:cNvPr>
          <p:cNvSpPr/>
          <p:nvPr/>
        </p:nvSpPr>
        <p:spPr>
          <a:xfrm>
            <a:off x="7432187" y="1893805"/>
            <a:ext cx="2356826" cy="518159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3774301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21" grpId="0" animBg="1"/>
      <p:bldP spid="7" grpId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C42471-9418-E3E3-C7E5-30087178FA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Modelos No Lineales IV: </a:t>
            </a:r>
            <a:r>
              <a:rPr lang="es-ES_tradnl" dirty="0" err="1"/>
              <a:t>Splines</a:t>
            </a:r>
            <a:endParaRPr lang="es-ES_tradnl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A780597-6948-B78E-E6E3-6E4F9F1321E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n-US" dirty="0"/>
              <a:t>References</a:t>
            </a:r>
          </a:p>
          <a:p>
            <a:r>
              <a:rPr lang="es-AR" sz="2400" b="1" dirty="0">
                <a:solidFill>
                  <a:srgbClr val="00663D"/>
                </a:solidFill>
                <a:effectLst/>
                <a:latin typeface="Times" pitchFamily="2" charset="0"/>
                <a:ea typeface="Times" pitchFamily="2" charset="0"/>
                <a:cs typeface="Times" pitchFamily="2" charset="0"/>
              </a:rPr>
              <a:t>† </a:t>
            </a:r>
            <a:r>
              <a:rPr lang="en-US" sz="2400" dirty="0"/>
              <a:t>James, G., Witten, D., Hastie, T., Tibshirani, R., &amp; Taylor, J. (2023). </a:t>
            </a:r>
            <a:r>
              <a:rPr lang="en-US" sz="2400" i="1" dirty="0"/>
              <a:t>An introduction to statistical learning: With applications in Python. </a:t>
            </a:r>
            <a:r>
              <a:rPr lang="en-US" sz="2400" b="1" dirty="0"/>
              <a:t>Chap. 7.4 &amp; 7.5</a:t>
            </a:r>
          </a:p>
          <a:p>
            <a:r>
              <a:rPr lang="en-US" sz="2400" b="1" cap="small" dirty="0">
                <a:solidFill>
                  <a:srgbClr val="002060"/>
                </a:solidFill>
                <a:effectLst/>
                <a:latin typeface="Times" pitchFamily="2" charset="0"/>
                <a:ea typeface="Times" pitchFamily="2" charset="0"/>
                <a:cs typeface="Times" pitchFamily="2" charset="0"/>
              </a:rPr>
              <a:t>* </a:t>
            </a:r>
            <a:r>
              <a:rPr lang="en-US" sz="240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Gill Sans Nova Light" panose="020B0302020104020203" pitchFamily="34" charset="0"/>
                <a:ea typeface="Gill Sans" panose="020B0502020104020203" pitchFamily="34" charset="-79"/>
                <a:cs typeface="Gill Sans" panose="020B0502020104020203" pitchFamily="34" charset="-79"/>
              </a:rPr>
              <a:t>Friedman, J., Hastie, T., &amp; Tibshirani, R. (2001). </a:t>
            </a:r>
            <a:r>
              <a:rPr lang="en-US" sz="2400" i="1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Gill Sans Nova Light" panose="020B0302020104020203" pitchFamily="34" charset="0"/>
                <a:ea typeface="Gill Sans" panose="020B0502020104020203" pitchFamily="34" charset="-79"/>
                <a:cs typeface="Gill Sans" panose="020B0502020104020203" pitchFamily="34" charset="-79"/>
              </a:rPr>
              <a:t>The elements of statistical learning </a:t>
            </a:r>
            <a:r>
              <a:rPr lang="en-US" sz="240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Gill Sans Nova Light" panose="020B0302020104020203" pitchFamily="34" charset="0"/>
                <a:ea typeface="Gill Sans" panose="020B0502020104020203" pitchFamily="34" charset="-79"/>
                <a:cs typeface="Gill Sans" panose="020B0502020104020203" pitchFamily="34" charset="-79"/>
              </a:rPr>
              <a:t>(Vol. 1). </a:t>
            </a:r>
            <a:r>
              <a:rPr lang="en-US" sz="2400" b="1" dirty="0"/>
              <a:t>Chap 5.2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18F5EC8-9CA8-BFFB-D2D0-21A5435315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2964568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1047C5-1CF1-5BD7-8E22-5FD0B175D3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 err="1"/>
              <a:t>Splines</a:t>
            </a:r>
            <a:r>
              <a:rPr lang="es-ES_tradnl" dirty="0"/>
              <a:t>: </a:t>
            </a:r>
            <a:r>
              <a:rPr lang="es-ES_tradnl" i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Idea y definición</a:t>
            </a:r>
            <a:endParaRPr lang="es-ES_tradnl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EDEC7B7-FFAA-1B1E-300A-35BAE8E1B19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10000"/>
              </a:bodyPr>
              <a:lstStyle/>
              <a:p>
                <a:pPr>
                  <a:lnSpc>
                    <a:spcPct val="100000"/>
                  </a:lnSpc>
                </a:pPr>
                <a:r>
                  <a:rPr lang="es-ES_tradnl" dirty="0">
                    <a:solidFill>
                      <a:srgbClr val="002060"/>
                    </a:solidFill>
                  </a:rPr>
                  <a:t>Idea</a:t>
                </a:r>
                <a:r>
                  <a:rPr lang="es-ES_tradnl" dirty="0"/>
                  <a:t>: usar polinomios y step function</a:t>
                </a:r>
              </a:p>
              <a:p>
                <a:pPr>
                  <a:lnSpc>
                    <a:spcPct val="100000"/>
                  </a:lnSpc>
                </a:pPr>
                <a:r>
                  <a:rPr lang="es-ES_tradnl" dirty="0"/>
                  <a:t>Modelo:</a:t>
                </a:r>
              </a:p>
              <a:p>
                <a:pPr>
                  <a:lnSpc>
                    <a:spcPct val="100000"/>
                  </a:lnSpc>
                </a:pPr>
                <a:endParaRPr lang="es-ES_tradnl" sz="1300" dirty="0"/>
              </a:p>
              <a:p>
                <a:pPr marL="0" indent="0">
                  <a:lnSpc>
                    <a:spcPct val="10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𝛽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𝛽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𝛽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sSubSup>
                                <m:sSubSup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  <m:sup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b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𝛽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sSubSup>
                                <m:sSubSup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  <m:sup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p>
                              </m:sSub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𝜖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     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𝑠𝑖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&lt;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𝛽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𝛽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𝛽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sSubSup>
                                <m:sSubSup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  <m:sup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b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𝛽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sSubSup>
                                <m:sSubSup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  <m:sup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p>
                              </m:sSub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𝜖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     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𝑠𝑖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≥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</m:eqAr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   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e>
                      </m:d>
                    </m:oMath>
                  </m:oMathPara>
                </a14:m>
                <a:endParaRPr lang="es-ES_tradnl" dirty="0"/>
              </a:p>
              <a:p>
                <a:pPr>
                  <a:lnSpc>
                    <a:spcPct val="100000"/>
                  </a:lnSpc>
                </a:pPr>
                <a:endParaRPr lang="es-ES_tradnl" sz="1300" dirty="0"/>
              </a:p>
              <a:p>
                <a:pPr>
                  <a:lnSpc>
                    <a:spcPct val="100000"/>
                  </a:lnSpc>
                </a:pPr>
                <a:r>
                  <a:rPr lang="es-ES_tradnl" dirty="0">
                    <a:solidFill>
                      <a:srgbClr val="002060"/>
                    </a:solidFill>
                  </a:rPr>
                  <a:t>Estimación</a:t>
                </a:r>
                <a:r>
                  <a:rPr lang="es-ES_tradnl" dirty="0"/>
                  <a:t>: MCO para cada subconjunto de observaciones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lang="es-ES_tradnl" dirty="0"/>
                  <a:t> 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≥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endParaRPr lang="es-ES_tradnl" dirty="0"/>
              </a:p>
              <a:p>
                <a:pPr>
                  <a:lnSpc>
                    <a:spcPct val="100000"/>
                  </a:lnSpc>
                </a:pPr>
                <a:r>
                  <a:rPr lang="es-ES_tradnl" dirty="0">
                    <a:solidFill>
                      <a:srgbClr val="00B050"/>
                    </a:solidFill>
                  </a:rPr>
                  <a:t>Más puntos </a:t>
                </a:r>
                <a:r>
                  <a:rPr lang="es-ES_tradnl" dirty="0"/>
                  <a:t>umbrales (</a:t>
                </a:r>
                <a:r>
                  <a:rPr lang="es-ES_tradnl" dirty="0" err="1"/>
                  <a:t>knots</a:t>
                </a:r>
                <a:r>
                  <a:rPr lang="es-ES_tradnl" dirty="0"/>
                  <a:t>)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lang="es-ES_tradnl" dirty="0"/>
                  <a:t>, </a:t>
                </a:r>
                <a:r>
                  <a:rPr lang="es-ES_tradnl" dirty="0">
                    <a:solidFill>
                      <a:srgbClr val="00B050"/>
                    </a:solidFill>
                  </a:rPr>
                  <a:t>más flexible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EDEC7B7-FFAA-1B1E-300A-35BAE8E1B19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7238" t="-33721" r="-1689" b="-4767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4893AEB-46B7-240A-8A97-C9F3BC82A4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23004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5" name="Title 4">
                <a:extLst>
                  <a:ext uri="{FF2B5EF4-FFF2-40B4-BE49-F238E27FC236}">
                    <a16:creationId xmlns:a16="http://schemas.microsoft.com/office/drawing/2014/main" id="{C9C6FAFC-D6EF-C1B3-FADC-B1ADC4C2591C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s-ES_tradnl" sz="4000" dirty="0"/>
                  <a:t>Splines: </a:t>
                </a:r>
                <a:r>
                  <a:rPr lang="es-ES_tradnl" sz="4000" i="1" dirty="0">
                    <a:solidFill>
                      <a:schemeClr val="tx1">
                        <a:lumMod val="50000"/>
                        <a:lumOff val="50000"/>
                      </a:schemeClr>
                    </a:solidFill>
                  </a:rPr>
                  <a:t>Ilustración</a:t>
                </a:r>
                <a:r>
                  <a:rPr lang="es-ES_tradnl" sz="4000" dirty="0"/>
                  <a:t> </a:t>
                </a:r>
                <a:r>
                  <a:rPr lang="es-ES_tradnl" sz="4000" i="1" dirty="0">
                    <a:solidFill>
                      <a:schemeClr val="tx1">
                        <a:lumMod val="50000"/>
                        <a:lumOff val="50000"/>
                      </a:schemeClr>
                    </a:solidFill>
                  </a:rPr>
                  <a:t>de salarios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4000" b="1" i="1" dirty="0" smtClean="0">
                            <a:solidFill>
                              <a:schemeClr val="tx1">
                                <a:lumMod val="50000"/>
                                <a:lumOff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ES_tradnl" sz="4000" i="1" dirty="0" smtClean="0">
                            <a:solidFill>
                              <a:schemeClr val="tx1">
                                <a:lumMod val="50000"/>
                                <a:lumOff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</m:d>
                  </m:oMath>
                </a14:m>
                <a:r>
                  <a:rPr lang="es-ES_tradnl" sz="4000" i="1" dirty="0">
                    <a:solidFill>
                      <a:schemeClr val="tx1">
                        <a:lumMod val="50000"/>
                        <a:lumOff val="50000"/>
                      </a:schemeClr>
                    </a:solidFill>
                  </a:rPr>
                  <a:t>en edad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4000" b="1" i="1" dirty="0" smtClean="0">
                            <a:solidFill>
                              <a:schemeClr val="tx1">
                                <a:lumMod val="50000"/>
                                <a:lumOff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ES_tradnl" sz="4000" i="1" dirty="0" smtClean="0">
                            <a:solidFill>
                              <a:schemeClr val="tx1">
                                <a:lumMod val="50000"/>
                                <a:lumOff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d>
                  </m:oMath>
                </a14:m>
                <a:r>
                  <a:rPr lang="es-ES_tradnl" sz="4000" dirty="0">
                    <a:solidFill>
                      <a:schemeClr val="tx1"/>
                    </a:solidFill>
                  </a:rPr>
                  <a:t> </a:t>
                </a:r>
                <a:endParaRPr lang="es-ES_tradnl" sz="4000" dirty="0"/>
              </a:p>
            </p:txBody>
          </p:sp>
        </mc:Choice>
        <mc:Fallback xmlns="">
          <p:sp>
            <p:nvSpPr>
              <p:cNvPr id="5" name="Title 4">
                <a:extLst>
                  <a:ext uri="{FF2B5EF4-FFF2-40B4-BE49-F238E27FC236}">
                    <a16:creationId xmlns:a16="http://schemas.microsoft.com/office/drawing/2014/main" id="{C9C6FAFC-D6EF-C1B3-FADC-B1ADC4C2591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2171"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3BE5306-318F-F667-0887-B3C7AC81C3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38</a:t>
            </a:fld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1A1F4E3-86E8-DF9E-9248-89DF434A4C8C}"/>
              </a:ext>
            </a:extLst>
          </p:cNvPr>
          <p:cNvSpPr txBox="1"/>
          <p:nvPr/>
        </p:nvSpPr>
        <p:spPr>
          <a:xfrm>
            <a:off x="8191500" y="4270308"/>
            <a:ext cx="35814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effectLst/>
                <a:latin typeface="Gill Sans Nova Light" panose="020B0302020104020203" pitchFamily="34" charset="0"/>
              </a:rPr>
              <a:t>James, Witten, Hastie, Tibshirani</a:t>
            </a:r>
            <a:r>
              <a:rPr lang="en-US" sz="1600" dirty="0">
                <a:latin typeface="Gill Sans Nova Light" panose="020B0302020104020203" pitchFamily="34" charset="0"/>
              </a:rPr>
              <a:t> &amp; Taylor (</a:t>
            </a:r>
            <a:r>
              <a:rPr lang="en-US" sz="1600" dirty="0">
                <a:effectLst/>
                <a:latin typeface="Gill Sans Nova Light" panose="020B0302020104020203" pitchFamily="34" charset="0"/>
              </a:rPr>
              <a:t>2023). p.</a:t>
            </a:r>
            <a:r>
              <a:rPr lang="en-US" sz="1600" dirty="0">
                <a:latin typeface="Gill Sans Nova Light" panose="020B0302020104020203" pitchFamily="34" charset="0"/>
              </a:rPr>
              <a:t>295</a:t>
            </a:r>
            <a:endParaRPr lang="en-US" sz="4400" dirty="0">
              <a:effectLst/>
              <a:latin typeface="Gill Sans Nova Light" panose="020B0302020104020203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941BEA09-EAFF-D571-3684-4A4F09C6834D}"/>
                  </a:ext>
                </a:extLst>
              </p:cNvPr>
              <p:cNvSpPr txBox="1"/>
              <p:nvPr/>
            </p:nvSpPr>
            <p:spPr>
              <a:xfrm>
                <a:off x="2181784" y="5550430"/>
                <a:ext cx="7309688" cy="105157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s-ES_tradnl" sz="2400" i="1" dirty="0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</m:acc>
                      <m:d>
                        <m:dPr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e>
                      </m:d>
                      <m:r>
                        <a:rPr lang="en-US" sz="2400" i="1" dirty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sSub>
                                <m:sSub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̂"/>
                                      <m:ctrlPr>
                                        <a:rPr lang="en-US" sz="240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  <m:t>𝛽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̂"/>
                                      <m:ctrlPr>
                                        <a:rPr lang="en-US" sz="240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  <m:t>𝛽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sz="24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 dirty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2400" i="1" dirty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̂"/>
                                      <m:ctrlPr>
                                        <a:rPr lang="en-US" sz="2400" i="1" dirty="0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  <m:t>𝛽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21</m:t>
                                  </m:r>
                                </m:sub>
                              </m:sSub>
                              <m:sSubSup>
                                <m:sSubSup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  <m:sup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bSup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̂"/>
                                      <m:ctrlPr>
                                        <a:rPr lang="en-US" sz="24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  <m:t>𝛽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31</m:t>
                                  </m:r>
                                </m:sub>
                              </m:sSub>
                              <m:sSubSup>
                                <m:sSubSup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  <m:sup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p>
                              </m:sSubSup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    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𝑎𝑔𝑒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&lt;50</m:t>
                              </m:r>
                            </m:e>
                            <m:e>
                              <m:sSub>
                                <m:sSub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̂"/>
                                      <m:ctrlPr>
                                        <a:rPr lang="en-US" sz="240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  <m:t>𝛽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̂"/>
                                      <m:ctrlPr>
                                        <a:rPr lang="en-US" sz="240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  <m:t>𝛽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̂"/>
                                      <m:ctrlPr>
                                        <a:rPr lang="en-US" sz="24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  <m:t>𝛽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22</m:t>
                                  </m:r>
                                </m:sub>
                              </m:sSub>
                              <m:sSubSup>
                                <m:sSubSup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  <m:sup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bSup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US" sz="2400" b="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̂"/>
                                      <m:ctrlPr>
                                        <a:rPr lang="en-US" sz="24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  <m:t>𝛽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en-US" sz="2400" b="0" i="1" dirty="0" smtClean="0">
                                      <a:latin typeface="Cambria Math" panose="02040503050406030204" pitchFamily="18" charset="0"/>
                                    </a:rPr>
                                    <m:t>32</m:t>
                                  </m:r>
                                </m:sub>
                              </m:sSub>
                              <m:sSubSup>
                                <m:sSubSup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  <m:sup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p>
                              </m:sSubSup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    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𝑎𝑔𝑒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≥50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es-ES_tradnl" sz="2400" dirty="0"/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941BEA09-EAFF-D571-3684-4A4F09C6834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81784" y="5550430"/>
                <a:ext cx="7309688" cy="1051570"/>
              </a:xfrm>
              <a:prstGeom prst="rect">
                <a:avLst/>
              </a:prstGeom>
              <a:blipFill>
                <a:blip r:embed="rId3"/>
                <a:stretch>
                  <a:fillRect l="-3293" t="-206024" b="-293976"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Content Placeholder 6" descr="A graph with dots and lines&#10;&#10;Description automatically generated">
            <a:extLst>
              <a:ext uri="{FF2B5EF4-FFF2-40B4-BE49-F238E27FC236}">
                <a16:creationId xmlns:a16="http://schemas.microsoft.com/office/drawing/2014/main" id="{0BA1F14E-5E50-A481-4927-4AC224E9528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/>
          <a:stretch>
            <a:fillRect/>
          </a:stretch>
        </p:blipFill>
        <p:spPr>
          <a:xfrm>
            <a:off x="3211284" y="1253331"/>
            <a:ext cx="4857134" cy="4351338"/>
          </a:xfrm>
        </p:spPr>
      </p:pic>
      <p:sp>
        <p:nvSpPr>
          <p:cNvPr id="8" name="Oval 7">
            <a:extLst>
              <a:ext uri="{FF2B5EF4-FFF2-40B4-BE49-F238E27FC236}">
                <a16:creationId xmlns:a16="http://schemas.microsoft.com/office/drawing/2014/main" id="{8A8FE9C7-80B9-3600-C82D-8A2F40259C20}"/>
              </a:ext>
            </a:extLst>
          </p:cNvPr>
          <p:cNvSpPr/>
          <p:nvPr/>
        </p:nvSpPr>
        <p:spPr>
          <a:xfrm>
            <a:off x="5836628" y="2580690"/>
            <a:ext cx="534122" cy="1972409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17464BF4-A958-6D13-2231-89EC776DA4AB}"/>
              </a:ext>
            </a:extLst>
          </p:cNvPr>
          <p:cNvGrpSpPr/>
          <p:nvPr/>
        </p:nvGrpSpPr>
        <p:grpSpPr>
          <a:xfrm>
            <a:off x="628936" y="4719433"/>
            <a:ext cx="2790920" cy="1200329"/>
            <a:chOff x="628936" y="4719433"/>
            <a:chExt cx="2790920" cy="1200329"/>
          </a:xfrm>
        </p:grpSpPr>
        <p:sp>
          <p:nvSpPr>
            <p:cNvPr id="2" name="TextBox 1">
              <a:extLst>
                <a:ext uri="{FF2B5EF4-FFF2-40B4-BE49-F238E27FC236}">
                  <a16:creationId xmlns:a16="http://schemas.microsoft.com/office/drawing/2014/main" id="{911D4ED1-2714-7BDA-98E2-24C53E1706E7}"/>
                </a:ext>
              </a:extLst>
            </p:cNvPr>
            <p:cNvSpPr txBox="1"/>
            <p:nvPr/>
          </p:nvSpPr>
          <p:spPr>
            <a:xfrm>
              <a:off x="628936" y="4719433"/>
              <a:ext cx="2318588" cy="120032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s-ES_tradnl" sz="2400" dirty="0">
                  <a:solidFill>
                    <a:srgbClr val="FF0000"/>
                  </a:solidFill>
                  <a:effectLst/>
                  <a:latin typeface="Gill Sans Nova Light" panose="020B0302020104020203" pitchFamily="34" charset="0"/>
                </a:rPr>
                <a:t>Pregunta 2:</a:t>
              </a:r>
              <a:r>
                <a:rPr lang="es-ES_tradnl" sz="2400" dirty="0">
                  <a:effectLst/>
                  <a:latin typeface="Gill Sans Nova Light" panose="020B0302020104020203" pitchFamily="34" charset="0"/>
                </a:rPr>
                <a:t> ¿Grados de Libertad?</a:t>
              </a:r>
              <a:endParaRPr lang="es-ES_tradnl" sz="6000" dirty="0">
                <a:effectLst/>
                <a:latin typeface="Gill Sans Nova Light" panose="020B0302020104020203" pitchFamily="34" charset="0"/>
              </a:endParaRPr>
            </a:p>
          </p:txBody>
        </p:sp>
        <p:cxnSp>
          <p:nvCxnSpPr>
            <p:cNvPr id="6" name="Straight Arrow Connector 5">
              <a:extLst>
                <a:ext uri="{FF2B5EF4-FFF2-40B4-BE49-F238E27FC236}">
                  <a16:creationId xmlns:a16="http://schemas.microsoft.com/office/drawing/2014/main" id="{4E858BCA-A385-EC93-0971-DD4D08756D06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533577" y="5375299"/>
              <a:ext cx="886279" cy="22937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A1DACF42-A852-15E3-B610-766FBE50554F}"/>
              </a:ext>
            </a:extLst>
          </p:cNvPr>
          <p:cNvGrpSpPr/>
          <p:nvPr/>
        </p:nvGrpSpPr>
        <p:grpSpPr>
          <a:xfrm>
            <a:off x="9316764" y="4717845"/>
            <a:ext cx="2402904" cy="1200329"/>
            <a:chOff x="544620" y="4719433"/>
            <a:chExt cx="2402904" cy="1200329"/>
          </a:xfrm>
        </p:grpSpPr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A509DDEC-BB9E-1FDE-5679-E015A6A8A81F}"/>
                </a:ext>
              </a:extLst>
            </p:cNvPr>
            <p:cNvSpPr txBox="1"/>
            <p:nvPr/>
          </p:nvSpPr>
          <p:spPr>
            <a:xfrm>
              <a:off x="1238072" y="4719433"/>
              <a:ext cx="1709452" cy="120032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r"/>
              <a:r>
                <a:rPr lang="es-ES_tradnl" sz="2400" dirty="0">
                  <a:solidFill>
                    <a:srgbClr val="FF0000"/>
                  </a:solidFill>
                  <a:effectLst/>
                  <a:latin typeface="Gill Sans Nova Light" panose="020B0302020104020203" pitchFamily="34" charset="0"/>
                </a:rPr>
                <a:t>Pregunta 1:</a:t>
              </a:r>
              <a:r>
                <a:rPr lang="es-ES_tradnl" sz="2400" dirty="0">
                  <a:effectLst/>
                  <a:latin typeface="Gill Sans Nova Light" panose="020B0302020104020203" pitchFamily="34" charset="0"/>
                </a:rPr>
                <a:t> ¿cuántos pol</a:t>
              </a:r>
              <a:r>
                <a:rPr lang="es-ES_tradnl" sz="2400" dirty="0">
                  <a:latin typeface="Gill Sans Nova Light" panose="020B0302020104020203" pitchFamily="34" charset="0"/>
                </a:rPr>
                <a:t>inomios</a:t>
              </a:r>
              <a:r>
                <a:rPr lang="es-ES_tradnl" sz="2400" dirty="0">
                  <a:effectLst/>
                  <a:latin typeface="Gill Sans Nova Light" panose="020B0302020104020203" pitchFamily="34" charset="0"/>
                </a:rPr>
                <a:t>?</a:t>
              </a:r>
              <a:endParaRPr lang="es-ES_tradnl" sz="6000" dirty="0">
                <a:effectLst/>
                <a:latin typeface="Gill Sans Nova Light" panose="020B0302020104020203" pitchFamily="34" charset="0"/>
              </a:endParaRPr>
            </a:p>
          </p:txBody>
        </p:sp>
        <p:cxnSp>
          <p:nvCxnSpPr>
            <p:cNvPr id="11" name="Straight Arrow Connector 10">
              <a:extLst>
                <a:ext uri="{FF2B5EF4-FFF2-40B4-BE49-F238E27FC236}">
                  <a16:creationId xmlns:a16="http://schemas.microsoft.com/office/drawing/2014/main" id="{D40DA196-D627-E14F-641F-EAA9FB3E7DD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44620" y="5304208"/>
              <a:ext cx="737248" cy="306577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3616229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13D4B9-E503-F39E-3283-C29B0F6FB2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10E8A7F9-436D-B6BE-C117-3E28D5CB962F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US" dirty="0"/>
                  <a:t>Grados de Libertad: </a:t>
                </a:r>
                <a:r>
                  <a:rPr lang="en-US" i="1" dirty="0">
                    <a:solidFill>
                      <a:schemeClr val="tx1">
                        <a:lumMod val="50000"/>
                        <a:lumOff val="50000"/>
                      </a:schemeClr>
                    </a:solidFill>
                  </a:rPr>
                  <a:t>Degree of Freedom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b="1" i="1" smtClean="0">
                            <a:solidFill>
                              <a:schemeClr val="tx1">
                                <a:lumMod val="50000"/>
                                <a:lumOff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solidFill>
                              <a:schemeClr val="tx1">
                                <a:lumMod val="50000"/>
                                <a:lumOff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𝑑𝑓</m:t>
                        </m:r>
                      </m:e>
                    </m:d>
                  </m:oMath>
                </a14:m>
                <a:endParaRPr lang="en-US" i="1" dirty="0"/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10E8A7F9-436D-B6BE-C117-3E28D5CB962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3"/>
                <a:stretch>
                  <a:fillRect l="-241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CC98DB7-C358-E629-4130-073A63A8930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s-ES_tradnl" dirty="0">
                    <a:solidFill>
                      <a:srgbClr val="002060"/>
                    </a:solidFill>
                  </a:rPr>
                  <a:t>Def</a:t>
                </a:r>
                <a:r>
                  <a:rPr lang="es-ES_tradnl" dirty="0"/>
                  <a:t>: número de valores independientes (información) libres luego de estimar los parámetros de interés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𝑑𝑓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=#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𝑜𝑏𝑠𝑒𝑟𝑣𝑎𝑐𝑖𝑜𝑛𝑒𝑠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−#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𝑝𝑎𝑟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á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𝑚𝑒𝑡𝑟𝑜𝑠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s-ES_tradnl" dirty="0"/>
              </a:p>
              <a:p>
                <a:pPr lvl="1"/>
                <a:r>
                  <a:rPr lang="es-ES_tradnl" dirty="0"/>
                  <a:t>Tarea: Revisar definición del curso de estadística</a:t>
                </a:r>
              </a:p>
              <a:p>
                <a:pPr lvl="1"/>
                <a:endParaRPr lang="es-ES_tradnl" sz="1400" dirty="0"/>
              </a:p>
              <a:p>
                <a:r>
                  <a:rPr lang="es-ES_tradnl" dirty="0">
                    <a:solidFill>
                      <a:srgbClr val="002060"/>
                    </a:solidFill>
                  </a:rPr>
                  <a:t>Ejemplo 1: 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𝑢</m:t>
                    </m:r>
                  </m:oMath>
                </a14:m>
                <a:r>
                  <a:rPr lang="es-ES_tradnl" dirty="0"/>
                  <a:t> con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s-ES_tradnl" dirty="0"/>
                  <a:t> observaciones</a:t>
                </a:r>
              </a:p>
              <a:p>
                <a:pPr lvl="2"/>
                <a:r>
                  <a:rPr lang="es-ES_tradnl" dirty="0"/>
                  <a:t>Estimamos 2 parámetros con MCO -&gt; usamos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lang="es-ES_tradnl" dirty="0"/>
                  <a:t> grados de libertad</a:t>
                </a:r>
              </a:p>
              <a:p>
                <a:pPr lvl="2"/>
                <a:r>
                  <a:rPr lang="es-ES_tradnl" dirty="0"/>
                  <a:t>Quedan “libres”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−2</m:t>
                    </m:r>
                  </m:oMath>
                </a14:m>
                <a:r>
                  <a:rPr lang="es-ES_tradnl" dirty="0"/>
                  <a:t> grados de libertad final</a:t>
                </a:r>
              </a:p>
              <a:p>
                <a:pPr lvl="2"/>
                <a:endParaRPr lang="es-ES_tradnl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CC98DB7-C358-E629-4130-073A63A8930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4"/>
                <a:stretch>
                  <a:fillRect l="-1327" t="-1744" b="-174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9FFFF23-D806-2AE6-609B-E0F8E7F971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9172176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78DC0E-01E2-602D-6068-1104256B10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Restricciones a los </a:t>
            </a:r>
            <a:r>
              <a:rPr lang="es-ES_tradnl" dirty="0" err="1"/>
              <a:t>Splines</a:t>
            </a:r>
            <a:endParaRPr lang="es-ES_tradnl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400593F-3134-3E55-4C1B-C959C06DEA3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s-ES_tradnl" dirty="0">
                    <a:solidFill>
                      <a:srgbClr val="002060"/>
                    </a:solidFill>
                  </a:rPr>
                  <a:t>En la práctica</a:t>
                </a:r>
                <a:r>
                  <a:rPr lang="es-ES_tradnl" dirty="0"/>
                  <a:t>: la </a:t>
                </a:r>
                <a:r>
                  <a:rPr lang="es-ES_tradnl" dirty="0">
                    <a:solidFill>
                      <a:srgbClr val="002060"/>
                    </a:solidFill>
                  </a:rPr>
                  <a:t>1er</a:t>
                </a:r>
                <a:r>
                  <a:rPr lang="es-ES_tradnl" dirty="0"/>
                  <a:t> y </a:t>
                </a:r>
                <a:r>
                  <a:rPr lang="es-ES_tradnl" dirty="0">
                    <a:solidFill>
                      <a:srgbClr val="002060"/>
                    </a:solidFill>
                  </a:rPr>
                  <a:t>2da derivada de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s-ES_tradnl" dirty="0"/>
                  <a:t>sea continua en los puntos de corte (</a:t>
                </a:r>
                <a:r>
                  <a:rPr lang="es-ES_tradnl" dirty="0" err="1"/>
                  <a:t>knots</a:t>
                </a:r>
                <a:r>
                  <a:rPr lang="es-ES_tradnl" dirty="0"/>
                  <a:t>)</a:t>
                </a:r>
              </a:p>
              <a:p>
                <a:pPr lvl="1"/>
                <a:r>
                  <a:rPr lang="es-ES_tradnl" dirty="0">
                    <a:solidFill>
                      <a:srgbClr val="002060"/>
                    </a:solidFill>
                  </a:rPr>
                  <a:t>Idea</a:t>
                </a:r>
                <a:r>
                  <a:rPr lang="es-ES_tradnl" dirty="0"/>
                  <a:t>: más </a:t>
                </a:r>
                <a:r>
                  <a:rPr lang="es-ES_tradnl" dirty="0" err="1">
                    <a:solidFill>
                      <a:srgbClr val="002060"/>
                    </a:solidFill>
                  </a:rPr>
                  <a:t>smooth</a:t>
                </a:r>
                <a:r>
                  <a:rPr lang="es-ES_tradnl" dirty="0"/>
                  <a:t>, sin discontinuidades, sin puntas</a:t>
                </a:r>
              </a:p>
              <a:p>
                <a:pPr lvl="1"/>
                <a:r>
                  <a:rPr lang="es-ES_tradnl" dirty="0">
                    <a:solidFill>
                      <a:srgbClr val="FF0000"/>
                    </a:solidFill>
                  </a:rPr>
                  <a:t>Importante</a:t>
                </a:r>
                <a:r>
                  <a:rPr lang="es-ES_tradnl" dirty="0"/>
                  <a:t>: cada restricción de continuidad, libera un grado de libertad. Ejemplos:</a:t>
                </a:r>
              </a:p>
              <a:p>
                <a:pPr lvl="2"/>
                <a:r>
                  <a:rPr lang="es-ES_tradnl" dirty="0" err="1"/>
                  <a:t>Spline</a:t>
                </a:r>
                <a:r>
                  <a:rPr lang="es-ES_tradnl" dirty="0"/>
                  <a:t> cubico (usa </a:t>
                </a:r>
                <a14:m>
                  <m:oMath xmlns:m="http://schemas.openxmlformats.org/officeDocument/2006/math"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=8</m:t>
                    </m:r>
                  </m:oMath>
                </a14:m>
                <a:r>
                  <a:rPr lang="es-ES_tradnl" dirty="0"/>
                  <a:t>) -&gt; </a:t>
                </a:r>
                <a:r>
                  <a:rPr lang="es-ES_tradnl" dirty="0" err="1"/>
                  <a:t>spline</a:t>
                </a:r>
                <a:r>
                  <a:rPr lang="es-ES_tradnl" dirty="0"/>
                  <a:t> cubico continuo (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=7</m:t>
                    </m:r>
                  </m:oMath>
                </a14:m>
                <a:r>
                  <a:rPr lang="es-ES_tradnl" dirty="0"/>
                  <a:t>)</a:t>
                </a:r>
              </a:p>
              <a:p>
                <a:pPr lvl="2"/>
                <a:r>
                  <a:rPr lang="es-ES_tradnl" dirty="0" err="1"/>
                  <a:t>Spline</a:t>
                </a:r>
                <a:r>
                  <a:rPr lang="es-ES_tradnl" dirty="0"/>
                  <a:t> cubico (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=8</m:t>
                    </m:r>
                  </m:oMath>
                </a14:m>
                <a:r>
                  <a:rPr lang="es-ES_tradnl" dirty="0"/>
                  <a:t>) -&gt; </a:t>
                </a:r>
                <a:r>
                  <a:rPr lang="es-ES_tradnl" dirty="0" err="1"/>
                  <a:t>spline</a:t>
                </a:r>
                <a:r>
                  <a:rPr lang="es-ES_tradnl" dirty="0"/>
                  <a:t> cubico </a:t>
                </a:r>
                <a:r>
                  <a:rPr lang="es-ES_tradnl" dirty="0">
                    <a:solidFill>
                      <a:srgbClr val="002060"/>
                    </a:solidFill>
                  </a:rPr>
                  <a:t>continuo</a:t>
                </a:r>
                <a:r>
                  <a:rPr lang="es-ES_tradnl" dirty="0"/>
                  <a:t> y 1er derivada </a:t>
                </a:r>
                <a:r>
                  <a:rPr lang="es-ES_tradnl" dirty="0">
                    <a:solidFill>
                      <a:srgbClr val="002060"/>
                    </a:solidFill>
                  </a:rPr>
                  <a:t>continua</a:t>
                </a:r>
                <a:r>
                  <a:rPr lang="es-ES_tradnl" dirty="0"/>
                  <a:t> (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=6</m:t>
                    </m:r>
                  </m:oMath>
                </a14:m>
                <a:r>
                  <a:rPr lang="es-ES_tradnl" dirty="0"/>
                  <a:t>)</a:t>
                </a:r>
              </a:p>
              <a:p>
                <a:pPr marL="457200" lvl="1" indent="0">
                  <a:buNone/>
                </a:pPr>
                <a:endParaRPr lang="es-ES_tradnl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400593F-3134-3E55-4C1B-C959C06DEA3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327" t="-174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661F2C7-F924-A3F2-118E-369D837921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09213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5" name="Title 4">
                <a:extLst>
                  <a:ext uri="{FF2B5EF4-FFF2-40B4-BE49-F238E27FC236}">
                    <a16:creationId xmlns:a16="http://schemas.microsoft.com/office/drawing/2014/main" id="{C9C6FAFC-D6EF-C1B3-FADC-B1ADC4C2591C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s-ES_tradnl" sz="4000" dirty="0"/>
                  <a:t>Splines: </a:t>
                </a:r>
                <a:r>
                  <a:rPr lang="es-ES_tradnl" sz="4000" i="1" dirty="0">
                    <a:solidFill>
                      <a:schemeClr val="tx1">
                        <a:lumMod val="50000"/>
                        <a:lumOff val="50000"/>
                      </a:schemeClr>
                    </a:solidFill>
                  </a:rPr>
                  <a:t>Ilustración</a:t>
                </a:r>
                <a:r>
                  <a:rPr lang="es-ES_tradnl" sz="4000" dirty="0"/>
                  <a:t> </a:t>
                </a:r>
                <a:r>
                  <a:rPr lang="es-ES_tradnl" sz="4000" i="1" dirty="0">
                    <a:solidFill>
                      <a:schemeClr val="tx1">
                        <a:lumMod val="50000"/>
                        <a:lumOff val="50000"/>
                      </a:schemeClr>
                    </a:solidFill>
                  </a:rPr>
                  <a:t>de salarios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4000" b="1" i="1" dirty="0" smtClean="0">
                            <a:solidFill>
                              <a:schemeClr val="tx1">
                                <a:lumMod val="50000"/>
                                <a:lumOff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ES_tradnl" sz="4000" i="1" dirty="0" smtClean="0">
                            <a:solidFill>
                              <a:schemeClr val="tx1">
                                <a:lumMod val="50000"/>
                                <a:lumOff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</m:d>
                  </m:oMath>
                </a14:m>
                <a:r>
                  <a:rPr lang="es-ES_tradnl" sz="4000" i="1" dirty="0">
                    <a:solidFill>
                      <a:schemeClr val="tx1">
                        <a:lumMod val="50000"/>
                        <a:lumOff val="50000"/>
                      </a:schemeClr>
                    </a:solidFill>
                  </a:rPr>
                  <a:t>en edad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4000" b="1" i="1" dirty="0" smtClean="0">
                            <a:solidFill>
                              <a:schemeClr val="tx1">
                                <a:lumMod val="50000"/>
                                <a:lumOff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ES_tradnl" sz="4000" i="1" dirty="0" smtClean="0">
                            <a:solidFill>
                              <a:schemeClr val="tx1">
                                <a:lumMod val="50000"/>
                                <a:lumOff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d>
                  </m:oMath>
                </a14:m>
                <a:r>
                  <a:rPr lang="es-ES_tradnl" sz="4000" dirty="0">
                    <a:solidFill>
                      <a:schemeClr val="tx1"/>
                    </a:solidFill>
                  </a:rPr>
                  <a:t> </a:t>
                </a:r>
                <a:endParaRPr lang="es-ES_tradnl" sz="4000" dirty="0"/>
              </a:p>
            </p:txBody>
          </p:sp>
        </mc:Choice>
        <mc:Fallback xmlns="">
          <p:sp>
            <p:nvSpPr>
              <p:cNvPr id="5" name="Title 4">
                <a:extLst>
                  <a:ext uri="{FF2B5EF4-FFF2-40B4-BE49-F238E27FC236}">
                    <a16:creationId xmlns:a16="http://schemas.microsoft.com/office/drawing/2014/main" id="{C9C6FAFC-D6EF-C1B3-FADC-B1ADC4C2591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2171"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2" name="Content Placeholder 11" descr="A graph of a line graph&#10;&#10;Description automatically generated with medium confidence">
            <a:extLst>
              <a:ext uri="{FF2B5EF4-FFF2-40B4-BE49-F238E27FC236}">
                <a16:creationId xmlns:a16="http://schemas.microsoft.com/office/drawing/2014/main" id="{2786CF40-2C2C-F531-A5E2-1345C8B3802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140665" y="1376364"/>
            <a:ext cx="4853699" cy="4351338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3BE5306-318F-F667-0887-B3C7AC81C3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41</a:t>
            </a:fld>
            <a:endParaRPr lang="en-US"/>
          </a:p>
        </p:txBody>
      </p:sp>
      <p:pic>
        <p:nvPicPr>
          <p:cNvPr id="14" name="Picture 13" descr="A diagram of a red line&#10;&#10;Description automatically generated">
            <a:extLst>
              <a:ext uri="{FF2B5EF4-FFF2-40B4-BE49-F238E27FC236}">
                <a16:creationId xmlns:a16="http://schemas.microsoft.com/office/drawing/2014/main" id="{47D0C345-A6E1-C19D-8197-514722EBE07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94364" y="1375158"/>
            <a:ext cx="4856144" cy="4352544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6D587F1A-A3C4-E736-E5EC-7FD4F8E99CA0}"/>
                  </a:ext>
                </a:extLst>
              </p:cNvPr>
              <p:cNvSpPr txBox="1"/>
              <p:nvPr/>
            </p:nvSpPr>
            <p:spPr>
              <a:xfrm>
                <a:off x="1688693" y="5701540"/>
                <a:ext cx="3802379" cy="81176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s-ES_tradnl" i="1" dirty="0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</m:acc>
                      <m:d>
                        <m:dPr>
                          <m:ctrlPr>
                            <a:rPr lang="en-US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e>
                      </m:d>
                      <m:r>
                        <a:rPr lang="en-US" i="1" dirty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̂"/>
                                      <m:ctrlPr>
                                        <a:rPr lang="en-US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𝛽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̂"/>
                                      <m:ctrlPr>
                                        <a:rPr lang="en-US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𝛽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     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𝑎𝑔𝑒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&lt;50</m:t>
                              </m:r>
                            </m:e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̂"/>
                                      <m:ctrlPr>
                                        <a:rPr lang="en-US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𝛽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̂"/>
                                      <m:ctrlPr>
                                        <a:rPr lang="en-US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𝛽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    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𝑎𝑔𝑒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≥50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es-ES_tradnl" dirty="0"/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6D587F1A-A3C4-E736-E5EC-7FD4F8E99CA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88693" y="5701540"/>
                <a:ext cx="3802379" cy="811761"/>
              </a:xfrm>
              <a:prstGeom prst="rect">
                <a:avLst/>
              </a:prstGeom>
              <a:blipFill>
                <a:blip r:embed="rId5"/>
                <a:stretch>
                  <a:fillRect l="-5316" t="-192308" b="-280000"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TextBox 16">
            <a:extLst>
              <a:ext uri="{FF2B5EF4-FFF2-40B4-BE49-F238E27FC236}">
                <a16:creationId xmlns:a16="http://schemas.microsoft.com/office/drawing/2014/main" id="{D1A1F4E3-86E8-DF9E-9248-89DF434A4C8C}"/>
              </a:ext>
            </a:extLst>
          </p:cNvPr>
          <p:cNvSpPr txBox="1"/>
          <p:nvPr/>
        </p:nvSpPr>
        <p:spPr>
          <a:xfrm>
            <a:off x="10613136" y="3847173"/>
            <a:ext cx="1578864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effectLst/>
                <a:latin typeface="Gill Sans Nova Light" panose="020B0302020104020203" pitchFamily="34" charset="0"/>
              </a:rPr>
              <a:t>James, Witten, Hastie, Tibshirani</a:t>
            </a:r>
            <a:r>
              <a:rPr lang="en-US" sz="1600" dirty="0">
                <a:latin typeface="Gill Sans Nova Light" panose="020B0302020104020203" pitchFamily="34" charset="0"/>
              </a:rPr>
              <a:t> &amp; Taylor (</a:t>
            </a:r>
            <a:r>
              <a:rPr lang="en-US" sz="1600" dirty="0">
                <a:effectLst/>
                <a:latin typeface="Gill Sans Nova Light" panose="020B0302020104020203" pitchFamily="34" charset="0"/>
              </a:rPr>
              <a:t>2023). p.</a:t>
            </a:r>
            <a:r>
              <a:rPr lang="en-US" sz="1600" dirty="0">
                <a:latin typeface="Gill Sans Nova Light" panose="020B0302020104020203" pitchFamily="34" charset="0"/>
              </a:rPr>
              <a:t>295</a:t>
            </a:r>
            <a:endParaRPr lang="en-US" sz="4400" dirty="0">
              <a:effectLst/>
              <a:latin typeface="Gill Sans Nova Light" panose="020B0302020104020203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941BEA09-EAFF-D571-3684-4A4F09C6834D}"/>
                  </a:ext>
                </a:extLst>
              </p:cNvPr>
              <p:cNvSpPr txBox="1"/>
              <p:nvPr/>
            </p:nvSpPr>
            <p:spPr>
              <a:xfrm>
                <a:off x="5639851" y="5631713"/>
                <a:ext cx="5941498" cy="81176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s-ES_tradnl" i="1" dirty="0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</m:acc>
                      <m:d>
                        <m:dPr>
                          <m:ctrlPr>
                            <a:rPr lang="en-US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e>
                      </m:d>
                      <m:r>
                        <a:rPr lang="en-US" i="1" dirty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̂"/>
                                      <m:ctrlPr>
                                        <a:rPr lang="en-US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𝛽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̂"/>
                                      <m:ctrlPr>
                                        <a:rPr lang="en-US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𝛽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̂"/>
                                      <m:ctrlPr>
                                        <a:rPr lang="en-US" i="1" dirty="0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𝛽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21</m:t>
                                  </m:r>
                                </m:sub>
                              </m:sSub>
                              <m:sSubSup>
                                <m:sSubSup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  <m:sup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b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̂"/>
                                      <m:ctrlPr>
                                        <a:rPr lang="en-US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𝛽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31</m:t>
                                  </m:r>
                                </m:sub>
                              </m:sSub>
                              <m:sSubSup>
                                <m:sSubSup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  <m:sup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p>
                              </m:sSub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    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𝑎𝑔𝑒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&lt;50</m:t>
                              </m:r>
                            </m:e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̂"/>
                                      <m:ctrlPr>
                                        <a:rPr lang="en-US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𝛽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̂"/>
                                      <m:ctrlPr>
                                        <a:rPr lang="en-US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𝛽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̂"/>
                                      <m:ctrlPr>
                                        <a:rPr lang="en-US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𝛽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22</m:t>
                                  </m:r>
                                </m:sub>
                              </m:sSub>
                              <m:sSubSup>
                                <m:sSubSup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  <m:sup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b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US" b="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̂"/>
                                      <m:ctrlPr>
                                        <a:rPr lang="en-US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𝛽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en-US" b="0" i="1" dirty="0" smtClean="0">
                                      <a:latin typeface="Cambria Math" panose="02040503050406030204" pitchFamily="18" charset="0"/>
                                    </a:rPr>
                                    <m:t>32</m:t>
                                  </m:r>
                                </m:sub>
                              </m:sSub>
                              <m:sSubSup>
                                <m:sSubSup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  <m:sup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p>
                              </m:sSub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    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𝑎𝑔𝑒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≥50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es-ES_tradnl" dirty="0"/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941BEA09-EAFF-D571-3684-4A4F09C6834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39851" y="5631713"/>
                <a:ext cx="5941498" cy="811761"/>
              </a:xfrm>
              <a:prstGeom prst="rect">
                <a:avLst/>
              </a:prstGeom>
              <a:blipFill>
                <a:blip r:embed="rId6"/>
                <a:stretch>
                  <a:fillRect t="-193846" b="-280000"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CC46D9C3-6F73-DB95-35C0-812C49E68CBF}"/>
                  </a:ext>
                </a:extLst>
              </p:cNvPr>
              <p:cNvSpPr txBox="1"/>
              <p:nvPr/>
            </p:nvSpPr>
            <p:spPr>
              <a:xfrm>
                <a:off x="4782387" y="1375158"/>
                <a:ext cx="2927247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s-ES_tradnl" sz="2000" dirty="0">
                    <a:solidFill>
                      <a:srgbClr val="FF0000"/>
                    </a:solidFill>
                    <a:effectLst/>
                    <a:latin typeface="Gill Sans Nova Light" panose="020B0302020104020203" pitchFamily="34" charset="0"/>
                  </a:rPr>
                  <a:t>Continuas en </a:t>
                </a:r>
                <a14:m>
                  <m:oMath xmlns:m="http://schemas.openxmlformats.org/officeDocument/2006/math">
                    <m:r>
                      <a:rPr lang="es-ES_tradnl" sz="20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𝑎𝑔𝑒</m:t>
                    </m:r>
                    <m:r>
                      <a:rPr lang="es-ES_tradnl" sz="20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≥50</m:t>
                    </m:r>
                  </m:oMath>
                </a14:m>
                <a:endParaRPr lang="es-ES_tradnl" sz="5400" dirty="0">
                  <a:solidFill>
                    <a:srgbClr val="FF0000"/>
                  </a:solidFill>
                  <a:effectLst/>
                  <a:latin typeface="Gill Sans Nova Light" panose="020B0302020104020203" pitchFamily="34" charset="0"/>
                </a:endParaRPr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CC46D9C3-6F73-DB95-35C0-812C49E68CB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82387" y="1375158"/>
                <a:ext cx="2927247" cy="400110"/>
              </a:xfrm>
              <a:prstGeom prst="rect">
                <a:avLst/>
              </a:prstGeom>
              <a:blipFill>
                <a:blip r:embed="rId7"/>
                <a:stretch>
                  <a:fillRect l="-2155" t="-6250" b="-31250"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" name="Group 1">
            <a:extLst>
              <a:ext uri="{FF2B5EF4-FFF2-40B4-BE49-F238E27FC236}">
                <a16:creationId xmlns:a16="http://schemas.microsoft.com/office/drawing/2014/main" id="{01091C99-D9F2-C155-2AD7-97BD57C98DF4}"/>
              </a:ext>
            </a:extLst>
          </p:cNvPr>
          <p:cNvGrpSpPr/>
          <p:nvPr/>
        </p:nvGrpSpPr>
        <p:grpSpPr>
          <a:xfrm>
            <a:off x="136566" y="5087409"/>
            <a:ext cx="2169128" cy="688728"/>
            <a:chOff x="628936" y="4719433"/>
            <a:chExt cx="2790920" cy="885236"/>
          </a:xfrm>
        </p:grpSpPr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E5557102-F029-90E8-B3C7-09502B4DDC6E}"/>
                </a:ext>
              </a:extLst>
            </p:cNvPr>
            <p:cNvSpPr txBox="1"/>
            <p:nvPr/>
          </p:nvSpPr>
          <p:spPr>
            <a:xfrm>
              <a:off x="628936" y="4719433"/>
              <a:ext cx="2318588" cy="83099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s-ES_tradnl" sz="2400" dirty="0">
                  <a:solidFill>
                    <a:srgbClr val="FF0000"/>
                  </a:solidFill>
                  <a:effectLst/>
                  <a:latin typeface="Gill Sans Nova Light" panose="020B0302020104020203" pitchFamily="34" charset="0"/>
                </a:rPr>
                <a:t>Pregunta:</a:t>
              </a:r>
              <a:r>
                <a:rPr lang="es-ES_tradnl" sz="2400" dirty="0">
                  <a:effectLst/>
                  <a:latin typeface="Gill Sans Nova Light" panose="020B0302020104020203" pitchFamily="34" charset="0"/>
                </a:rPr>
                <a:t> ¿Grados de Libertad?</a:t>
              </a:r>
              <a:endParaRPr lang="es-ES_tradnl" sz="6000" dirty="0">
                <a:effectLst/>
                <a:latin typeface="Gill Sans Nova Light" panose="020B0302020104020203" pitchFamily="34" charset="0"/>
              </a:endParaRPr>
            </a:p>
          </p:txBody>
        </p:sp>
        <p:cxnSp>
          <p:nvCxnSpPr>
            <p:cNvPr id="6" name="Straight Arrow Connector 5">
              <a:extLst>
                <a:ext uri="{FF2B5EF4-FFF2-40B4-BE49-F238E27FC236}">
                  <a16:creationId xmlns:a16="http://schemas.microsoft.com/office/drawing/2014/main" id="{0EAB01DE-EAB7-9A90-7F6A-07D969D5AB2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533577" y="5375299"/>
              <a:ext cx="886279" cy="22937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4161810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B840EE-1330-663D-71C8-27C1E0D839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Caso Particular: </a:t>
            </a:r>
            <a:r>
              <a:rPr lang="es-ES_tradnl" i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Natural </a:t>
            </a:r>
            <a:r>
              <a:rPr lang="es-ES_tradnl" i="1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Splines</a:t>
            </a:r>
            <a:endParaRPr lang="es-ES_tradnl" i="1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30A7B7-3B0D-04A8-A3A7-0106F69B219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152144" y="5833872"/>
            <a:ext cx="9272016" cy="70504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s-ES_tradnl" dirty="0"/>
              <a:t>Estima un modelo lineal en los extremos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0860DD5-9B6C-D100-9B2C-B39AE1CEAA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42</a:t>
            </a:fld>
            <a:endParaRPr lang="en-US"/>
          </a:p>
        </p:txBody>
      </p:sp>
      <p:pic>
        <p:nvPicPr>
          <p:cNvPr id="9" name="Content Placeholder 8" descr="A graph of different age and age&#10;&#10;Description automatically generated with medium confidence">
            <a:extLst>
              <a:ext uri="{FF2B5EF4-FFF2-40B4-BE49-F238E27FC236}">
                <a16:creationId xmlns:a16="http://schemas.microsoft.com/office/drawing/2014/main" id="{7D0F7C08-FB1F-B178-1361-9547C9D173AD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2626966" y="1326008"/>
            <a:ext cx="6008427" cy="4507864"/>
          </a:xfr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12636D13-8651-D85A-F4EF-E59D6FECDBA4}"/>
              </a:ext>
            </a:extLst>
          </p:cNvPr>
          <p:cNvSpPr txBox="1"/>
          <p:nvPr/>
        </p:nvSpPr>
        <p:spPr>
          <a:xfrm>
            <a:off x="8881871" y="4695471"/>
            <a:ext cx="308457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effectLst/>
                <a:latin typeface="Gill Sans Nova Light" panose="020B0302020104020203" pitchFamily="34" charset="0"/>
              </a:rPr>
              <a:t>James, Witten, Hastie, Tibshirani</a:t>
            </a:r>
            <a:r>
              <a:rPr lang="en-US" sz="1600" dirty="0">
                <a:latin typeface="Gill Sans Nova Light" panose="020B0302020104020203" pitchFamily="34" charset="0"/>
              </a:rPr>
              <a:t> &amp; Taylor (</a:t>
            </a:r>
            <a:r>
              <a:rPr lang="en-US" sz="1600" dirty="0">
                <a:effectLst/>
                <a:latin typeface="Gill Sans Nova Light" panose="020B0302020104020203" pitchFamily="34" charset="0"/>
              </a:rPr>
              <a:t>2023). p.</a:t>
            </a:r>
            <a:r>
              <a:rPr lang="en-US" sz="1600" dirty="0">
                <a:latin typeface="Gill Sans Nova Light" panose="020B0302020104020203" pitchFamily="34" charset="0"/>
              </a:rPr>
              <a:t>297</a:t>
            </a:r>
            <a:endParaRPr lang="en-US" sz="4400" dirty="0">
              <a:effectLst/>
              <a:latin typeface="Gill Sans Nova Light" panose="020B0302020104020203" pitchFamily="34" charset="0"/>
            </a:endParaRP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B3FB1DB9-294E-89C0-7C29-73C3EEDBB0AA}"/>
              </a:ext>
            </a:extLst>
          </p:cNvPr>
          <p:cNvGrpSpPr/>
          <p:nvPr/>
        </p:nvGrpSpPr>
        <p:grpSpPr>
          <a:xfrm>
            <a:off x="3547872" y="2651570"/>
            <a:ext cx="5333998" cy="2616483"/>
            <a:chOff x="3547872" y="2651570"/>
            <a:chExt cx="5333998" cy="2616483"/>
          </a:xfrm>
        </p:grpSpPr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3143A2CC-01C8-957A-20AC-34880655B98F}"/>
                </a:ext>
              </a:extLst>
            </p:cNvPr>
            <p:cNvSpPr/>
            <p:nvPr/>
          </p:nvSpPr>
          <p:spPr>
            <a:xfrm>
              <a:off x="6803136" y="2651570"/>
              <a:ext cx="2078734" cy="2249613"/>
            </a:xfrm>
            <a:prstGeom prst="ellipse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/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EAAEC8DB-1557-DA17-E7AE-C0A0D795CD4B}"/>
                </a:ext>
              </a:extLst>
            </p:cNvPr>
            <p:cNvSpPr/>
            <p:nvPr/>
          </p:nvSpPr>
          <p:spPr>
            <a:xfrm>
              <a:off x="3547872" y="3018440"/>
              <a:ext cx="932688" cy="2249613"/>
            </a:xfrm>
            <a:prstGeom prst="ellipse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/>
            </a:p>
          </p:txBody>
        </p:sp>
      </p:grpSp>
    </p:spTree>
    <p:extLst>
      <p:ext uri="{BB962C8B-B14F-4D97-AF65-F5344CB8AC3E}">
        <p14:creationId xmlns:p14="http://schemas.microsoft.com/office/powerpoint/2010/main" val="9600292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B840EE-1330-663D-71C8-27C1E0D839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 err="1"/>
              <a:t>Splines</a:t>
            </a:r>
            <a:r>
              <a:rPr lang="es-ES_tradnl" dirty="0"/>
              <a:t>: </a:t>
            </a:r>
            <a:r>
              <a:rPr lang="es-ES_tradnl" i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Consideraciones I</a:t>
            </a:r>
            <a:endParaRPr lang="es-ES_tradnl" i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230A7B7-3B0D-04A8-A3A7-0106F69B2190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s-ES_tradnl" dirty="0">
                    <a:solidFill>
                      <a:srgbClr val="002060"/>
                    </a:solidFill>
                  </a:rPr>
                  <a:t>Splines &gt; Polinomios</a:t>
                </a:r>
              </a:p>
              <a:p>
                <a:pPr marL="527050" lvl="1">
                  <a:buFont typeface="Wingdings" pitchFamily="2" charset="2"/>
                  <a:buChar char="ü"/>
                </a:pPr>
                <a:r>
                  <a:rPr lang="es-ES_tradnl" dirty="0">
                    <a:solidFill>
                      <a:srgbClr val="00B050"/>
                    </a:solidFill>
                  </a:rPr>
                  <a:t> </a:t>
                </a:r>
                <a:r>
                  <a:rPr lang="es-ES_tradnl" dirty="0"/>
                  <a:t>Más flexible con más umbrales</a:t>
                </a:r>
              </a:p>
              <a:p>
                <a:pPr marL="527050" lvl="1">
                  <a:buFont typeface="Wingdings" pitchFamily="2" charset="2"/>
                  <a:buChar char="ü"/>
                </a:pPr>
                <a:r>
                  <a:rPr lang="es-ES_tradnl" dirty="0">
                    <a:solidFill>
                      <a:srgbClr val="00B050"/>
                    </a:solidFill>
                  </a:rPr>
                  <a:t> </a:t>
                </a:r>
                <a:r>
                  <a:rPr lang="es-ES_tradnl" dirty="0"/>
                  <a:t>Polinomio </a:t>
                </a:r>
                <a:r>
                  <a:rPr lang="es-ES_tradnl" dirty="0">
                    <a:solidFill>
                      <a:srgbClr val="FF0000"/>
                    </a:solidFill>
                  </a:rPr>
                  <a:t>más inestable </a:t>
                </a:r>
                <a:r>
                  <a:rPr lang="es-ES_tradnl" dirty="0"/>
                  <a:t>en los </a:t>
                </a:r>
                <a:r>
                  <a:rPr lang="es-ES_tradnl" dirty="0">
                    <a:solidFill>
                      <a:srgbClr val="002060"/>
                    </a:solidFill>
                  </a:rPr>
                  <a:t>extremos</a:t>
                </a:r>
              </a:p>
              <a:p>
                <a:r>
                  <a:rPr lang="es-ES_tradnl" dirty="0">
                    <a:solidFill>
                      <a:srgbClr val="002060"/>
                    </a:solidFill>
                  </a:rPr>
                  <a:t>En general: </a:t>
                </a:r>
                <a:r>
                  <a:rPr lang="es-ES_tradnl" dirty="0"/>
                  <a:t>en cada tramo</a:t>
                </a:r>
                <a:endParaRPr lang="es-ES_tradnl" dirty="0">
                  <a:solidFill>
                    <a:srgbClr val="002060"/>
                  </a:solidFill>
                </a:endParaRPr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r>
                      <a:rPr lang="en-US" sz="2800" i="1"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lang="es-ES_tradnl" sz="2800" dirty="0"/>
                  <a:t> </a:t>
                </a:r>
                <a:r>
                  <a:rPr lang="es-ES_tradnl" sz="2800" dirty="0" err="1"/>
                  <a:t>spline</a:t>
                </a:r>
                <a:r>
                  <a:rPr lang="es-ES_tradnl" sz="2800" dirty="0"/>
                  <a:t> = grado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r>
                  <a:rPr lang="es-ES_tradnl" sz="2800" dirty="0"/>
                  <a:t> del polinomio</a:t>
                </a:r>
              </a:p>
              <a:p>
                <a:pPr lvl="1"/>
                <a:r>
                  <a:rPr lang="es-ES_tradnl" dirty="0"/>
                  <a:t>Grados de libertad un </a:t>
                </a:r>
                <a:r>
                  <a:rPr lang="es-ES_tradnl" dirty="0" err="1"/>
                  <a:t>spline</a:t>
                </a:r>
                <a:r>
                  <a:rPr lang="es-ES_tradnl" dirty="0"/>
                  <a:t> continuo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−1</m:t>
                    </m:r>
                  </m:oMath>
                </a14:m>
                <a:endParaRPr lang="es-ES_tradnl" dirty="0"/>
              </a:p>
              <a:p>
                <a:pPr marL="0" indent="0">
                  <a:buNone/>
                </a:pPr>
                <a:endParaRPr lang="es-ES_tradnl" dirty="0"/>
              </a:p>
              <a:p>
                <a:endParaRPr lang="es-ES_tradnl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230A7B7-3B0D-04A8-A3A7-0106F69B219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blipFill>
                <a:blip r:embed="rId2"/>
                <a:stretch>
                  <a:fillRect l="-2689" t="-1744" r="-244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Content Placeholder 6" descr="A graph with a line and a line&#10;&#10;Description automatically generated">
            <a:extLst>
              <a:ext uri="{FF2B5EF4-FFF2-40B4-BE49-F238E27FC236}">
                <a16:creationId xmlns:a16="http://schemas.microsoft.com/office/drawing/2014/main" id="{A5B7AFBD-6C55-E177-FC36-D16831A88C30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6172202" y="2031431"/>
            <a:ext cx="5181598" cy="3939727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0860DD5-9B6C-D100-9B2C-B39AE1CEAA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2541250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B840EE-1330-663D-71C8-27C1E0D839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 err="1"/>
              <a:t>Splines</a:t>
            </a:r>
            <a:r>
              <a:rPr lang="es-ES_tradnl" dirty="0"/>
              <a:t>: </a:t>
            </a:r>
            <a:r>
              <a:rPr lang="es-ES_tradnl" i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Consideraciones II</a:t>
            </a:r>
            <a:endParaRPr lang="es-ES_tradnl" i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230A7B7-3B0D-04A8-A3A7-0106F69B2190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/>
            <p:txBody>
              <a:bodyPr>
                <a:normAutofit/>
              </a:bodyPr>
              <a:lstStyle/>
              <a:p>
                <a:pPr>
                  <a:lnSpc>
                    <a:spcPct val="120000"/>
                  </a:lnSpc>
                </a:pPr>
                <a:r>
                  <a:rPr lang="es-ES_tradnl" dirty="0" err="1"/>
                  <a:t>Parametro</a:t>
                </a:r>
                <a:r>
                  <a:rPr lang="es-ES_tradnl" dirty="0"/>
                  <a:t> </a:t>
                </a:r>
                <a:r>
                  <a:rPr lang="es-ES_tradnl" dirty="0" err="1"/>
                  <a:t>tuning</a:t>
                </a:r>
                <a:r>
                  <a:rPr lang="es-ES_tradnl" dirty="0"/>
                  <a:t> (o de complejidad): grados de libertad </a:t>
                </a:r>
                <a:r>
                  <a:rPr lang="es-ES_tradnl" dirty="0">
                    <a:solidFill>
                      <a:srgbClr val="00B050"/>
                    </a:solidFill>
                  </a:rPr>
                  <a:t>efectivos</a:t>
                </a:r>
              </a:p>
              <a:p>
                <a:pPr lvl="1">
                  <a:lnSpc>
                    <a:spcPct val="120000"/>
                  </a:lnSpc>
                </a:pPr>
                <a:r>
                  <a:rPr lang="es-ES_tradnl" dirty="0"/>
                  <a:t>Elección por Cross-validation</a:t>
                </a:r>
              </a:p>
              <a:p>
                <a:pPr>
                  <a:lnSpc>
                    <a:spcPct val="120000"/>
                  </a:lnSpc>
                </a:pPr>
                <a:r>
                  <a:rPr lang="es-ES_tradnl" dirty="0">
                    <a:solidFill>
                      <a:srgbClr val="002060"/>
                    </a:solidFill>
                  </a:rPr>
                  <a:t>Alternativa</a:t>
                </a:r>
                <a:r>
                  <a:rPr lang="es-ES_tradnl" dirty="0"/>
                  <a:t>: </a:t>
                </a:r>
                <a:r>
                  <a:rPr lang="es-ES_tradnl" dirty="0" err="1"/>
                  <a:t>Smoothing</a:t>
                </a:r>
                <a:r>
                  <a:rPr lang="es-ES_tradnl" dirty="0"/>
                  <a:t> </a:t>
                </a:r>
                <a:r>
                  <a:rPr lang="es-ES_tradnl" dirty="0" err="1"/>
                  <a:t>Splines</a:t>
                </a:r>
                <a:r>
                  <a:rPr lang="es-ES_tradnl" dirty="0"/>
                  <a:t>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𝑔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.</m:t>
                        </m:r>
                      </m:e>
                    </m:d>
                  </m:oMath>
                </a14:m>
                <a:r>
                  <a:rPr lang="es-ES_tradnl" dirty="0"/>
                  <a:t> con un término de penalización</a:t>
                </a:r>
              </a:p>
              <a:p>
                <a:pPr marL="457200" lvl="1" indent="0">
                  <a:lnSpc>
                    <a:spcPct val="120000"/>
                  </a:lnSpc>
                  <a:buNone/>
                </a:pPr>
                <a:endParaRPr lang="es-ES_tradnl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230A7B7-3B0D-04A8-A3A7-0106F69B219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blipFill>
                <a:blip r:embed="rId2"/>
                <a:stretch>
                  <a:fillRect l="-2689" t="-291" r="-1956" b="-261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9" name="Content Placeholder 8" descr="A comparison of a graph&#10;&#10;Description automatically generated with medium confidence">
            <a:extLst>
              <a:ext uri="{FF2B5EF4-FFF2-40B4-BE49-F238E27FC236}">
                <a16:creationId xmlns:a16="http://schemas.microsoft.com/office/drawing/2014/main" id="{DB3323ED-013A-E7C6-87E4-741C196913A1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 rotWithShape="1">
          <a:blip r:embed="rId3"/>
          <a:srcRect r="49706"/>
          <a:stretch/>
        </p:blipFill>
        <p:spPr>
          <a:xfrm>
            <a:off x="6172202" y="1825625"/>
            <a:ext cx="5348969" cy="4351338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0860DD5-9B6C-D100-9B2C-B39AE1CEAA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44</a:t>
            </a:fld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5230F64-5B44-1396-263F-5F665C4166B4}"/>
              </a:ext>
            </a:extLst>
          </p:cNvPr>
          <p:cNvSpPr txBox="1"/>
          <p:nvPr/>
        </p:nvSpPr>
        <p:spPr>
          <a:xfrm>
            <a:off x="6447910" y="6097380"/>
            <a:ext cx="4797551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effectLst/>
                <a:latin typeface="Gill Sans Nova Light" panose="020B0302020104020203" pitchFamily="34" charset="0"/>
              </a:rPr>
              <a:t>James, Witten, Hastie, Tibshirani</a:t>
            </a:r>
            <a:r>
              <a:rPr lang="en-US" sz="1600" dirty="0">
                <a:latin typeface="Gill Sans Nova Light" panose="020B0302020104020203" pitchFamily="34" charset="0"/>
              </a:rPr>
              <a:t> &amp; Taylor (</a:t>
            </a:r>
            <a:r>
              <a:rPr lang="en-US" sz="1600" dirty="0">
                <a:effectLst/>
                <a:latin typeface="Gill Sans Nova Light" panose="020B0302020104020203" pitchFamily="34" charset="0"/>
              </a:rPr>
              <a:t>2023). p.</a:t>
            </a:r>
            <a:r>
              <a:rPr lang="en-US" sz="1600" dirty="0">
                <a:latin typeface="Gill Sans Nova Light" panose="020B0302020104020203" pitchFamily="34" charset="0"/>
              </a:rPr>
              <a:t>299</a:t>
            </a:r>
            <a:endParaRPr lang="en-US" sz="4400" dirty="0">
              <a:effectLst/>
              <a:latin typeface="Gill Sans Nova Light" panose="020B03020201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46885217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E52487-8912-88D3-5BED-DA545ECB10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/>
              <a:t>Aplicación de Spline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19DDBAC-6E1F-CB71-06A2-1863717FF8E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0" i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Gill Sans Nova Light" panose="020B0302020104020203" pitchFamily="34" charset="0"/>
              </a:rPr>
              <a:t>Bertrand, M., </a:t>
            </a:r>
            <a:r>
              <a:rPr lang="en-US" b="0" i="0" dirty="0" err="1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Gill Sans Nova Light" panose="020B0302020104020203" pitchFamily="34" charset="0"/>
              </a:rPr>
              <a:t>Kamenica</a:t>
            </a:r>
            <a:r>
              <a:rPr lang="en-US" b="0" i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Gill Sans Nova Light" panose="020B0302020104020203" pitchFamily="34" charset="0"/>
              </a:rPr>
              <a:t>, E., &amp; Pan, J. (2015). Gender identity and relative income within households. </a:t>
            </a:r>
            <a:r>
              <a:rPr lang="en-US" b="0" i="1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Gill Sans Nova Light" panose="020B0302020104020203" pitchFamily="34" charset="0"/>
              </a:rPr>
              <a:t>The Quarterly Journal of Economics</a:t>
            </a:r>
            <a:r>
              <a:rPr lang="en-US" b="0" i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Gill Sans Nova Light" panose="020B0302020104020203" pitchFamily="34" charset="0"/>
              </a:rPr>
              <a:t>, </a:t>
            </a:r>
            <a:r>
              <a:rPr lang="en-US" b="0" i="1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Gill Sans Nova Light" panose="020B0302020104020203" pitchFamily="34" charset="0"/>
              </a:rPr>
              <a:t>130</a:t>
            </a:r>
            <a:r>
              <a:rPr lang="en-US" b="0" i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Gill Sans Nova Light" panose="020B0302020104020203" pitchFamily="34" charset="0"/>
              </a:rPr>
              <a:t>(2), 571-614</a:t>
            </a:r>
            <a:endParaRPr lang="en-US" dirty="0">
              <a:solidFill>
                <a:schemeClr val="tx1">
                  <a:lumMod val="50000"/>
                  <a:lumOff val="50000"/>
                </a:schemeClr>
              </a:solidFill>
              <a:latin typeface="Gill Sans Nova Light" panose="020B0302020104020203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31FFD17-A32B-0C80-A2EB-43BD8EFF1B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9148097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5A5601-733D-E6B9-D5A3-5A88ABAADC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Ingresos de la esposa relativo al marido</a:t>
            </a:r>
          </a:p>
        </p:txBody>
      </p:sp>
      <p:pic>
        <p:nvPicPr>
          <p:cNvPr id="6" name="Content Placeholder 5" descr="A graph of a person and person&#10;&#10;Description automatically generated">
            <a:extLst>
              <a:ext uri="{FF2B5EF4-FFF2-40B4-BE49-F238E27FC236}">
                <a16:creationId xmlns:a16="http://schemas.microsoft.com/office/drawing/2014/main" id="{9C2E7DEA-1581-D82C-D2BE-8E62DE10649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2674735" y="1333500"/>
            <a:ext cx="6538228" cy="4843463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1498C7C-F014-434E-AD3D-4165D629EA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46</a:t>
            </a:fld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F0F3FDB-48DD-9F60-D072-2A00D01142CF}"/>
              </a:ext>
            </a:extLst>
          </p:cNvPr>
          <p:cNvSpPr txBox="1"/>
          <p:nvPr/>
        </p:nvSpPr>
        <p:spPr>
          <a:xfrm>
            <a:off x="3559638" y="6323598"/>
            <a:ext cx="479755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0" i="0" dirty="0">
                <a:effectLst/>
                <a:latin typeface="Gill Sans Nova Light" panose="020B0302020104020203" pitchFamily="34" charset="0"/>
              </a:rPr>
              <a:t>Bertrand et al (2015) p. 576</a:t>
            </a:r>
            <a:endParaRPr lang="en-US" sz="4400" dirty="0">
              <a:effectLst/>
              <a:latin typeface="Gill Sans Nova Light" panose="020B03020201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70107504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C42471-9418-E3E3-C7E5-30087178FA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Regresiones locales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A780597-6948-B78E-E6E3-6E4F9F1321E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en-US" dirty="0"/>
              <a:t>References</a:t>
            </a:r>
          </a:p>
          <a:p>
            <a:r>
              <a:rPr lang="en-US" dirty="0"/>
              <a:t>Sosa Escudero (2020): </a:t>
            </a:r>
            <a:r>
              <a:rPr lang="en-US" dirty="0" err="1"/>
              <a:t>Clase</a:t>
            </a:r>
            <a:r>
              <a:rPr lang="en-US" dirty="0"/>
              <a:t> </a:t>
            </a:r>
            <a:r>
              <a:rPr lang="en-US" i="1" dirty="0"/>
              <a:t>“</a:t>
            </a:r>
            <a:r>
              <a:rPr lang="en-US" i="1" dirty="0" err="1"/>
              <a:t>Densidad</a:t>
            </a:r>
            <a:r>
              <a:rPr lang="en-US" i="1" dirty="0"/>
              <a:t> y regression no </a:t>
            </a:r>
            <a:r>
              <a:rPr lang="en-US" i="1" dirty="0" err="1"/>
              <a:t>parametrica</a:t>
            </a:r>
            <a:r>
              <a:rPr lang="en-US" i="1" dirty="0"/>
              <a:t>”</a:t>
            </a:r>
          </a:p>
          <a:p>
            <a:r>
              <a:rPr lang="es-AR" sz="2400" b="1" dirty="0">
                <a:solidFill>
                  <a:srgbClr val="00663D"/>
                </a:solidFill>
                <a:effectLst/>
                <a:latin typeface="Times" pitchFamily="2" charset="0"/>
                <a:ea typeface="Times" pitchFamily="2" charset="0"/>
                <a:cs typeface="Times" pitchFamily="2" charset="0"/>
              </a:rPr>
              <a:t>† </a:t>
            </a:r>
            <a:r>
              <a:rPr lang="en-US" sz="2400" dirty="0"/>
              <a:t>James, G., Witten, D., Hastie, T., Tibshirani, R., &amp; Taylor, J. (2023). </a:t>
            </a:r>
            <a:r>
              <a:rPr lang="en-US" sz="2400" i="1" dirty="0"/>
              <a:t>An introduction to statistical learning: With applications in Python. </a:t>
            </a:r>
            <a:r>
              <a:rPr lang="en-US" sz="2400" b="1" dirty="0"/>
              <a:t>Chap. 7.6</a:t>
            </a:r>
          </a:p>
          <a:p>
            <a:r>
              <a:rPr lang="en-US" sz="2400" b="1" cap="small" dirty="0">
                <a:solidFill>
                  <a:srgbClr val="002060"/>
                </a:solidFill>
                <a:effectLst/>
                <a:latin typeface="Times" pitchFamily="2" charset="0"/>
                <a:ea typeface="Times" pitchFamily="2" charset="0"/>
                <a:cs typeface="Times" pitchFamily="2" charset="0"/>
              </a:rPr>
              <a:t>* </a:t>
            </a:r>
            <a:r>
              <a:rPr lang="en-US" sz="240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Gill Sans Nova Light" panose="020B0302020104020203" pitchFamily="34" charset="0"/>
                <a:ea typeface="Gill Sans" panose="020B0502020104020203" pitchFamily="34" charset="-79"/>
                <a:cs typeface="Gill Sans" panose="020B0502020104020203" pitchFamily="34" charset="-79"/>
              </a:rPr>
              <a:t>Friedman, J., Hastie, T., &amp; Tibshirani, R. (2001). </a:t>
            </a:r>
            <a:r>
              <a:rPr lang="en-US" sz="2400" i="1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Gill Sans Nova Light" panose="020B0302020104020203" pitchFamily="34" charset="0"/>
                <a:ea typeface="Gill Sans" panose="020B0502020104020203" pitchFamily="34" charset="-79"/>
                <a:cs typeface="Gill Sans" panose="020B0502020104020203" pitchFamily="34" charset="-79"/>
              </a:rPr>
              <a:t>The elements of statistical learning </a:t>
            </a:r>
            <a:r>
              <a:rPr lang="en-US" sz="240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Gill Sans Nova Light" panose="020B0302020104020203" pitchFamily="34" charset="0"/>
                <a:ea typeface="Gill Sans" panose="020B0502020104020203" pitchFamily="34" charset="-79"/>
                <a:cs typeface="Gill Sans" panose="020B0502020104020203" pitchFamily="34" charset="-79"/>
              </a:rPr>
              <a:t>(Vol. 1). </a:t>
            </a:r>
            <a:r>
              <a:rPr lang="en-US" sz="2400" b="1" dirty="0"/>
              <a:t>Chap 6.1.1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18F5EC8-9CA8-BFFB-D2D0-21A5435315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47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95467531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3F5880-ECA3-2A02-CA6B-E128F2FF51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Regresión local: </a:t>
            </a:r>
            <a:r>
              <a:rPr lang="es-ES_tradnl" i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Idea y algoritmo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17FD389-E604-0B91-DDB4-EAF2EEF9D78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70000" lnSpcReduction="20000"/>
              </a:bodyPr>
              <a:lstStyle/>
              <a:p>
                <a:r>
                  <a:rPr lang="es-ES_tradnl" dirty="0">
                    <a:solidFill>
                      <a:srgbClr val="002060"/>
                    </a:solidFill>
                  </a:rPr>
                  <a:t>Idea: </a:t>
                </a:r>
                <a:r>
                  <a:rPr lang="es-ES_tradnl" dirty="0"/>
                  <a:t>Enfoque más flexible para estimar regresiones entre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lang="es-ES_tradnl" dirty="0"/>
                  <a:t> y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s-ES_tradnl" dirty="0"/>
                  <a:t>por tramos ponderando las observaciones cercanas</a:t>
                </a:r>
              </a:p>
              <a:p>
                <a:endParaRPr lang="es-ES_tradnl" sz="1200" dirty="0"/>
              </a:p>
              <a:p>
                <a:r>
                  <a:rPr lang="es-ES_tradnl" dirty="0">
                    <a:solidFill>
                      <a:srgbClr val="002060"/>
                    </a:solidFill>
                  </a:rPr>
                  <a:t>Algoritmo</a:t>
                </a:r>
                <a:r>
                  <a:rPr lang="es-ES_tradnl" dirty="0"/>
                  <a:t>: </a:t>
                </a:r>
              </a:p>
              <a:p>
                <a:pPr marL="971550" lvl="1" indent="-514350">
                  <a:buFont typeface="+mj-lt"/>
                  <a:buAutoNum type="arabicPeriod"/>
                </a:pPr>
                <a:r>
                  <a:rPr lang="es-ES_tradnl" dirty="0"/>
                  <a:t>Definimos un vecindario alrededor de cada punto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endParaRPr lang="es-ES_tradnl" dirty="0"/>
              </a:p>
              <a:p>
                <a:pPr marL="971550" lvl="1" indent="-514350">
                  <a:buFont typeface="+mj-lt"/>
                  <a:buAutoNum type="arabicPeriod"/>
                </a:pPr>
                <a:r>
                  <a:rPr lang="es-ES_tradnl" dirty="0"/>
                  <a:t>Estimamos una función de densidad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</m:acc>
                  </m:oMath>
                </a14:m>
                <a:r>
                  <a:rPr lang="es-ES_tradnl" dirty="0"/>
                  <a:t> en dicho vecindario de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s-ES_tradnl" dirty="0"/>
                  <a:t> y usamos esas estimaciones como ponderadores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</m:acc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𝜔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endParaRPr lang="es-ES_tradnl" dirty="0"/>
              </a:p>
              <a:p>
                <a:pPr marL="971550" lvl="1" indent="-514350">
                  <a:buFont typeface="+mj-lt"/>
                  <a:buAutoNum type="arabicPeriod"/>
                </a:pPr>
                <a:r>
                  <a:rPr lang="es-ES_tradnl" dirty="0"/>
                  <a:t>Estimamos Mínimo Cuadrados Ponderados (WLS)</a:t>
                </a:r>
              </a:p>
              <a:p>
                <a:pPr marL="457200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limLoc m:val="subSup"/>
                          <m:ctrlPr>
                            <a:rPr lang="es-ES_tradnl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5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𝜔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𝛽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sub>
                                  </m:s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𝛽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  <m:sSub>
                                    <m:sSub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e>
                              </m:d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lang="en-US" b="0" dirty="0"/>
              </a:p>
              <a:p>
                <a:pPr marL="971550" lvl="1" indent="-514350">
                  <a:buFont typeface="+mj-lt"/>
                  <a:buAutoNum type="arabicPeriod" startAt="4"/>
                </a:pPr>
                <a:r>
                  <a:rPr lang="es-ES_tradnl" dirty="0"/>
                  <a:t>Estimar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acc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endParaRPr lang="es-ES_tradnl" dirty="0"/>
              </a:p>
              <a:p>
                <a:pPr marL="971550" lvl="1" indent="-514350">
                  <a:buFont typeface="+mj-lt"/>
                  <a:buAutoNum type="arabicPeriod" startAt="4"/>
                </a:pPr>
                <a:endParaRPr lang="es-ES_tradnl" dirty="0"/>
              </a:p>
              <a:p>
                <a:r>
                  <a:rPr lang="es-ES_tradnl" dirty="0" err="1">
                    <a:solidFill>
                      <a:srgbClr val="00B050"/>
                    </a:solidFill>
                  </a:rPr>
                  <a:t>Tuning</a:t>
                </a:r>
                <a:r>
                  <a:rPr lang="es-ES_tradnl" dirty="0">
                    <a:solidFill>
                      <a:srgbClr val="00B050"/>
                    </a:solidFill>
                  </a:rPr>
                  <a:t> </a:t>
                </a:r>
                <a:r>
                  <a:rPr lang="es-ES_tradnl" dirty="0" err="1">
                    <a:solidFill>
                      <a:srgbClr val="00B050"/>
                    </a:solidFill>
                  </a:rPr>
                  <a:t>parameter</a:t>
                </a:r>
                <a:r>
                  <a:rPr lang="es-ES_tradnl" dirty="0"/>
                  <a:t>: rango del vecindario. (¿Trade off sesgo varianza?)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17FD389-E604-0B91-DDB4-EAF2EEF9D78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724" t="-2035" b="-668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C51EA80-2C33-B266-4DEC-1D7E0A7788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6106534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BA4E57ED-E069-E673-79ED-1F68D4BBB231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s-ES_tradnl" dirty="0"/>
                  <a:t>Métodos más usados para estimar las ponderaciones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𝜔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endParaRPr lang="es-ES_tradnl" dirty="0"/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BA4E57ED-E069-E673-79ED-1F68D4BBB23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2413" t="-14286" b="-2190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17E750-7010-EC88-5480-1D429420B1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es-ES_tradnl" dirty="0"/>
              <a:t>Funciones de Kernels -&gt; repaso de Histogramas y Kernels (</a:t>
            </a:r>
            <a:r>
              <a:rPr lang="es-ES_tradnl" dirty="0">
                <a:solidFill>
                  <a:srgbClr val="00B0F0"/>
                </a:solidFill>
              </a:rPr>
              <a:t>C6</a:t>
            </a:r>
            <a:r>
              <a:rPr lang="es-ES_tradnl" dirty="0"/>
              <a:t>) </a:t>
            </a:r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es-ES_tradnl" dirty="0"/>
              <a:t>K Vecinos cercanos (KNN) -&gt; ver de clasificación (</a:t>
            </a:r>
            <a:r>
              <a:rPr lang="es-ES_tradnl" dirty="0">
                <a:solidFill>
                  <a:srgbClr val="00B0F0"/>
                </a:solidFill>
              </a:rPr>
              <a:t>C10</a:t>
            </a:r>
            <a:r>
              <a:rPr lang="es-ES_tradnl" dirty="0"/>
              <a:t>)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75961A0-E147-A0E5-FA13-0C94791B06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2446117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8B4BD0-CDCC-DA4B-6AC3-BC0180AEDD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1.Repaso: Distribución No Condicional </a:t>
            </a:r>
            <a:endParaRPr lang="es-ES_tradnl" i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9ED213D-78BA-48CD-5617-F7E5779689D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lnSpcReduction="10000"/>
              </a:bodyPr>
              <a:lstStyle/>
              <a:p>
                <a:pPr>
                  <a:lnSpc>
                    <a:spcPct val="120000"/>
                  </a:lnSpc>
                </a:pPr>
                <a:r>
                  <a:rPr lang="es-ES_tradnl" dirty="0"/>
                  <a:t>Variable aleatoria: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endParaRPr lang="es-ES_tradnl" dirty="0"/>
              </a:p>
              <a:p>
                <a:pPr marL="0" indent="0">
                  <a:lnSpc>
                    <a:spcPct val="12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Pr</m:t>
                          </m:r>
                        </m:fName>
                        <m:e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≤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</m:e>
                      </m:func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𝑑𝐹</m:t>
                          </m:r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𝑑𝑥</m:t>
                          </m:r>
                        </m:den>
                      </m:f>
                    </m:oMath>
                  </m:oMathPara>
                </a14:m>
                <a:endParaRPr lang="es-ES_tradnl" dirty="0"/>
              </a:p>
              <a:p>
                <a:pPr>
                  <a:lnSpc>
                    <a:spcPct val="120000"/>
                  </a:lnSpc>
                </a:pPr>
                <a:r>
                  <a:rPr lang="es-ES_tradnl" dirty="0"/>
                  <a:t>En términos generales: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~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;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𝑖𝑖𝑑</m:t>
                    </m:r>
                  </m:oMath>
                </a14:m>
                <a:endParaRPr lang="es-ES_tradnl" dirty="0"/>
              </a:p>
              <a:p>
                <a:pPr lvl="1">
                  <a:lnSpc>
                    <a:spcPct val="1200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s-ES_tradnl" dirty="0"/>
                  <a:t> parámetro no conocido (¿Ejemplos?)</a:t>
                </a:r>
                <a:endParaRPr lang="es-ES_tradnl" dirty="0">
                  <a:solidFill>
                    <a:schemeClr val="tx1">
                      <a:lumMod val="50000"/>
                      <a:lumOff val="50000"/>
                    </a:schemeClr>
                  </a:solidFill>
                </a:endParaRPr>
              </a:p>
              <a:p>
                <a:pPr>
                  <a:lnSpc>
                    <a:spcPct val="120000"/>
                  </a:lnSpc>
                </a:pPr>
                <a:r>
                  <a:rPr lang="es-ES_tradnl" dirty="0">
                    <a:solidFill>
                      <a:srgbClr val="00B050"/>
                    </a:solidFill>
                  </a:rPr>
                  <a:t>Solución</a:t>
                </a:r>
                <a:r>
                  <a:rPr lang="es-ES_tradnl" dirty="0"/>
                  <a:t>: aproximación no paramétrica sin supuestos de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.</m:t>
                        </m:r>
                      </m:e>
                    </m:d>
                  </m:oMath>
                </a14:m>
                <a:endParaRPr lang="es-ES_tradnl" dirty="0"/>
              </a:p>
              <a:p>
                <a:pPr lvl="1">
                  <a:lnSpc>
                    <a:spcPct val="120000"/>
                  </a:lnSpc>
                </a:pPr>
                <a:r>
                  <a:rPr lang="es-ES_tradnl" dirty="0">
                    <a:solidFill>
                      <a:srgbClr val="002060"/>
                    </a:solidFill>
                  </a:rPr>
                  <a:t>Paramétrico</a:t>
                </a:r>
                <a:r>
                  <a:rPr lang="es-ES_tradnl" dirty="0"/>
                  <a:t>: Modelo lineal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𝛽</m:t>
                    </m:r>
                  </m:oMath>
                </a14:m>
                <a:endParaRPr lang="es-ES_tradnl" dirty="0"/>
              </a:p>
              <a:p>
                <a:pPr>
                  <a:lnSpc>
                    <a:spcPct val="120000"/>
                  </a:lnSpc>
                </a:pPr>
                <a:endParaRPr lang="es-ES_tradnl" dirty="0"/>
              </a:p>
              <a:p>
                <a:pPr>
                  <a:lnSpc>
                    <a:spcPct val="120000"/>
                  </a:lnSpc>
                </a:pPr>
                <a:endParaRPr lang="es-ES_tradnl" dirty="0"/>
              </a:p>
              <a:p>
                <a:pPr>
                  <a:lnSpc>
                    <a:spcPct val="120000"/>
                  </a:lnSpc>
                </a:pPr>
                <a:endParaRPr lang="es-ES_tradnl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9ED213D-78BA-48CD-5617-F7E5779689D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327" t="-1163"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1DFD573-01FB-ED11-81FA-AEF8DB2C2D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2607767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1C4CD0-6CF2-DAA6-EA27-693EC6B2D7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1.Histograma: </a:t>
            </a:r>
            <a:r>
              <a:rPr lang="es-ES_tradnl" dirty="0">
                <a:solidFill>
                  <a:schemeClr val="tx1">
                    <a:lumMod val="50000"/>
                    <a:lumOff val="50000"/>
                  </a:schemeClr>
                </a:solidFill>
              </a:rPr>
              <a:t>Intuición &amp; Formula  </a:t>
            </a:r>
            <a:endParaRPr lang="es-ES_tradnl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EFB3B7C-34DE-B6CA-F8B2-0C4B1B6A0F4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/>
              </a:bodyPr>
              <a:lstStyle/>
              <a:p>
                <a:pPr marL="0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</m:acc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#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𝑑𝑒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𝑜𝑏𝑠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𝑒𝑛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𝑙</m:t>
                              </m:r>
                            </m:sub>
                          </m:sSub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×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𝑎𝑛𝑐h𝑜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𝑑𝑒𝑙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𝑏𝑖𝑛</m:t>
                          </m:r>
                        </m:den>
                      </m:f>
                    </m:oMath>
                  </m:oMathPara>
                </a14:m>
                <a:endParaRPr lang="es-ES_tradnl" b="0" i="1" dirty="0">
                  <a:latin typeface="Cambria Math" panose="02040503050406030204" pitchFamily="18" charset="0"/>
                </a:endParaRPr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s-ES_tradnl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s-ES_tradnl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</m:acc>
                      <m:d>
                        <m:dPr>
                          <m:ctrlPr>
                            <a:rPr lang="es-ES_tradnl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s-ES_tradnl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ES_tradnl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ES_tradnl" b="0" i="1" smtClean="0">
                              <a:latin typeface="Cambria Math" panose="02040503050406030204" pitchFamily="18" charset="0"/>
                            </a:rPr>
                            <m:t>𝑀</m:t>
                          </m:r>
                        </m:num>
                        <m:den>
                          <m:r>
                            <a:rPr lang="es-ES_tradnl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den>
                      </m:f>
                      <m:nary>
                        <m:naryPr>
                          <m:chr m:val="∑"/>
                          <m:limLoc m:val="subSup"/>
                          <m:ctrlPr>
                            <a:rPr lang="es-ES_tradnl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5"/>
                            </m:rPr>
                            <a:rPr lang="es-ES_tradnl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s-ES_tradnl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s-ES_tradnl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r>
                            <a:rPr lang="es-ES_tradnl" b="0" i="1" smtClean="0">
                              <a:latin typeface="Cambria Math" panose="02040503050406030204" pitchFamily="18" charset="0"/>
                            </a:rPr>
                            <m:t>𝐼</m:t>
                          </m:r>
                          <m:d>
                            <m:dPr>
                              <m:ctrlPr>
                                <a:rPr lang="es-ES_tradnl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s-ES_tradnl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</m:e>
                                <m:sub>
                                  <m:r>
                                    <a:rPr lang="es-ES_tradnl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s-ES_tradnl" b="0" i="1" smtClean="0">
                                  <a:latin typeface="Cambria Math" panose="02040503050406030204" pitchFamily="18" charset="0"/>
                                </a:rPr>
                                <m:t>∈</m:t>
                              </m:r>
                              <m:sSub>
                                <m:sSubPr>
                                  <m:ctrlPr>
                                    <a:rPr lang="es-ES_tradnl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s-ES_tradnl" b="0" i="1" smtClean="0">
                                      <a:latin typeface="Cambria Math" panose="02040503050406030204" pitchFamily="18" charset="0"/>
                                    </a:rPr>
                                    <m:t>𝐵</m:t>
                                  </m:r>
                                </m:e>
                                <m:sub>
                                  <m:r>
                                    <a:rPr lang="es-ES_tradnl" b="0" i="1" smtClean="0">
                                      <a:latin typeface="Cambria Math" panose="02040503050406030204" pitchFamily="18" charset="0"/>
                                    </a:rPr>
                                    <m:t>𝑙</m:t>
                                  </m:r>
                                </m:sub>
                              </m:sSub>
                            </m:e>
                          </m:d>
                        </m:e>
                      </m:nary>
                    </m:oMath>
                  </m:oMathPara>
                </a14:m>
                <a:endParaRPr lang="es-ES_tradnl" b="0" i="1" dirty="0"/>
              </a:p>
              <a:p>
                <a:pPr>
                  <a:lnSpc>
                    <a:spcPct val="150000"/>
                  </a:lnSpc>
                </a:pPr>
                <a:r>
                  <a:rPr lang="es-ES_tradnl" dirty="0"/>
                  <a:t>El histograma le asigna </a:t>
                </a:r>
                <a:r>
                  <a:rPr lang="es-ES_tradnl" dirty="0">
                    <a:solidFill>
                      <a:srgbClr val="002060"/>
                    </a:solidFill>
                  </a:rPr>
                  <a:t>igual</a:t>
                </a:r>
                <a:r>
                  <a:rPr lang="es-ES_tradnl" dirty="0"/>
                  <a:t> </a:t>
                </a:r>
                <a:r>
                  <a:rPr lang="es-ES_tradnl" dirty="0">
                    <a:solidFill>
                      <a:srgbClr val="002060"/>
                    </a:solidFill>
                  </a:rPr>
                  <a:t>valor</a:t>
                </a:r>
                <a:r>
                  <a:rPr lang="es-ES_tradnl" dirty="0"/>
                  <a:t> de </a:t>
                </a:r>
                <a:r>
                  <a:rPr lang="es-ES_tradnl" dirty="0">
                    <a:solidFill>
                      <a:srgbClr val="002060"/>
                    </a:solidFill>
                  </a:rPr>
                  <a:t>densidad</a:t>
                </a:r>
                <a:r>
                  <a:rPr lang="es-ES_tradnl" dirty="0"/>
                  <a:t> a todos los puntos dentro (</a:t>
                </a:r>
                <a:r>
                  <a:rPr lang="es-ES_tradnl" dirty="0" err="1"/>
                  <a:t>within</a:t>
                </a:r>
                <a:r>
                  <a:rPr lang="es-ES_tradnl" dirty="0"/>
                  <a:t>) de un bin</a:t>
                </a:r>
              </a:p>
              <a:p>
                <a:pPr>
                  <a:lnSpc>
                    <a:spcPct val="150000"/>
                  </a:lnSpc>
                </a:pPr>
                <a:endParaRPr lang="es-ES_tradnl" b="0" dirty="0"/>
              </a:p>
              <a:p>
                <a:pPr marL="0" indent="0">
                  <a:lnSpc>
                    <a:spcPct val="150000"/>
                  </a:lnSpc>
                  <a:buNone/>
                </a:pPr>
                <a:endParaRPr lang="es-ES_tradnl" dirty="0"/>
              </a:p>
              <a:p>
                <a:pPr>
                  <a:lnSpc>
                    <a:spcPct val="150000"/>
                  </a:lnSpc>
                </a:pPr>
                <a:endParaRPr lang="es-ES_tradnl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EFB3B7C-34DE-B6CA-F8B2-0C4B1B6A0F4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206" b="-16860"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562A14A-FAB3-A2DD-D0F8-7F1A47D622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2427107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8B4BD0-CDCC-DA4B-6AC3-BC0180AEDD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1.Kernels: </a:t>
            </a:r>
            <a:r>
              <a:rPr lang="es-ES_tradnl" dirty="0">
                <a:solidFill>
                  <a:schemeClr val="tx1">
                    <a:lumMod val="50000"/>
                    <a:lumOff val="50000"/>
                  </a:schemeClr>
                </a:solidFill>
              </a:rPr>
              <a:t>Formula</a:t>
            </a:r>
            <a:endParaRPr lang="es-ES_tradnl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9ED213D-78BA-48CD-5617-F7E5779689D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/>
              </a:bodyPr>
              <a:lstStyle/>
              <a:p>
                <a:pPr marL="0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s-ES_tradnl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</m:acc>
                      <m:d>
                        <m:dPr>
                          <m:ctrlPr>
                            <a:rPr lang="es-ES_tradnl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s-ES_tradnl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s-ES_tradnl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f>
                            <m:f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den>
                          </m:f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𝐾</m:t>
                          </m:r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b>
                                    <m:sSub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𝑋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sub>
                                  </m:sSub>
                                </m:num>
                                <m:den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h</m:t>
                                  </m:r>
                                </m:den>
                              </m:f>
                            </m:e>
                          </m:d>
                        </m:e>
                      </m:nary>
                    </m:oMath>
                  </m:oMathPara>
                </a14:m>
                <a:endParaRPr lang="es-ES_tradnl" dirty="0"/>
              </a:p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𝐾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s-ES_tradnl" dirty="0">
                    <a:solidFill>
                      <a:srgbClr val="002060"/>
                    </a:solidFill>
                  </a:rPr>
                  <a:t>función Kernel</a:t>
                </a:r>
                <a:r>
                  <a:rPr lang="es-ES_tradnl" dirty="0"/>
                  <a:t> continua (y generalmente) simétrica </a:t>
                </a:r>
              </a:p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h</m:t>
                    </m:r>
                  </m:oMath>
                </a14:m>
                <a:r>
                  <a:rPr lang="es-ES_tradnl" dirty="0"/>
                  <a:t> ancho de banda (</a:t>
                </a:r>
                <a:r>
                  <a:rPr lang="en-US" dirty="0">
                    <a:solidFill>
                      <a:schemeClr val="tx1">
                        <a:lumMod val="50000"/>
                        <a:lumOff val="50000"/>
                      </a:schemeClr>
                    </a:solidFill>
                  </a:rPr>
                  <a:t>smoothing bandwidth</a:t>
                </a:r>
                <a:r>
                  <a:rPr lang="es-ES_tradnl" dirty="0"/>
                  <a:t>)</a:t>
                </a:r>
              </a:p>
              <a:p>
                <a:pPr lvl="1">
                  <a:lnSpc>
                    <a:spcPct val="150000"/>
                  </a:lnSpc>
                </a:pPr>
                <a:r>
                  <a:rPr lang="es-ES_tradnl" dirty="0"/>
                  <a:t>Controlamos que tan “</a:t>
                </a:r>
                <a:r>
                  <a:rPr lang="es-ES_tradnl" dirty="0">
                    <a:solidFill>
                      <a:srgbClr val="002060"/>
                    </a:solidFill>
                  </a:rPr>
                  <a:t>suave</a:t>
                </a:r>
                <a:r>
                  <a:rPr lang="es-ES_tradnl" dirty="0"/>
                  <a:t>” es la densidad </a:t>
                </a:r>
              </a:p>
              <a:p>
                <a:pPr>
                  <a:lnSpc>
                    <a:spcPct val="150000"/>
                  </a:lnSpc>
                </a:pPr>
                <a:endParaRPr lang="es-ES_tradnl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9ED213D-78BA-48CD-5617-F7E5779689D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206" t="-19186"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1DFD573-01FB-ED11-81FA-AEF8DB2C2D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1631202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064A39-6045-E87D-2B15-F3B09461EE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1. Regresión Local por Kernels: </a:t>
            </a:r>
            <a:r>
              <a:rPr lang="es-ES_tradnl" i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Ilustración</a:t>
            </a:r>
          </a:p>
        </p:txBody>
      </p:sp>
      <p:pic>
        <p:nvPicPr>
          <p:cNvPr id="12" name="Content Placeholder 11" descr="A comparison of a graph&#10;&#10;Description automatically generated with medium confidence">
            <a:extLst>
              <a:ext uri="{FF2B5EF4-FFF2-40B4-BE49-F238E27FC236}">
                <a16:creationId xmlns:a16="http://schemas.microsoft.com/office/drawing/2014/main" id="{D0DD8205-0630-C1C3-2B02-2ADEF0AB674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660858" y="1825625"/>
            <a:ext cx="8870283" cy="4351338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9A43AA2-DB1B-82BD-66B9-84384F4103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53</a:t>
            </a:fld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E2FE4B7-E774-841C-CFDF-C1F39342E8BE}"/>
              </a:ext>
            </a:extLst>
          </p:cNvPr>
          <p:cNvSpPr txBox="1"/>
          <p:nvPr/>
        </p:nvSpPr>
        <p:spPr>
          <a:xfrm>
            <a:off x="1660858" y="6311900"/>
            <a:ext cx="4797551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effectLst/>
                <a:latin typeface="Gill Sans Nova Light" panose="020B0302020104020203" pitchFamily="34" charset="0"/>
              </a:rPr>
              <a:t>James, Witten, Hastie, Tibshirani</a:t>
            </a:r>
            <a:r>
              <a:rPr lang="en-US" sz="1600" dirty="0">
                <a:latin typeface="Gill Sans Nova Light" panose="020B0302020104020203" pitchFamily="34" charset="0"/>
              </a:rPr>
              <a:t> &amp; Taylor (</a:t>
            </a:r>
            <a:r>
              <a:rPr lang="en-US" sz="1600" dirty="0">
                <a:effectLst/>
                <a:latin typeface="Gill Sans Nova Light" panose="020B0302020104020203" pitchFamily="34" charset="0"/>
              </a:rPr>
              <a:t>2023). p.304</a:t>
            </a:r>
            <a:endParaRPr lang="en-US" sz="4400" dirty="0">
              <a:effectLst/>
              <a:latin typeface="Gill Sans Nova Light" panose="020B0302020104020203" pitchFamily="34" charset="0"/>
            </a:endParaRPr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B073ACB0-E436-2678-2558-5A8F1399F97E}"/>
              </a:ext>
            </a:extLst>
          </p:cNvPr>
          <p:cNvGrpSpPr/>
          <p:nvPr/>
        </p:nvGrpSpPr>
        <p:grpSpPr>
          <a:xfrm>
            <a:off x="2048256" y="2294303"/>
            <a:ext cx="7351776" cy="2690019"/>
            <a:chOff x="2048256" y="2294303"/>
            <a:chExt cx="7351776" cy="2690019"/>
          </a:xfrm>
        </p:grpSpPr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C79DAB9D-2F17-BD43-C2DF-CB5CB0F00395}"/>
                </a:ext>
              </a:extLst>
            </p:cNvPr>
            <p:cNvSpPr/>
            <p:nvPr/>
          </p:nvSpPr>
          <p:spPr>
            <a:xfrm>
              <a:off x="2048256" y="2798064"/>
              <a:ext cx="1353312" cy="2186258"/>
            </a:xfrm>
            <a:prstGeom prst="ellipse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/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F5EB7315-A31D-E15E-E11A-BCC70A889F07}"/>
                </a:ext>
              </a:extLst>
            </p:cNvPr>
            <p:cNvSpPr/>
            <p:nvPr/>
          </p:nvSpPr>
          <p:spPr>
            <a:xfrm>
              <a:off x="7293864" y="2294303"/>
              <a:ext cx="2106168" cy="2186258"/>
            </a:xfrm>
            <a:prstGeom prst="ellipse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/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90846145-E7DE-1856-789A-171A28F6D169}"/>
              </a:ext>
            </a:extLst>
          </p:cNvPr>
          <p:cNvGrpSpPr/>
          <p:nvPr/>
        </p:nvGrpSpPr>
        <p:grpSpPr>
          <a:xfrm>
            <a:off x="2286000" y="3108959"/>
            <a:ext cx="6492542" cy="2073665"/>
            <a:chOff x="2286000" y="3108959"/>
            <a:chExt cx="6492542" cy="2073665"/>
          </a:xfrm>
        </p:grpSpPr>
        <p:sp>
          <p:nvSpPr>
            <p:cNvPr id="16" name="Rounded Rectangle 15">
              <a:extLst>
                <a:ext uri="{FF2B5EF4-FFF2-40B4-BE49-F238E27FC236}">
                  <a16:creationId xmlns:a16="http://schemas.microsoft.com/office/drawing/2014/main" id="{7A82358C-CEDA-F3A1-C6ED-492E48339B4D}"/>
                </a:ext>
              </a:extLst>
            </p:cNvPr>
            <p:cNvSpPr/>
            <p:nvPr/>
          </p:nvSpPr>
          <p:spPr>
            <a:xfrm>
              <a:off x="2286000" y="3108960"/>
              <a:ext cx="859536" cy="1371601"/>
            </a:xfrm>
            <a:prstGeom prst="roundRect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/>
            </a:p>
          </p:txBody>
        </p:sp>
        <p:sp>
          <p:nvSpPr>
            <p:cNvPr id="17" name="Rounded Rectangle 16">
              <a:extLst>
                <a:ext uri="{FF2B5EF4-FFF2-40B4-BE49-F238E27FC236}">
                  <a16:creationId xmlns:a16="http://schemas.microsoft.com/office/drawing/2014/main" id="{CD8AB1CB-6946-5E08-C3FC-4D27AAB9217F}"/>
                </a:ext>
              </a:extLst>
            </p:cNvPr>
            <p:cNvSpPr/>
            <p:nvPr/>
          </p:nvSpPr>
          <p:spPr>
            <a:xfrm>
              <a:off x="7751064" y="3108959"/>
              <a:ext cx="1027478" cy="1371601"/>
            </a:xfrm>
            <a:prstGeom prst="roundRect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" name="TextBox 18">
                  <a:extLst>
                    <a:ext uri="{FF2B5EF4-FFF2-40B4-BE49-F238E27FC236}">
                      <a16:creationId xmlns:a16="http://schemas.microsoft.com/office/drawing/2014/main" id="{6B64D4F5-BD0C-A0EC-C65C-E8157727CF40}"/>
                    </a:ext>
                  </a:extLst>
                </p:cNvPr>
                <p:cNvSpPr txBox="1"/>
                <p:nvPr/>
              </p:nvSpPr>
              <p:spPr>
                <a:xfrm>
                  <a:off x="2818564" y="4700184"/>
                  <a:ext cx="2482137" cy="48244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acc>
                          <m:accPr>
                            <m:chr m:val="̂"/>
                            <m:ctrlPr>
                              <a:rPr lang="en-US" sz="24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4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</m:acc>
                        <m:d>
                          <m:dPr>
                            <m:ctrlPr>
                              <a:rPr lang="en-US" sz="24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sz="2400" b="0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b="0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sz="2400" b="0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  <m:r>
                              <a:rPr lang="en-US" sz="24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en-US" sz="2400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sz="2400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</m:sSub>
                          </m:e>
                        </m:d>
                        <m:r>
                          <a:rPr lang="en-US" sz="2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sSub>
                          <m:sSubPr>
                            <m:ctrlPr>
                              <a:rPr lang="en-US" sz="24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𝜔</m:t>
                            </m:r>
                          </m:e>
                          <m:sub>
                            <m:r>
                              <a:rPr lang="en-US" sz="24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sz="24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oMath>
                    </m:oMathPara>
                  </a14:m>
                  <a:endParaRPr lang="es-ES_tradnl" sz="2400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19" name="TextBox 18">
                  <a:extLst>
                    <a:ext uri="{FF2B5EF4-FFF2-40B4-BE49-F238E27FC236}">
                      <a16:creationId xmlns:a16="http://schemas.microsoft.com/office/drawing/2014/main" id="{6B64D4F5-BD0C-A0EC-C65C-E8157727CF4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818564" y="4700184"/>
                  <a:ext cx="2482137" cy="482440"/>
                </a:xfrm>
                <a:prstGeom prst="rect">
                  <a:avLst/>
                </a:prstGeom>
                <a:blipFill>
                  <a:blip r:embed="rId3"/>
                  <a:stretch>
                    <a:fillRect t="-10256" b="-12821"/>
                  </a:stretch>
                </a:blipFill>
              </p:spPr>
              <p:txBody>
                <a:bodyPr/>
                <a:lstStyle/>
                <a:p>
                  <a:r>
                    <a:rPr lang="es-ES_tradnl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B0B0A33B-EB6D-D6C7-4E18-AA710BB3F459}"/>
              </a:ext>
            </a:extLst>
          </p:cNvPr>
          <p:cNvGrpSpPr/>
          <p:nvPr/>
        </p:nvGrpSpPr>
        <p:grpSpPr>
          <a:xfrm>
            <a:off x="3988381" y="3348943"/>
            <a:ext cx="3449004" cy="1367177"/>
            <a:chOff x="3988381" y="3348943"/>
            <a:chExt cx="3449004" cy="1367177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" name="TextBox 22">
                  <a:extLst>
                    <a:ext uri="{FF2B5EF4-FFF2-40B4-BE49-F238E27FC236}">
                      <a16:creationId xmlns:a16="http://schemas.microsoft.com/office/drawing/2014/main" id="{F9FBAE51-AFDB-1D06-12B7-4EC7F6B4E3DF}"/>
                    </a:ext>
                  </a:extLst>
                </p:cNvPr>
                <p:cNvSpPr txBox="1"/>
                <p:nvPr/>
              </p:nvSpPr>
              <p:spPr>
                <a:xfrm>
                  <a:off x="3988381" y="3348943"/>
                  <a:ext cx="3440127" cy="52322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800" b="0" i="1" smtClean="0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̂"/>
                                <m:ctrlPr>
                                  <a:rPr lang="en-US" sz="2800" b="0" i="1" smtClean="0">
                                    <a:solidFill>
                                      <a:schemeClr val="accent2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sz="2800" b="0" i="1" smtClean="0">
                                    <a:solidFill>
                                      <a:schemeClr val="accent2"/>
                                    </a:solidFill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</m:acc>
                          </m:e>
                          <m:sub>
                            <m:r>
                              <a:rPr lang="en-US" sz="2800" b="0" i="1" smtClean="0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oMath>
                    </m:oMathPara>
                  </a14:m>
                  <a:endParaRPr lang="es-ES_tradnl" sz="2800" dirty="0">
                    <a:solidFill>
                      <a:schemeClr val="accent2"/>
                    </a:solidFill>
                  </a:endParaRPr>
                </a:p>
              </p:txBody>
            </p:sp>
          </mc:Choice>
          <mc:Fallback xmlns="">
            <p:sp>
              <p:nvSpPr>
                <p:cNvPr id="23" name="TextBox 22">
                  <a:extLst>
                    <a:ext uri="{FF2B5EF4-FFF2-40B4-BE49-F238E27FC236}">
                      <a16:creationId xmlns:a16="http://schemas.microsoft.com/office/drawing/2014/main" id="{F9FBAE51-AFDB-1D06-12B7-4EC7F6B4E3D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988381" y="3348943"/>
                  <a:ext cx="3440127" cy="523220"/>
                </a:xfrm>
                <a:prstGeom prst="rect">
                  <a:avLst/>
                </a:prstGeom>
                <a:blipFill>
                  <a:blip r:embed="rId4"/>
                  <a:stretch>
                    <a:fillRect t="-4762" b="-11905"/>
                  </a:stretch>
                </a:blipFill>
              </p:spPr>
              <p:txBody>
                <a:bodyPr/>
                <a:lstStyle/>
                <a:p>
                  <a:r>
                    <a:rPr lang="es-ES_tradnl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5" name="Straight Arrow Connector 24">
              <a:extLst>
                <a:ext uri="{FF2B5EF4-FFF2-40B4-BE49-F238E27FC236}">
                  <a16:creationId xmlns:a16="http://schemas.microsoft.com/office/drawing/2014/main" id="{0D929107-F1F8-4D4D-C6F0-06AEFD20AF1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669280" y="3891193"/>
              <a:ext cx="0" cy="824927"/>
            </a:xfrm>
            <a:prstGeom prst="straightConnector1">
              <a:avLst/>
            </a:prstGeom>
            <a:ln w="28575">
              <a:solidFill>
                <a:schemeClr val="accent2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Arrow Connector 26">
              <a:extLst>
                <a:ext uri="{FF2B5EF4-FFF2-40B4-BE49-F238E27FC236}">
                  <a16:creationId xmlns:a16="http://schemas.microsoft.com/office/drawing/2014/main" id="{2D291496-DA4E-729B-3AFC-35794380D8E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037860" y="3429000"/>
              <a:ext cx="1399525" cy="145382"/>
            </a:xfrm>
            <a:prstGeom prst="straightConnector1">
              <a:avLst/>
            </a:prstGeom>
            <a:ln w="28575">
              <a:solidFill>
                <a:schemeClr val="accent2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0D249150-B485-5DDB-3787-81BA28C1366F}"/>
                  </a:ext>
                </a:extLst>
              </p:cNvPr>
              <p:cNvSpPr txBox="1"/>
              <p:nvPr/>
            </p:nvSpPr>
            <p:spPr>
              <a:xfrm>
                <a:off x="9788077" y="4890236"/>
                <a:ext cx="1854708" cy="58477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3200" b="0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b="0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sz="3200" b="0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s-ES_tradnl" sz="3200" dirty="0">
                  <a:solidFill>
                    <a:srgbClr val="00B0F0"/>
                  </a:solidFill>
                </a:endParaRPr>
              </a:p>
            </p:txBody>
          </p:sp>
        </mc:Choice>
        <mc:Fallback xmlns="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0D249150-B485-5DDB-3787-81BA28C1366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88077" y="4890236"/>
                <a:ext cx="1854708" cy="584775"/>
              </a:xfrm>
              <a:prstGeom prst="rect">
                <a:avLst/>
              </a:prstGeom>
              <a:blipFill>
                <a:blip r:embed="rId5"/>
                <a:stretch>
                  <a:fillRect b="-10417"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25488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" grpId="0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064A39-6045-E87D-2B15-F3B09461EE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2. Regresión Local por K Vecinos Cercanos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CF2A80B6-2152-2619-2C2C-DFA51B8009BA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/>
            <p:txBody>
              <a:bodyPr>
                <a:normAutofit/>
              </a:bodyPr>
              <a:lstStyle/>
              <a:p>
                <a:pPr>
                  <a:lnSpc>
                    <a:spcPct val="120000"/>
                  </a:lnSpc>
                </a:pPr>
                <a:r>
                  <a:rPr lang="es-ES_tradnl" dirty="0"/>
                  <a:t>Formalmente:</a:t>
                </a:r>
              </a:p>
              <a:p>
                <a:pPr marL="0" indent="0">
                  <a:lnSpc>
                    <a:spcPct val="12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s-ES_tradnl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</m:acc>
                      <m:d>
                        <m:dPr>
                          <m:ctrlPr>
                            <a:rPr lang="es-ES_tradnl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800" b="0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b="0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2800" b="0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e>
                      </m:d>
                      <m:r>
                        <a:rPr lang="en-US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𝐴𝑣𝑒</m:t>
                      </m:r>
                      <m:d>
                        <m:dPr>
                          <m:ctrlPr>
                            <a:rPr lang="en-US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800" b="0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b="0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sz="2800" b="0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|</m:t>
                          </m:r>
                          <m:sSub>
                            <m:sSubPr>
                              <m:ctrlPr>
                                <a:rPr lang="en-US" sz="2800" b="0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b="0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2800" b="0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∈</m:t>
                          </m:r>
                          <m:sSub>
                            <m:sSubPr>
                              <m:ctrlPr>
                                <a:rPr lang="en-US" sz="2800" b="0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b="0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𝑁</m:t>
                              </m:r>
                            </m:e>
                            <m:sub>
                              <m:r>
                                <a:rPr lang="en-US" sz="2800" b="0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  <m:d>
                            <m:dPr>
                              <m:ctrlPr>
                                <a:rPr lang="en-US" sz="2800" b="0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2800" b="0" i="1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800" b="0" i="1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2800" b="0" i="1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</m:e>
                          </m:d>
                        </m:e>
                      </m:d>
                    </m:oMath>
                  </m:oMathPara>
                </a14:m>
                <a:endParaRPr lang="es-ES_tradnl" dirty="0"/>
              </a:p>
              <a:p>
                <a:pPr>
                  <a:lnSpc>
                    <a:spcPct val="120000"/>
                  </a:lnSpc>
                </a:pPr>
                <a:r>
                  <a:rPr lang="es-ES_tradnl" dirty="0">
                    <a:solidFill>
                      <a:srgbClr val="002060"/>
                    </a:solidFill>
                  </a:rPr>
                  <a:t>Intuición</a:t>
                </a:r>
                <a:r>
                  <a:rPr lang="es-ES_tradnl" dirty="0"/>
                  <a:t>: vecindario de los puntos cercanos a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s-ES_tradnl" dirty="0"/>
                  <a:t> con una misma ponderación promedio</a:t>
                </a:r>
              </a:p>
              <a:p>
                <a:pPr>
                  <a:lnSpc>
                    <a:spcPct val="120000"/>
                  </a:lnSpc>
                </a:pPr>
                <a:r>
                  <a:rPr lang="es-ES_tradnl" dirty="0">
                    <a:solidFill>
                      <a:srgbClr val="FF0000"/>
                    </a:solidFill>
                  </a:rPr>
                  <a:t>Problema</a:t>
                </a:r>
                <a:r>
                  <a:rPr lang="es-ES_tradnl" dirty="0"/>
                  <a:t>: discontinuidades</a:t>
                </a:r>
              </a:p>
            </p:txBody>
          </p:sp>
        </mc:Choice>
        <mc:Fallback xmlns="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CF2A80B6-2152-2619-2C2C-DFA51B8009B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blipFill>
                <a:blip r:embed="rId2"/>
                <a:stretch>
                  <a:fillRect l="-2689" t="-291" r="-4401"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9A43AA2-DB1B-82BD-66B9-84384F4103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54</a:t>
            </a:fld>
            <a:endParaRPr lang="en-US"/>
          </a:p>
        </p:txBody>
      </p:sp>
      <p:pic>
        <p:nvPicPr>
          <p:cNvPr id="17" name="Content Placeholder 16" descr="A graph of a function&#10;&#10;Description automatically generated">
            <a:extLst>
              <a:ext uri="{FF2B5EF4-FFF2-40B4-BE49-F238E27FC236}">
                <a16:creationId xmlns:a16="http://schemas.microsoft.com/office/drawing/2014/main" id="{37214C82-1521-07AB-B98B-1AA81B80C303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6556618" y="1391480"/>
            <a:ext cx="5181600" cy="4900671"/>
          </a:xfrm>
        </p:spPr>
      </p:pic>
      <p:grpSp>
        <p:nvGrpSpPr>
          <p:cNvPr id="3" name="Group 2">
            <a:extLst>
              <a:ext uri="{FF2B5EF4-FFF2-40B4-BE49-F238E27FC236}">
                <a16:creationId xmlns:a16="http://schemas.microsoft.com/office/drawing/2014/main" id="{5A081390-E3D3-7EF4-03FE-0DA647DAAD66}"/>
              </a:ext>
            </a:extLst>
          </p:cNvPr>
          <p:cNvGrpSpPr/>
          <p:nvPr/>
        </p:nvGrpSpPr>
        <p:grpSpPr>
          <a:xfrm>
            <a:off x="7129271" y="3167113"/>
            <a:ext cx="2852929" cy="1349404"/>
            <a:chOff x="4357010" y="2584314"/>
            <a:chExt cx="2852929" cy="1349404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" name="TextBox 5">
                  <a:extLst>
                    <a:ext uri="{FF2B5EF4-FFF2-40B4-BE49-F238E27FC236}">
                      <a16:creationId xmlns:a16="http://schemas.microsoft.com/office/drawing/2014/main" id="{566A4551-6652-B33D-AE8E-05660C7F83E6}"/>
                    </a:ext>
                  </a:extLst>
                </p:cNvPr>
                <p:cNvSpPr txBox="1"/>
                <p:nvPr/>
              </p:nvSpPr>
              <p:spPr>
                <a:xfrm>
                  <a:off x="4357010" y="3348943"/>
                  <a:ext cx="2852929" cy="584775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3200" b="0" i="1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̂"/>
                                <m:ctrlPr>
                                  <a:rPr lang="en-US" sz="3200" b="0" i="1" smtClean="0">
                                    <a:solidFill>
                                      <a:srgbClr val="00B05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sz="3200" b="0" i="1" smtClean="0">
                                    <a:solidFill>
                                      <a:srgbClr val="00B050"/>
                                    </a:solidFill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</m:acc>
                          </m:e>
                          <m:sub>
                            <m:r>
                              <a:rPr lang="en-US" sz="3200" b="0" i="1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oMath>
                    </m:oMathPara>
                  </a14:m>
                  <a:endParaRPr lang="es-ES_tradnl" sz="3200" dirty="0">
                    <a:solidFill>
                      <a:srgbClr val="00B050"/>
                    </a:solidFill>
                  </a:endParaRPr>
                </a:p>
              </p:txBody>
            </p:sp>
          </mc:Choice>
          <mc:Fallback xmlns="">
            <p:sp>
              <p:nvSpPr>
                <p:cNvPr id="6" name="TextBox 5">
                  <a:extLst>
                    <a:ext uri="{FF2B5EF4-FFF2-40B4-BE49-F238E27FC236}">
                      <a16:creationId xmlns:a16="http://schemas.microsoft.com/office/drawing/2014/main" id="{566A4551-6652-B33D-AE8E-05660C7F83E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357010" y="3348943"/>
                  <a:ext cx="2852929" cy="584775"/>
                </a:xfrm>
                <a:prstGeom prst="rect">
                  <a:avLst/>
                </a:prstGeom>
                <a:blipFill>
                  <a:blip r:embed="rId4"/>
                  <a:stretch>
                    <a:fillRect t="-10638" b="-12766"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es-ES_tradnl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7" name="Straight Arrow Connector 6">
              <a:extLst>
                <a:ext uri="{FF2B5EF4-FFF2-40B4-BE49-F238E27FC236}">
                  <a16:creationId xmlns:a16="http://schemas.microsoft.com/office/drawing/2014/main" id="{2E99D7F9-AF7B-D974-3415-0F08A651462F}"/>
                </a:ext>
              </a:extLst>
            </p:cNvPr>
            <p:cNvCxnSpPr>
              <a:cxnSpLocks/>
            </p:cNvCxnSpPr>
            <p:nvPr/>
          </p:nvCxnSpPr>
          <p:spPr>
            <a:xfrm>
              <a:off x="4937887" y="2584314"/>
              <a:ext cx="541287" cy="764629"/>
            </a:xfrm>
            <a:prstGeom prst="straightConnector1">
              <a:avLst/>
            </a:prstGeom>
            <a:ln w="28575">
              <a:solidFill>
                <a:srgbClr val="00B05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Arrow Connector 7">
              <a:extLst>
                <a:ext uri="{FF2B5EF4-FFF2-40B4-BE49-F238E27FC236}">
                  <a16:creationId xmlns:a16="http://schemas.microsoft.com/office/drawing/2014/main" id="{AEBE6EA1-3106-AB51-A209-03AA787069F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037860" y="2584314"/>
              <a:ext cx="934335" cy="990068"/>
            </a:xfrm>
            <a:prstGeom prst="straightConnector1">
              <a:avLst/>
            </a:prstGeom>
            <a:ln w="28575">
              <a:solidFill>
                <a:srgbClr val="00B05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D6695F17-E36E-CCD4-170E-670971596C16}"/>
                  </a:ext>
                </a:extLst>
              </p:cNvPr>
              <p:cNvSpPr txBox="1"/>
              <p:nvPr/>
            </p:nvSpPr>
            <p:spPr>
              <a:xfrm>
                <a:off x="10963266" y="4548426"/>
                <a:ext cx="1854708" cy="58477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3200" b="0" i="1" smtClean="0">
                              <a:solidFill>
                                <a:srgbClr val="0432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b="0" i="1" smtClean="0">
                              <a:solidFill>
                                <a:srgbClr val="0432FF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sz="3200" b="0" i="1" smtClean="0">
                              <a:solidFill>
                                <a:srgbClr val="0432FF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s-ES_tradnl" sz="3200" dirty="0">
                  <a:solidFill>
                    <a:srgbClr val="0432FF"/>
                  </a:solidFill>
                </a:endParaRP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D6695F17-E36E-CCD4-170E-670971596C1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963266" y="4548426"/>
                <a:ext cx="1854708" cy="584775"/>
              </a:xfrm>
              <a:prstGeom prst="rect">
                <a:avLst/>
              </a:prstGeom>
              <a:blipFill>
                <a:blip r:embed="rId5"/>
                <a:stretch>
                  <a:fillRect b="-10638"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TextBox 15">
            <a:extLst>
              <a:ext uri="{FF2B5EF4-FFF2-40B4-BE49-F238E27FC236}">
                <a16:creationId xmlns:a16="http://schemas.microsoft.com/office/drawing/2014/main" id="{00E534FE-1414-FA2D-191F-564637DBE64B}"/>
              </a:ext>
            </a:extLst>
          </p:cNvPr>
          <p:cNvSpPr txBox="1"/>
          <p:nvPr/>
        </p:nvSpPr>
        <p:spPr>
          <a:xfrm>
            <a:off x="6345936" y="6292151"/>
            <a:ext cx="4471415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Gill Sans Nova Light" panose="020B0302020104020203" pitchFamily="34" charset="0"/>
                <a:ea typeface="Gill Sans" panose="020B0502020104020203" pitchFamily="34" charset="-79"/>
                <a:cs typeface="Gill Sans" panose="020B0502020104020203" pitchFamily="34" charset="-79"/>
              </a:rPr>
              <a:t>Friedman, J., Hastie, T., &amp; Tibshirani, R. (2001) </a:t>
            </a:r>
            <a:r>
              <a:rPr lang="en-US" sz="160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Gill Sans Nova Light" panose="020B0302020104020203" pitchFamily="34" charset="0"/>
              </a:rPr>
              <a:t>p.192</a:t>
            </a:r>
            <a:endParaRPr lang="en-US" sz="4400" dirty="0">
              <a:solidFill>
                <a:schemeClr val="tx1">
                  <a:lumMod val="50000"/>
                  <a:lumOff val="50000"/>
                </a:schemeClr>
              </a:solidFill>
              <a:effectLst/>
              <a:latin typeface="Gill Sans Nova Light" panose="020B03020201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399271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CAF9F2-9AF5-E51D-741C-65F4B7C8DF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Regresión Local: </a:t>
            </a:r>
            <a:r>
              <a:rPr lang="es-ES_tradnl" i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Aclaraciones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00B8309-F245-E775-D91B-8AC3366DB13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s-ES_tradnl" dirty="0" err="1">
                    <a:solidFill>
                      <a:srgbClr val="002060"/>
                    </a:solidFill>
                  </a:rPr>
                  <a:t>Univariado</a:t>
                </a:r>
                <a:r>
                  <a:rPr lang="es-ES_tradnl" dirty="0">
                    <a:solidFill>
                      <a:srgbClr val="002060"/>
                    </a:solidFill>
                  </a:rPr>
                  <a:t> </a:t>
                </a:r>
                <a:r>
                  <a:rPr lang="es-ES_tradnl" dirty="0"/>
                  <a:t>en clase </a:t>
                </a:r>
                <a:r>
                  <a:rPr lang="es-ES_tradnl" dirty="0">
                    <a:solidFill>
                      <a:srgbClr val="00B0F0"/>
                    </a:solidFill>
                  </a:rPr>
                  <a:t>C7</a:t>
                </a:r>
                <a:r>
                  <a:rPr lang="es-ES_tradnl" dirty="0"/>
                  <a:t> -&gt; Cerca de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32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2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3200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endParaRPr lang="es-ES_tradnl" dirty="0"/>
              </a:p>
              <a:p>
                <a:pPr>
                  <a:lnSpc>
                    <a:spcPct val="150000"/>
                  </a:lnSpc>
                </a:pPr>
                <a:r>
                  <a:rPr lang="es-ES_tradnl" dirty="0">
                    <a:solidFill>
                      <a:srgbClr val="002060"/>
                    </a:solidFill>
                  </a:rPr>
                  <a:t>Multivariado</a:t>
                </a:r>
                <a:r>
                  <a:rPr lang="es-ES_tradnl" dirty="0"/>
                  <a:t> en esta clase -&gt; Cerca de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32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sz="32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3200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s-ES_tradnl" dirty="0"/>
              </a:p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sz="32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es-ES_tradnl" dirty="0"/>
                  <a:t> integra a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1</m:t>
                    </m:r>
                    <m:r>
                      <a:rPr lang="es-ES_tradnl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⇒</m:t>
                    </m:r>
                  </m:oMath>
                </a14:m>
                <a:r>
                  <a:rPr lang="es-ES_tradnl" dirty="0"/>
                  <a:t>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s-ES_tradnl" dirty="0"/>
                  <a:t>también.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00B8309-F245-E775-D91B-8AC3366DB13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327"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CAC381A-0980-1F63-B765-A05E9DB07C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3380773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CAF9F2-9AF5-E51D-741C-65F4B7C8DF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Regresión Local: </a:t>
            </a:r>
            <a:r>
              <a:rPr lang="es-ES_tradnl" i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Consideraciones I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00B8309-F245-E775-D91B-8AC3366DB13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>
                  <a:lnSpc>
                    <a:spcPct val="110000"/>
                  </a:lnSpc>
                </a:pPr>
                <a:r>
                  <a:rPr lang="es-ES_tradnl" dirty="0">
                    <a:solidFill>
                      <a:srgbClr val="FF0000"/>
                    </a:solidFill>
                  </a:rPr>
                  <a:t>Problema</a:t>
                </a:r>
                <a:r>
                  <a:rPr lang="es-ES_tradnl" dirty="0"/>
                  <a:t>: para una noción dada de ‘</a:t>
                </a:r>
                <a:r>
                  <a:rPr lang="es-ES_tradnl" dirty="0">
                    <a:solidFill>
                      <a:srgbClr val="002060"/>
                    </a:solidFill>
                  </a:rPr>
                  <a:t>cerca</a:t>
                </a:r>
                <a:r>
                  <a:rPr lang="es-ES_tradnl" dirty="0"/>
                  <a:t>’, la probabilidad de estar cerca </a:t>
                </a:r>
                <a:r>
                  <a:rPr lang="es-ES_tradnl" dirty="0">
                    <a:solidFill>
                      <a:srgbClr val="002060"/>
                    </a:solidFill>
                  </a:rPr>
                  <a:t>cae dramáticamente </a:t>
                </a:r>
                <a:r>
                  <a:rPr lang="es-ES_tradnl" dirty="0"/>
                  <a:t>con la cantidad de dimensiones.</a:t>
                </a:r>
              </a:p>
              <a:p>
                <a:pPr lvl="1">
                  <a:lnSpc>
                    <a:spcPct val="110000"/>
                  </a:lnSpc>
                </a:pPr>
                <a:r>
                  <a:rPr lang="es-ES_tradnl" dirty="0">
                    <a:solidFill>
                      <a:srgbClr val="002060"/>
                    </a:solidFill>
                  </a:rPr>
                  <a:t>Ejemplo</a:t>
                </a:r>
                <a:r>
                  <a:rPr lang="es-ES_tradnl" dirty="0"/>
                  <a:t>: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es-ES_tradnl" dirty="0"/>
                  <a:t> variables independientes </a:t>
                </a:r>
                <a14:m>
                  <m:oMath xmlns:m="http://schemas.openxmlformats.org/officeDocument/2006/math">
                    <m:r>
                      <a:rPr lang="es-ES_tradnl" i="1" dirty="0" smtClean="0">
                        <a:latin typeface="Cambria Math" panose="02040503050406030204" pitchFamily="18" charset="0"/>
                      </a:rPr>
                      <m:t>𝑁</m:t>
                    </m:r>
                    <m:d>
                      <m:dPr>
                        <m:ctrlPr>
                          <a:rPr lang="es-ES_tradnl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ES_tradnl" i="1" dirty="0" smtClean="0">
                            <a:latin typeface="Cambria Math" panose="02040503050406030204" pitchFamily="18" charset="0"/>
                          </a:rPr>
                          <m:t>0,1</m:t>
                        </m:r>
                      </m:e>
                    </m:d>
                  </m:oMath>
                </a14:m>
                <a:r>
                  <a:rPr lang="es-ES_tradnl" dirty="0"/>
                  <a:t>. </a:t>
                </a:r>
              </a:p>
              <a:p>
                <a:pPr lvl="2">
                  <a:lnSpc>
                    <a:spcPct val="110000"/>
                  </a:lnSpc>
                </a:pPr>
                <a:r>
                  <a:rPr lang="es-ES_tradnl" dirty="0"/>
                  <a:t>Cerca de </a:t>
                </a:r>
                <a14:m>
                  <m:oMath xmlns:m="http://schemas.openxmlformats.org/officeDocument/2006/math">
                    <m:r>
                      <a:rPr lang="es-ES_tradnl" i="1" dirty="0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s-ES_tradnl" dirty="0"/>
                  <a:t>: a menos de </a:t>
                </a:r>
                <a14:m>
                  <m:oMath xmlns:m="http://schemas.openxmlformats.org/officeDocument/2006/math">
                    <m:r>
                      <a:rPr lang="es-ES_tradnl" i="1" dirty="0"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.5</m:t>
                    </m:r>
                  </m:oMath>
                </a14:m>
                <a:r>
                  <a:rPr lang="es-ES_tradnl" dirty="0"/>
                  <a:t>. </a:t>
                </a:r>
              </a:p>
              <a:p>
                <a:pPr lvl="2">
                  <a:lnSpc>
                    <a:spcPct val="110000"/>
                  </a:lnSpc>
                </a:pP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=1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⇒</m:t>
                    </m:r>
                  </m:oMath>
                </a14:m>
                <a:r>
                  <a:rPr lang="es-ES_tradnl" dirty="0"/>
                  <a:t> </a:t>
                </a:r>
                <a14:m>
                  <m:oMath xmlns:m="http://schemas.openxmlformats.org/officeDocument/2006/math">
                    <m:r>
                      <a:rPr lang="es-ES_tradnl" i="1" dirty="0" smtClean="0">
                        <a:latin typeface="Cambria Math" panose="02040503050406030204" pitchFamily="18" charset="0"/>
                      </a:rPr>
                      <m:t>0.3833</m:t>
                    </m:r>
                  </m:oMath>
                </a14:m>
                <a:endParaRPr lang="es-ES_tradnl" dirty="0"/>
              </a:p>
              <a:p>
                <a:pPr lvl="2">
                  <a:lnSpc>
                    <a:spcPct val="110000"/>
                  </a:lnSpc>
                </a:pPr>
                <a14:m>
                  <m:oMath xmlns:m="http://schemas.openxmlformats.org/officeDocument/2006/math">
                    <m:r>
                      <a:rPr lang="es-ES_tradnl" i="1" dirty="0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s-ES_tradnl" i="1" dirty="0" smtClean="0">
                        <a:latin typeface="Cambria Math" panose="02040503050406030204" pitchFamily="18" charset="0"/>
                      </a:rPr>
                      <m:t>=2⇒0.118</m:t>
                    </m:r>
                  </m:oMath>
                </a14:m>
                <a:r>
                  <a:rPr lang="es-ES_tradnl" dirty="0"/>
                  <a:t> </a:t>
                </a:r>
              </a:p>
              <a:p>
                <a:pPr lvl="2">
                  <a:lnSpc>
                    <a:spcPct val="110000"/>
                  </a:lnSpc>
                </a:pPr>
                <a14:m>
                  <m:oMath xmlns:m="http://schemas.openxmlformats.org/officeDocument/2006/math">
                    <m:r>
                      <a:rPr lang="es-ES_tradnl" i="1" dirty="0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s-ES_tradnl" i="1" dirty="0" smtClean="0">
                        <a:latin typeface="Cambria Math" panose="02040503050406030204" pitchFamily="18" charset="0"/>
                      </a:rPr>
                      <m:t>=3⇒</m:t>
                    </m:r>
                  </m:oMath>
                </a14:m>
                <a:r>
                  <a:rPr lang="es-ES_tradnl" dirty="0"/>
                  <a:t> </a:t>
                </a:r>
                <a14:m>
                  <m:oMath xmlns:m="http://schemas.openxmlformats.org/officeDocument/2006/math">
                    <m:r>
                      <a:rPr lang="es-ES_tradnl" i="1" dirty="0" smtClean="0">
                        <a:latin typeface="Cambria Math" panose="02040503050406030204" pitchFamily="18" charset="0"/>
                      </a:rPr>
                      <m:t>0.031</m:t>
                    </m:r>
                  </m:oMath>
                </a14:m>
                <a:endParaRPr lang="es-ES_tradnl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00B8309-F245-E775-D91B-8AC3366DB13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327" t="-1163" r="-965"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CAC381A-0980-1F63-B765-A05E9DB07C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4065390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CAF9F2-9AF5-E51D-741C-65F4B7C8DF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Regresión Local: </a:t>
            </a:r>
            <a:r>
              <a:rPr lang="es-ES_tradnl" i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Consideraciones II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0B8309-F245-E775-D91B-8AC3366DB1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10000"/>
              </a:lnSpc>
            </a:pPr>
            <a:r>
              <a:rPr lang="es-ES_tradnl" dirty="0">
                <a:solidFill>
                  <a:srgbClr val="002060"/>
                </a:solidFill>
              </a:rPr>
              <a:t>Maldición de la dimensionalidad</a:t>
            </a:r>
            <a:r>
              <a:rPr lang="es-ES_tradnl" dirty="0"/>
              <a:t>: la cantidad de información ‘</a:t>
            </a:r>
            <a:r>
              <a:rPr lang="es-ES_tradnl" dirty="0">
                <a:solidFill>
                  <a:srgbClr val="002060"/>
                </a:solidFill>
              </a:rPr>
              <a:t>cerca</a:t>
            </a:r>
            <a:r>
              <a:rPr lang="es-ES_tradnl" dirty="0"/>
              <a:t>’ cae rápidamente con la dimensionalidad.</a:t>
            </a:r>
          </a:p>
          <a:p>
            <a:pPr lvl="1">
              <a:lnSpc>
                <a:spcPct val="110000"/>
              </a:lnSpc>
            </a:pPr>
            <a:r>
              <a:rPr lang="es-ES_tradnl" dirty="0" err="1"/>
              <a:t>Regresion</a:t>
            </a:r>
            <a:r>
              <a:rPr lang="es-ES_tradnl" dirty="0"/>
              <a:t> Local tiene </a:t>
            </a:r>
            <a:r>
              <a:rPr lang="es-ES_tradnl" dirty="0">
                <a:solidFill>
                  <a:srgbClr val="FF0000"/>
                </a:solidFill>
              </a:rPr>
              <a:t>baja performance </a:t>
            </a:r>
            <a:r>
              <a:rPr lang="es-ES_tradnl" dirty="0"/>
              <a:t>de predicción con más 3 o 4 predictores</a:t>
            </a:r>
          </a:p>
          <a:p>
            <a:pPr>
              <a:lnSpc>
                <a:spcPct val="110000"/>
              </a:lnSpc>
            </a:pPr>
            <a:r>
              <a:rPr lang="es-ES_tradnl" dirty="0"/>
              <a:t>Muy </a:t>
            </a:r>
            <a:r>
              <a:rPr lang="es-ES_tradnl" dirty="0">
                <a:solidFill>
                  <a:srgbClr val="FF0000"/>
                </a:solidFill>
              </a:rPr>
              <a:t>difícil</a:t>
            </a:r>
            <a:r>
              <a:rPr lang="es-ES_tradnl" dirty="0"/>
              <a:t> extrapolar métodos no paramétricos para dimensionalidad alta.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CAC381A-0980-1F63-B765-A05E9DB07C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0292403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E357CD-60DB-7599-DBBF-E7E34F55F0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Conclusiones finales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08E002C-8C25-F567-04EE-6365B037641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_tradnl" dirty="0"/>
              <a:t>¿Qué aprendimos hoy?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A580811-4E8A-0CFA-2D7A-CC97B0990D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3056128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D99168-AA67-F1BE-BEB5-BFF50FDBF4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¿Qué aprendimos hoy?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6466B93-964D-A72E-FB12-DE627F299F8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>
                  <a:lnSpc>
                    <a:spcPct val="110000"/>
                  </a:lnSpc>
                </a:pPr>
                <a:r>
                  <a:rPr lang="es-ES_tradnl" dirty="0"/>
                  <a:t>Para </a:t>
                </a:r>
                <a:r>
                  <a:rPr lang="es-ES_tradnl" dirty="0">
                    <a:solidFill>
                      <a:srgbClr val="002060"/>
                    </a:solidFill>
                  </a:rPr>
                  <a:t>reducir la dimensión </a:t>
                </a:r>
                <a:r>
                  <a:rPr lang="es-ES_tradnl" dirty="0"/>
                  <a:t>de los predictores disponibles para predecir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s-ES_tradnl" dirty="0"/>
                  <a:t> </a:t>
                </a:r>
                <a:r>
                  <a:rPr lang="es-ES_tradnl" dirty="0">
                    <a:solidFill>
                      <a:srgbClr val="002060"/>
                    </a:solidFill>
                  </a:rPr>
                  <a:t>repasamos</a:t>
                </a:r>
              </a:p>
              <a:p>
                <a:pPr lvl="1">
                  <a:lnSpc>
                    <a:spcPct val="110000"/>
                  </a:lnSpc>
                </a:pPr>
                <a:r>
                  <a:rPr lang="es-ES_tradnl" dirty="0">
                    <a:solidFill>
                      <a:srgbClr val="002060"/>
                    </a:solidFill>
                  </a:rPr>
                  <a:t>Regresión por Componentes Principales: </a:t>
                </a:r>
              </a:p>
              <a:p>
                <a:pPr lvl="2">
                  <a:lnSpc>
                    <a:spcPct val="110000"/>
                  </a:lnSpc>
                </a:pPr>
                <a:r>
                  <a:rPr lang="es-ES_tradnl" dirty="0"/>
                  <a:t>Usar los componentes obtenidos por PCA como regresores: Reg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s-ES_tradnl" dirty="0"/>
                  <a:t> en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𝑍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s-ES_tradnl" dirty="0"/>
                  <a:t>,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𝑍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s-ES_tradnl" dirty="0"/>
                  <a:t>,…,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𝑍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𝑀</m:t>
                        </m:r>
                      </m:sub>
                    </m:sSub>
                  </m:oMath>
                </a14:m>
                <a:endParaRPr lang="es-ES_tradnl" dirty="0"/>
              </a:p>
              <a:p>
                <a:pPr lvl="1">
                  <a:lnSpc>
                    <a:spcPct val="110000"/>
                  </a:lnSpc>
                </a:pPr>
                <a:r>
                  <a:rPr lang="es-ES_tradnl" dirty="0">
                    <a:solidFill>
                      <a:srgbClr val="002060"/>
                    </a:solidFill>
                  </a:rPr>
                  <a:t>Mínimos Cuadrados Parciales</a:t>
                </a:r>
              </a:p>
              <a:p>
                <a:pPr lvl="2">
                  <a:lnSpc>
                    <a:spcPct val="110000"/>
                  </a:lnSpc>
                </a:pPr>
                <a:r>
                  <a:rPr lang="es-ES_tradnl" dirty="0"/>
                  <a:t>Usamos MCO para obtener el primer componente </a:t>
                </a:r>
              </a:p>
              <a:p>
                <a:pPr lvl="2">
                  <a:lnSpc>
                    <a:spcPct val="110000"/>
                  </a:lnSpc>
                </a:pPr>
                <a:r>
                  <a:rPr lang="es-ES_tradnl" dirty="0"/>
                  <a:t>Con los siguientes se ajustan las variables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endParaRPr lang="es-ES_tradnl" dirty="0"/>
              </a:p>
              <a:p>
                <a:pPr lvl="2">
                  <a:lnSpc>
                    <a:spcPct val="110000"/>
                  </a:lnSpc>
                </a:pPr>
                <a:endParaRPr lang="es-ES_tradnl" dirty="0"/>
              </a:p>
              <a:p>
                <a:pPr>
                  <a:lnSpc>
                    <a:spcPct val="110000"/>
                  </a:lnSpc>
                </a:pPr>
                <a:endParaRPr lang="es-ES_tradnl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6466B93-964D-A72E-FB12-DE627F299F8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327" t="-116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B7E39AB-00F5-ADEE-08FA-C6F284265C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8700139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0D55B1-4C9E-9A68-CAC5-2D5211025F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ES_tradnl" dirty="0"/>
              <a:t>¿Dudas, consultas?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06DE542-4031-D126-7AAF-A0332014D17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ctr"/>
            <a:r>
              <a:rPr lang="es-ES_tradnl" dirty="0">
                <a:latin typeface="Gill Sans Nova Light" panose="020B0302020104020203" pitchFamily="34" charset="0"/>
              </a:rPr>
              <a:t>Consultas: </a:t>
            </a:r>
            <a:r>
              <a:rPr lang="en-US" b="0" i="0" dirty="0">
                <a:solidFill>
                  <a:srgbClr val="0078D7"/>
                </a:solidFill>
                <a:effectLst/>
                <a:latin typeface="Gill Sans Nova Light" panose="020B0302020104020203" pitchFamily="34" charset="0"/>
                <a:hlinkClick r:id="rId2"/>
              </a:rPr>
              <a:t>25RO35480961@campus.economicas.uba.ar</a:t>
            </a:r>
            <a:r>
              <a:rPr lang="en-US" b="0" i="0" dirty="0">
                <a:solidFill>
                  <a:srgbClr val="0078D7"/>
                </a:solidFill>
                <a:effectLst/>
                <a:latin typeface="Gill Sans Nova Light" panose="020B0302020104020203" pitchFamily="34" charset="0"/>
              </a:rPr>
              <a:t> </a:t>
            </a:r>
            <a:endParaRPr lang="es-ES_tradnl" dirty="0">
              <a:latin typeface="Gill Sans Nova Light" panose="020B0302020104020203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A42557C-64E1-99EA-732F-3F53925CF2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787550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3640</TotalTime>
  <Words>3106</Words>
  <Application>Microsoft Macintosh PowerPoint</Application>
  <PresentationFormat>Panorámica</PresentationFormat>
  <Paragraphs>411</Paragraphs>
  <Slides>60</Slides>
  <Notes>18</Notes>
  <HiddenSlides>0</HiddenSlides>
  <MMClips>0</MMClips>
  <ScaleCrop>false</ScaleCrop>
  <HeadingPairs>
    <vt:vector size="6" baseType="variant">
      <vt:variant>
        <vt:lpstr>Fuentes usadas</vt:lpstr>
      </vt:variant>
      <vt:variant>
        <vt:i4>10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60</vt:i4>
      </vt:variant>
    </vt:vector>
  </HeadingPairs>
  <TitlesOfParts>
    <vt:vector size="71" baseType="lpstr">
      <vt:lpstr>Arial</vt:lpstr>
      <vt:lpstr>Calibri</vt:lpstr>
      <vt:lpstr>Cambria Math</vt:lpstr>
      <vt:lpstr>Gill Sans Nova Light</vt:lpstr>
      <vt:lpstr>Goudy Old Style</vt:lpstr>
      <vt:lpstr>Lato</vt:lpstr>
      <vt:lpstr>System Font Regular</vt:lpstr>
      <vt:lpstr>Times</vt:lpstr>
      <vt:lpstr>Times New Roman</vt:lpstr>
      <vt:lpstr>Wingdings</vt:lpstr>
      <vt:lpstr>Office Theme</vt:lpstr>
      <vt:lpstr>Regresión lineal por PCR &amp; PLS  Modelos No Lineales</vt:lpstr>
      <vt:lpstr>En la clase de hoy</vt:lpstr>
      <vt:lpstr>Reducción de la Dimensionalidad: Motivación</vt:lpstr>
      <vt:lpstr>¿Qué hicimos en la clase de Regularización?</vt:lpstr>
      <vt:lpstr>Métodos de Reducción de la Dimensionalidad</vt:lpstr>
      <vt:lpstr>Relevancia: ¿Cuándo es útil dichos métodos?</vt:lpstr>
      <vt:lpstr>Regresión por Componentes Principales (PCR)</vt:lpstr>
      <vt:lpstr>Regresión por Componentes Principales</vt:lpstr>
      <vt:lpstr>Elección de Número de Componentes</vt:lpstr>
      <vt:lpstr>PCR: Intuición, Ventaja &amp; Desventaja</vt:lpstr>
      <vt:lpstr>PCR y Modelo lineal general I</vt:lpstr>
      <vt:lpstr>PCR y Modelo lineal general I</vt:lpstr>
      <vt:lpstr>Comparando PCR con LASSO &amp; Ridge</vt:lpstr>
      <vt:lpstr>Consideración técnica: Recordatorio</vt:lpstr>
      <vt:lpstr>Mínimo Cuadrados Parciales (PLS)</vt:lpstr>
      <vt:lpstr>PCA vs. Mínimo Cuadrado Parciales</vt:lpstr>
      <vt:lpstr>Mínimo Cuadrado Parciales (PLS): Idea</vt:lpstr>
      <vt:lpstr>PLS: Calculo del 1er componente</vt:lpstr>
      <vt:lpstr>PLS: Ilustración y comparación con PCA</vt:lpstr>
      <vt:lpstr>PLS: Calculo del 2do componente</vt:lpstr>
      <vt:lpstr>PLS: 2do componente - Interpretación</vt:lpstr>
      <vt:lpstr>Comparación del Problema de Optimización Intuición</vt:lpstr>
      <vt:lpstr>Comparación del Problema de Optimización Formalmente</vt:lpstr>
      <vt:lpstr>Consideraciones finales</vt:lpstr>
      <vt:lpstr>Modelos No Lineales I: Motivación</vt:lpstr>
      <vt:lpstr>Motivación I: “Mas allá de la linealidad”</vt:lpstr>
      <vt:lpstr>Motivación II: “Mas allá de la linealidad”</vt:lpstr>
      <vt:lpstr>Modelos No Lineales II: Regresión de Polinomios</vt:lpstr>
      <vt:lpstr>Polinomios: Idea y Definición </vt:lpstr>
      <vt:lpstr>Con el polinomio de mayor grado…</vt:lpstr>
      <vt:lpstr>Polinomio: Ilustración de salarios (Y)en edad (X) </vt:lpstr>
      <vt:lpstr>Modelos No Lineales III: Funciones No Lineales </vt:lpstr>
      <vt:lpstr>Step Function: Idea y definición</vt:lpstr>
      <vt:lpstr>Step Function: Definición</vt:lpstr>
      <vt:lpstr>Step function: Ilustración de salarios (Y)en edad (X) </vt:lpstr>
      <vt:lpstr>Modelos No Lineales IV: Splines</vt:lpstr>
      <vt:lpstr>Splines: Idea y definición</vt:lpstr>
      <vt:lpstr>Splines: Ilustración de salarios (Y)en edad (X) </vt:lpstr>
      <vt:lpstr>Grados de Libertad: Degree of Freedom (df)</vt:lpstr>
      <vt:lpstr>Restricciones a los Splines</vt:lpstr>
      <vt:lpstr>Splines: Ilustración de salarios (Y)en edad (X) </vt:lpstr>
      <vt:lpstr>Caso Particular: Natural Splines</vt:lpstr>
      <vt:lpstr>Splines: Consideraciones I</vt:lpstr>
      <vt:lpstr>Splines: Consideraciones II</vt:lpstr>
      <vt:lpstr>Aplicación de Spline</vt:lpstr>
      <vt:lpstr>Ingresos de la esposa relativo al marido</vt:lpstr>
      <vt:lpstr>Regresiones locales</vt:lpstr>
      <vt:lpstr>Regresión local: Idea y algoritmo</vt:lpstr>
      <vt:lpstr>Métodos más usados para estimar las ponderaciones ω_i0</vt:lpstr>
      <vt:lpstr>1.Repaso: Distribución No Condicional </vt:lpstr>
      <vt:lpstr>1.Histograma: Intuición &amp; Formula  </vt:lpstr>
      <vt:lpstr>1.Kernels: Formula</vt:lpstr>
      <vt:lpstr>1. Regresión Local por Kernels: Ilustración</vt:lpstr>
      <vt:lpstr>2. Regresión Local por K Vecinos Cercanos</vt:lpstr>
      <vt:lpstr>Regresión Local: Aclaraciones </vt:lpstr>
      <vt:lpstr>Regresión Local: Consideraciones I</vt:lpstr>
      <vt:lpstr>Regresión Local: Consideraciones II</vt:lpstr>
      <vt:lpstr>Conclusiones finales</vt:lpstr>
      <vt:lpstr>¿Qué aprendimos hoy?</vt:lpstr>
      <vt:lpstr>¿Dudas, consultas?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Big data, Aprendizaje y Minería de Datos:  Perspectivas, ideas y herramientas para economistas</dc:title>
  <dc:creator>Romero, Maria Noelia</dc:creator>
  <cp:lastModifiedBy>Noelia Romero</cp:lastModifiedBy>
  <cp:revision>198</cp:revision>
  <dcterms:created xsi:type="dcterms:W3CDTF">2023-06-12T20:51:31Z</dcterms:created>
  <dcterms:modified xsi:type="dcterms:W3CDTF">2025-11-07T18:20:58Z</dcterms:modified>
</cp:coreProperties>
</file>