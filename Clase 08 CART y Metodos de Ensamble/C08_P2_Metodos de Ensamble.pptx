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423" r:id="rId2"/>
    <p:sldId id="497" r:id="rId3"/>
    <p:sldId id="338" r:id="rId4"/>
    <p:sldId id="339" r:id="rId5"/>
    <p:sldId id="498" r:id="rId6"/>
    <p:sldId id="499" r:id="rId7"/>
    <p:sldId id="342" r:id="rId8"/>
    <p:sldId id="343" r:id="rId9"/>
    <p:sldId id="344" r:id="rId10"/>
    <p:sldId id="345" r:id="rId11"/>
    <p:sldId id="346" r:id="rId12"/>
    <p:sldId id="500" r:id="rId13"/>
    <p:sldId id="347" r:id="rId14"/>
    <p:sldId id="370" r:id="rId15"/>
    <p:sldId id="420" r:id="rId16"/>
    <p:sldId id="274" r:id="rId17"/>
    <p:sldId id="421" r:id="rId18"/>
    <p:sldId id="422" r:id="rId19"/>
    <p:sldId id="261" r:id="rId20"/>
    <p:sldId id="372" r:id="rId21"/>
    <p:sldId id="375" r:id="rId22"/>
    <p:sldId id="348" r:id="rId23"/>
    <p:sldId id="349" r:id="rId24"/>
    <p:sldId id="374" r:id="rId25"/>
    <p:sldId id="350" r:id="rId26"/>
    <p:sldId id="373" r:id="rId27"/>
    <p:sldId id="471" r:id="rId28"/>
    <p:sldId id="472" r:id="rId29"/>
    <p:sldId id="473" r:id="rId30"/>
    <p:sldId id="474" r:id="rId31"/>
    <p:sldId id="359" r:id="rId32"/>
    <p:sldId id="501" r:id="rId33"/>
    <p:sldId id="476" r:id="rId34"/>
    <p:sldId id="477" r:id="rId35"/>
    <p:sldId id="269" r:id="rId36"/>
    <p:sldId id="478" r:id="rId37"/>
    <p:sldId id="479" r:id="rId38"/>
    <p:sldId id="480" r:id="rId39"/>
    <p:sldId id="488" r:id="rId40"/>
    <p:sldId id="482" r:id="rId41"/>
    <p:sldId id="483" r:id="rId42"/>
    <p:sldId id="502" r:id="rId43"/>
    <p:sldId id="337" r:id="rId44"/>
    <p:sldId id="503" r:id="rId45"/>
    <p:sldId id="44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5E9202-8AF9-7B42-B817-22D148D689E3}">
          <p14:sldIdLst>
            <p14:sldId id="423"/>
            <p14:sldId id="497"/>
          </p14:sldIdLst>
        </p14:section>
        <p14:section name="Bootstrap" id="{452C278E-0A2E-D847-AF96-BC48CAD56F94}">
          <p14:sldIdLst>
            <p14:sldId id="338"/>
            <p14:sldId id="339"/>
            <p14:sldId id="498"/>
            <p14:sldId id="499"/>
            <p14:sldId id="342"/>
            <p14:sldId id="343"/>
            <p14:sldId id="344"/>
            <p14:sldId id="345"/>
            <p14:sldId id="346"/>
            <p14:sldId id="500"/>
          </p14:sldIdLst>
        </p14:section>
        <p14:section name="Bagging" id="{4362B0FE-8FD8-7F47-A3FA-AE64BB60E499}">
          <p14:sldIdLst>
            <p14:sldId id="347"/>
            <p14:sldId id="370"/>
            <p14:sldId id="420"/>
            <p14:sldId id="274"/>
            <p14:sldId id="421"/>
            <p14:sldId id="422"/>
            <p14:sldId id="261"/>
            <p14:sldId id="372"/>
            <p14:sldId id="375"/>
          </p14:sldIdLst>
        </p14:section>
        <p14:section name="Boosting" id="{40F79F19-D37C-D743-88DA-F66CEA07E416}">
          <p14:sldIdLst>
            <p14:sldId id="348"/>
            <p14:sldId id="349"/>
            <p14:sldId id="374"/>
            <p14:sldId id="350"/>
            <p14:sldId id="373"/>
          </p14:sldIdLst>
        </p14:section>
        <p14:section name="Random Forest" id="{0EBCA84C-6837-1443-ABA4-6B235619745E}">
          <p14:sldIdLst>
            <p14:sldId id="471"/>
            <p14:sldId id="472"/>
            <p14:sldId id="473"/>
            <p14:sldId id="474"/>
            <p14:sldId id="359"/>
            <p14:sldId id="501"/>
            <p14:sldId id="476"/>
            <p14:sldId id="477"/>
            <p14:sldId id="269"/>
            <p14:sldId id="478"/>
            <p14:sldId id="479"/>
            <p14:sldId id="480"/>
            <p14:sldId id="488"/>
            <p14:sldId id="482"/>
          </p14:sldIdLst>
        </p14:section>
        <p14:section name="Comparando los tres métodos" id="{4B2FE170-BECF-0B4B-847E-88DD93B59D92}">
          <p14:sldIdLst>
            <p14:sldId id="483"/>
            <p14:sldId id="502"/>
          </p14:sldIdLst>
        </p14:section>
        <p14:section name="Conclusiones finales" id="{30AE4762-25DE-C74D-AF95-4AEC0CC37FB0}">
          <p14:sldIdLst>
            <p14:sldId id="337"/>
            <p14:sldId id="503"/>
            <p14:sldId id="44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5"/>
    <p:restoredTop sz="82946"/>
  </p:normalViewPr>
  <p:slideViewPr>
    <p:cSldViewPr snapToGrid="0">
      <p:cViewPr varScale="1">
        <p:scale>
          <a:sx n="87" d="100"/>
          <a:sy n="87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A57B98-7F31-0D42-9B7E-63D1E3B1FEB1}" type="datetimeFigureOut">
              <a:rPr lang="es-ES_tradnl" smtClean="0"/>
              <a:t>24/10/25</a:t>
            </a:fld>
            <a:endParaRPr lang="es-ES_trad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B6B6AD-E852-0649-B090-0B587A2ABB49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22000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9418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72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D82E8D-904F-FE4E-AEC7-40B6C99751F7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014941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844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3771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 err="1"/>
              <a:t>Kovacevic</a:t>
            </a:r>
            <a:r>
              <a:rPr lang="es-ES_tradnl" dirty="0"/>
              <a:t>, M., Ivanisevic, N., </a:t>
            </a:r>
            <a:r>
              <a:rPr lang="es-ES_tradnl" dirty="0" err="1"/>
              <a:t>Petronijevic</a:t>
            </a:r>
            <a:r>
              <a:rPr lang="es-ES_tradnl" dirty="0"/>
              <a:t>, P. &amp; V. </a:t>
            </a:r>
            <a:r>
              <a:rPr lang="es-ES_tradnl" dirty="0" err="1"/>
              <a:t>Despotovic</a:t>
            </a:r>
            <a:r>
              <a:rPr lang="es-ES_tradnl" dirty="0"/>
              <a:t> (2021). </a:t>
            </a:r>
            <a:r>
              <a:rPr lang="es-ES_tradnl" dirty="0" err="1"/>
              <a:t>Construction</a:t>
            </a:r>
            <a:r>
              <a:rPr lang="es-ES_tradnl" dirty="0"/>
              <a:t> </a:t>
            </a:r>
            <a:r>
              <a:rPr lang="es-ES_tradnl" dirty="0" err="1"/>
              <a:t>cost</a:t>
            </a:r>
            <a:r>
              <a:rPr lang="es-ES_tradnl" dirty="0"/>
              <a:t> </a:t>
            </a:r>
            <a:r>
              <a:rPr lang="es-ES_tradnl" dirty="0" err="1"/>
              <a:t>estimation</a:t>
            </a:r>
            <a:r>
              <a:rPr lang="es-ES_tradnl" dirty="0"/>
              <a:t> </a:t>
            </a:r>
            <a:r>
              <a:rPr lang="es-ES_tradnl" dirty="0" err="1"/>
              <a:t>of</a:t>
            </a:r>
            <a:r>
              <a:rPr lang="es-ES_tradnl" dirty="0"/>
              <a:t> </a:t>
            </a:r>
            <a:r>
              <a:rPr lang="es-ES_tradnl" dirty="0" err="1"/>
              <a:t>reinforced</a:t>
            </a:r>
            <a:r>
              <a:rPr lang="es-ES_tradnl" dirty="0"/>
              <a:t> and </a:t>
            </a:r>
            <a:r>
              <a:rPr lang="es-ES_tradnl" dirty="0" err="1"/>
              <a:t>prestressed</a:t>
            </a:r>
            <a:r>
              <a:rPr lang="es-ES_tradnl" dirty="0"/>
              <a:t> concrete bridges </a:t>
            </a:r>
            <a:r>
              <a:rPr lang="es-ES_tradnl" dirty="0" err="1"/>
              <a:t>using</a:t>
            </a:r>
            <a:r>
              <a:rPr lang="es-ES_tradnl" dirty="0"/>
              <a:t> machine learning. 73. 1-13. 10.14256/JCE.2738.2019.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16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0348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 err="1"/>
              <a:t>Kovacevic</a:t>
            </a:r>
            <a:r>
              <a:rPr lang="es-ES_tradnl" dirty="0"/>
              <a:t>, M., Ivanisevic, N., </a:t>
            </a:r>
            <a:r>
              <a:rPr lang="es-ES_tradnl" dirty="0" err="1"/>
              <a:t>Petronijevic</a:t>
            </a:r>
            <a:r>
              <a:rPr lang="es-ES_tradnl" dirty="0"/>
              <a:t>, P. &amp; V. </a:t>
            </a:r>
            <a:r>
              <a:rPr lang="es-ES_tradnl" dirty="0" err="1"/>
              <a:t>Despotovic</a:t>
            </a:r>
            <a:r>
              <a:rPr lang="es-ES_tradnl" dirty="0"/>
              <a:t> (2021). </a:t>
            </a:r>
            <a:r>
              <a:rPr lang="es-ES_tradnl" dirty="0" err="1"/>
              <a:t>Construction</a:t>
            </a:r>
            <a:r>
              <a:rPr lang="es-ES_tradnl" dirty="0"/>
              <a:t> </a:t>
            </a:r>
            <a:r>
              <a:rPr lang="es-ES_tradnl" dirty="0" err="1"/>
              <a:t>cost</a:t>
            </a:r>
            <a:r>
              <a:rPr lang="es-ES_tradnl" dirty="0"/>
              <a:t> </a:t>
            </a:r>
            <a:r>
              <a:rPr lang="es-ES_tradnl" dirty="0" err="1"/>
              <a:t>estimation</a:t>
            </a:r>
            <a:r>
              <a:rPr lang="es-ES_tradnl" dirty="0"/>
              <a:t> </a:t>
            </a:r>
            <a:r>
              <a:rPr lang="es-ES_tradnl" dirty="0" err="1"/>
              <a:t>of</a:t>
            </a:r>
            <a:r>
              <a:rPr lang="es-ES_tradnl" dirty="0"/>
              <a:t> </a:t>
            </a:r>
            <a:r>
              <a:rPr lang="es-ES_tradnl" dirty="0" err="1"/>
              <a:t>reinforced</a:t>
            </a:r>
            <a:r>
              <a:rPr lang="es-ES_tradnl" dirty="0"/>
              <a:t> and </a:t>
            </a:r>
            <a:r>
              <a:rPr lang="es-ES_tradnl" dirty="0" err="1"/>
              <a:t>prestressed</a:t>
            </a:r>
            <a:r>
              <a:rPr lang="es-ES_tradnl" dirty="0"/>
              <a:t> concrete bridges </a:t>
            </a:r>
            <a:r>
              <a:rPr lang="es-ES_tradnl" dirty="0" err="1"/>
              <a:t>using</a:t>
            </a:r>
            <a:r>
              <a:rPr lang="es-ES_tradnl" dirty="0"/>
              <a:t> machine learning. 73. 1-13. 10.14256/JCE.2738.2019.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28758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480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Fuente: https://</a:t>
            </a:r>
            <a:r>
              <a:rPr lang="es-ES_tradnl" dirty="0" err="1"/>
              <a:t>www.analyticsvidhya.com</a:t>
            </a:r>
            <a:r>
              <a:rPr lang="es-ES_tradnl" dirty="0"/>
              <a:t>/blog/2015/11/</a:t>
            </a:r>
            <a:r>
              <a:rPr lang="es-ES_tradnl" dirty="0" err="1"/>
              <a:t>quick</a:t>
            </a:r>
            <a:r>
              <a:rPr lang="es-ES_tradnl" dirty="0"/>
              <a:t>-</a:t>
            </a:r>
            <a:r>
              <a:rPr lang="es-ES_tradnl" dirty="0" err="1"/>
              <a:t>introduction</a:t>
            </a:r>
            <a:r>
              <a:rPr lang="es-ES_tradnl" dirty="0"/>
              <a:t>-</a:t>
            </a:r>
            <a:r>
              <a:rPr lang="es-ES_tradnl" dirty="0" err="1"/>
              <a:t>boosting</a:t>
            </a:r>
            <a:r>
              <a:rPr lang="es-ES_tradnl" dirty="0"/>
              <a:t>-</a:t>
            </a:r>
            <a:r>
              <a:rPr lang="es-ES_tradnl" dirty="0" err="1"/>
              <a:t>algorithms</a:t>
            </a:r>
            <a:r>
              <a:rPr lang="es-ES_tradnl" dirty="0"/>
              <a:t>-machine-learning/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24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20781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38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42541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C421-9F65-2C45-CA48-FE709978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1AB168-2827-F098-1ED6-85B197FEB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941C1-85B7-97D9-4CBD-08EC2BE65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En este gráfico, el eje x es </a:t>
            </a:r>
            <a:r>
              <a:rPr lang="es-ES_tradnl" b="1" dirty="0"/>
              <a:t>número de observaciones</a:t>
            </a:r>
            <a:r>
              <a:rPr lang="es-ES_tradnl" b="0" dirty="0"/>
              <a:t> en los nodos terminales (no número de nodos terminales). Ambas medidas se mueven juntas. Mientras más nodos terminales tenemos, más particiones del espacio de predictores, y menor número de observaciones en los nodos terminales. Entonces, si uno tiene particiones donde dejamos solo 5 observaciones en los nodos terminales, el árbol es mas “profundo” (</a:t>
            </a:r>
            <a:r>
              <a:rPr lang="es-ES_tradnl" b="1" dirty="0"/>
              <a:t>Deep</a:t>
            </a:r>
            <a:r>
              <a:rPr lang="es-ES_tradnl" b="0" dirty="0"/>
              <a:t>) pero nuestro error de predicción afuera de la muestra empeora. En otras palabras, estamos </a:t>
            </a:r>
            <a:r>
              <a:rPr lang="es-ES_tradnl" b="0" dirty="0" err="1"/>
              <a:t>sobreajustando</a:t>
            </a:r>
            <a:r>
              <a:rPr lang="es-ES_tradnl" b="0" dirty="0"/>
              <a:t> la predicción a los datos dentro de la muestra, pero somos peores prediciendo afuera, por eso aumenta el MSE de testeo.</a:t>
            </a: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73EC9-3BAB-1CE3-5773-8A96A63BC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39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135384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40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B6B6AD-E852-0649-B090-0B587A2ABB49}" type="slidenum">
              <a:rPr lang="es-ES_tradnl" smtClean="0"/>
              <a:t>42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50085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43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7228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96A44-393B-2349-9636-C2E629343387}" type="datetime1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DD35-DA54-6249-8929-31941A6F915E}" type="datetime1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33375-BE77-974E-B796-FE3045409A94}" type="datetime1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5ED56-00FC-634F-B6C2-E86770DA063E}" type="datetime1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0F7AF-5390-6D41-B3C2-4512AD8DC48F}" type="datetime1">
              <a:rPr lang="en-US" smtClean="0"/>
              <a:t>10/24/25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FBA76-D706-234B-B88E-FA9EF4D7D110}" type="datetime1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7C583-3803-924E-B51C-25F9B096D826}" type="datetime1">
              <a:rPr lang="en-US" smtClean="0"/>
              <a:t>10/24/25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C20E7-E151-324B-B310-BE89353755F2}" type="datetime1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53A3E-DA75-EC4A-9046-4A3B26FBAAC1}" type="datetime1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0747D-E2B9-0645-9126-214ED2EB266F}" type="datetime1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EB08E-9945-494E-8140-072E164898FC}" type="datetime1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03A4A31-8716-1243-A06A-E7884CD293D7}" type="datetime1">
              <a:rPr lang="en-US" noProof="0" smtClean="0"/>
              <a:t>10/24/25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mailto:25RO35480961@campus.economicas.uba.a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cs typeface="Times New Roman" panose="02020603050405020304" pitchFamily="18" charset="0"/>
              </a:rPr>
              <a:t>Métodos de Ensamble: </a:t>
            </a:r>
            <a:br>
              <a:rPr lang="es-ES" sz="4400" kern="1400" dirty="0">
                <a:cs typeface="Times New Roman" panose="02020603050405020304" pitchFamily="18" charset="0"/>
              </a:rPr>
            </a:br>
            <a:r>
              <a:rPr lang="es-ES" sz="4400" kern="1400" dirty="0">
                <a:cs typeface="Times New Roman" panose="02020603050405020304" pitchFamily="18" charset="0"/>
              </a:rPr>
              <a:t>Bagging, Random Forest &amp; Boosting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María Noelia Romero</a:t>
            </a:r>
            <a:r>
              <a:rPr lang="en-US" sz="4000" dirty="0">
                <a:effectLst/>
              </a:rPr>
              <a:t> </a:t>
            </a:r>
            <a:endParaRPr lang="en-US" sz="4000" dirty="0"/>
          </a:p>
          <a:p>
            <a:r>
              <a:rPr lang="es-ES" sz="2800" dirty="0">
                <a:solidFill>
                  <a:srgbClr val="000000"/>
                </a:solidFill>
                <a:latin typeface="Gill Sans Nova Light" panose="020F0302020204030204" pitchFamily="34" charset="0"/>
                <a:cs typeface="Times New Roman" panose="02020603050405020304" pitchFamily="18" charset="0"/>
              </a:rPr>
              <a:t>Clase </a:t>
            </a:r>
            <a:r>
              <a:rPr lang="es-ES" sz="2800" dirty="0">
                <a:solidFill>
                  <a:srgbClr val="000000"/>
                </a:solidFill>
                <a:cs typeface="Times New Roman" panose="02020603050405020304" pitchFamily="18" charset="0"/>
              </a:rPr>
              <a:t>08 – Parte 2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65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E00F5-C7EE-2CC9-E9BA-CD7EB57AF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40" y="1138265"/>
            <a:ext cx="6756560" cy="859869"/>
          </a:xfrm>
        </p:spPr>
        <p:txBody>
          <a:bodyPr anchor="t">
            <a:normAutofit/>
          </a:bodyPr>
          <a:lstStyle/>
          <a:p>
            <a:r>
              <a:rPr lang="es-ES_tradnl" sz="4000" dirty="0"/>
              <a:t>En la clase de hoy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8327E-74B0-5F1D-D3E8-C9714B43F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40" y="1998134"/>
            <a:ext cx="6756560" cy="41559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_tradnl" dirty="0">
                <a:solidFill>
                  <a:srgbClr val="00B050"/>
                </a:solidFill>
              </a:rPr>
              <a:t>CART: Arboles de regresión y clasificación</a:t>
            </a:r>
          </a:p>
          <a:p>
            <a:pPr marL="0" indent="0">
              <a:buNone/>
            </a:pPr>
            <a:r>
              <a:rPr lang="es-ES_tradnl" dirty="0">
                <a:solidFill>
                  <a:srgbClr val="002060"/>
                </a:solidFill>
              </a:rPr>
              <a:t>Métodos basados en Arboles de Decisión</a:t>
            </a:r>
          </a:p>
          <a:p>
            <a:pPr marL="0" indent="0">
              <a:buNone/>
            </a:pPr>
            <a:r>
              <a:rPr lang="es-ES_tradnl" dirty="0"/>
              <a:t>0.  </a:t>
            </a:r>
            <a:r>
              <a:rPr lang="es-ES_tradnl" dirty="0" err="1"/>
              <a:t>Bootstrapping</a:t>
            </a:r>
            <a:endParaRPr lang="es-ES_tradnl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s-ES_tradnl" dirty="0"/>
              <a:t>Bagging ⭐︎ </a:t>
            </a:r>
          </a:p>
          <a:p>
            <a:pPr marL="514350" indent="-514350">
              <a:buAutoNum type="arabicPeriod"/>
            </a:pPr>
            <a:r>
              <a:rPr lang="es-ES_tradnl" dirty="0"/>
              <a:t>Random︎ Forest ⭐︎</a:t>
            </a:r>
          </a:p>
          <a:p>
            <a:pPr marL="514350" indent="-514350">
              <a:buAutoNum type="arabicPeriod"/>
            </a:pPr>
            <a:r>
              <a:rPr lang="es-ES_tradnl" dirty="0"/>
              <a:t>Boosting ⭐︎</a:t>
            </a:r>
          </a:p>
        </p:txBody>
      </p:sp>
      <p:pic>
        <p:nvPicPr>
          <p:cNvPr id="5" name="Graphic 1" descr="Brain in head outline">
            <a:extLst>
              <a:ext uri="{FF2B5EF4-FFF2-40B4-BE49-F238E27FC236}">
                <a16:creationId xmlns:a16="http://schemas.microsoft.com/office/drawing/2014/main" id="{161E704C-660A-51E5-F0B0-64F29A9312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7274182" y="1566745"/>
            <a:ext cx="4155978" cy="415597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393B2-27BD-5888-9D83-58D8D3F72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278C1CC4-2077-434E-BCF1-5D01C08A9B17}" type="slidenum">
              <a:rPr lang="en-US" sz="1800" smtClean="0"/>
              <a:pPr>
                <a:lnSpc>
                  <a:spcPct val="90000"/>
                </a:lnSpc>
                <a:spcAft>
                  <a:spcPts val="600"/>
                </a:spcAft>
              </a:pPr>
              <a:t>2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480264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Bootstrap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</a:t>
            </a:r>
            <a:r>
              <a:rPr lang="en-US" dirty="0"/>
              <a:t> </a:t>
            </a:r>
            <a:r>
              <a:rPr lang="en-US" b="1" dirty="0"/>
              <a:t>5.2</a:t>
            </a:r>
            <a:endParaRPr lang="en-US" b="1" i="1" dirty="0"/>
          </a:p>
          <a:p>
            <a:r>
              <a:rPr lang="en-US" dirty="0"/>
              <a:t>Hastie, T., Tibshirani, T. Y Freedman, J. (2013) </a:t>
            </a:r>
            <a:r>
              <a:rPr lang="en-US" i="1" dirty="0"/>
              <a:t>The Elements of Statistical Learning. </a:t>
            </a:r>
            <a:r>
              <a:rPr lang="en-US" b="1" dirty="0"/>
              <a:t>Chap 7.11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907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Ejemplo conocido: </a:t>
            </a:r>
            <a:r>
              <a:rPr lang="es-ES_tradnl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Media muestral y estimación de la Varianza</a:t>
            </a:r>
            <a:endParaRPr lang="es-ES_tradnl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  <a:r>
                  <a:rPr lang="es-ES_tradnl" dirty="0" err="1"/>
                  <a:t>iid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s-ES_tradnl" dirty="0"/>
                  <a:t> ambas finitas</a:t>
                </a:r>
              </a:p>
              <a:p>
                <a:r>
                  <a:rPr lang="es-ES_tradnl" dirty="0"/>
                  <a:t>Queremos estimar la varianza de la media muestral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s-ES_tradnl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s-ES_tradnl" dirty="0"/>
              </a:p>
              <a:p>
                <a:r>
                  <a:rPr lang="es-ES_tradnl" dirty="0"/>
                  <a:t>Formula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s-ES_tradnl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con:</a:t>
                </a:r>
              </a:p>
              <a:p>
                <a:endParaRPr lang="es-ES_tradnl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s-ES_tradnl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07" b="-5203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250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Bootstrap: Método alternativo “sin formula”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De los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 datos originales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_tradnl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_tradnl" i="1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_tradnl" dirty="0"/>
                  <a:t> tomar una muestra </a:t>
                </a:r>
                <a:r>
                  <a:rPr lang="es-ES_tradnl" dirty="0">
                    <a:solidFill>
                      <a:srgbClr val="FF0000"/>
                    </a:solidFill>
                  </a:rPr>
                  <a:t>con reposición</a:t>
                </a:r>
                <a:r>
                  <a:rPr lang="es-ES_tradnl" dirty="0"/>
                  <a:t> de tamaño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Computar la media muestral con esta </a:t>
                </a:r>
                <a:r>
                  <a:rPr lang="es-ES_tradnl" dirty="0">
                    <a:solidFill>
                      <a:srgbClr val="002060"/>
                    </a:solidFill>
                  </a:rPr>
                  <a:t>pseudo-muestra</a:t>
                </a:r>
                <a:endParaRPr lang="es-ES_tradnl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Repetir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veces. Al finalizar tendremos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estimaciones de media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Computar la varianza de 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medias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6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51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610E3-54E1-30D2-E66E-58BB9AE57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Ilustración de Bootstrap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9FAB8-61E4-9C79-60FC-ED9E5AB6F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6</a:t>
            </a:fld>
            <a:endParaRPr lang="en-US"/>
          </a:p>
        </p:txBody>
      </p:sp>
      <p:pic>
        <p:nvPicPr>
          <p:cNvPr id="10" name="Content Placeholder 9" descr="A diagram of a data flow&#10;&#10;Description automatically generated">
            <a:extLst>
              <a:ext uri="{FF2B5EF4-FFF2-40B4-BE49-F238E27FC236}">
                <a16:creationId xmlns:a16="http://schemas.microsoft.com/office/drawing/2014/main" id="{B78BB9C9-2CC5-CA0B-7E59-EAB81AA36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17277" y="1441985"/>
            <a:ext cx="5325604" cy="4790123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25DDCF-71C2-FF78-02AD-C68703304C17}"/>
              </a:ext>
            </a:extLst>
          </p:cNvPr>
          <p:cNvSpPr txBox="1"/>
          <p:nvPr/>
        </p:nvSpPr>
        <p:spPr>
          <a:xfrm>
            <a:off x="3117277" y="6233060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Hastie, Tibshirani</a:t>
            </a:r>
            <a:r>
              <a:rPr lang="en-US" sz="1600" dirty="0">
                <a:latin typeface="Gill Sans Nova Light" panose="020B0302020104020203" pitchFamily="34" charset="0"/>
              </a:rPr>
              <a:t> &amp; Taylor (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2023). p.</a:t>
            </a:r>
            <a:r>
              <a:rPr lang="en-US" sz="1600" dirty="0">
                <a:latin typeface="Gill Sans Nova Light" panose="020B0302020104020203" pitchFamily="34" charset="0"/>
              </a:rPr>
              <a:t>215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06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Bootstrap formalmente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s-ES_tradnl" b="0" dirty="0"/>
                  <a:t>Sea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y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dirty="0"/>
                  <a:t> es un parámetro de interés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Muestra de tamaño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con reemplazo de la muestra original (</a:t>
                </a:r>
                <a:r>
                  <a:rPr lang="es-ES_tradnl" dirty="0">
                    <a:solidFill>
                      <a:srgbClr val="00B050"/>
                    </a:solidFill>
                  </a:rPr>
                  <a:t>muestra</a:t>
                </a:r>
                <a:r>
                  <a:rPr lang="es-ES_tradnl" dirty="0"/>
                  <a:t> </a:t>
                </a:r>
                <a:r>
                  <a:rPr lang="es-ES_tradnl" dirty="0" err="1">
                    <a:solidFill>
                      <a:srgbClr val="00B050"/>
                    </a:solidFill>
                  </a:rPr>
                  <a:t>bootstrap</a:t>
                </a:r>
                <a:r>
                  <a:rPr lang="es-ES_tradnl" dirty="0"/>
                  <a:t>).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Computar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s-ES_tradnl" i="1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Repetir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veces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Computar</a:t>
                </a:r>
                <a:r>
                  <a:rPr lang="es-ES_tradnl" b="0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ES_tradnl" sz="26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p>
                            <m:sSup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60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600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t="-1163" b="-3604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65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Intuición de la utilidad de Bootstrap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¿Por qué hacer </a:t>
                </a:r>
                <a:r>
                  <a:rPr lang="es-ES_tradnl" dirty="0" err="1"/>
                  <a:t>bootstraping</a:t>
                </a:r>
                <a:r>
                  <a:rPr lang="es-ES_tradnl" dirty="0"/>
                  <a:t>?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En la mayoría de los casos </a:t>
                </a:r>
                <a:r>
                  <a:rPr lang="es-ES_tradnl" dirty="0">
                    <a:solidFill>
                      <a:srgbClr val="FF0000"/>
                    </a:solidFill>
                  </a:rPr>
                  <a:t>NO</a:t>
                </a:r>
                <a:r>
                  <a:rPr lang="es-ES_tradnl" dirty="0"/>
                  <a:t> hay fórmula para la varianza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Ejemplos </a:t>
                </a:r>
                <a:r>
                  <a:rPr lang="es-ES_tradnl" dirty="0">
                    <a:solidFill>
                      <a:srgbClr val="002060"/>
                    </a:solidFill>
                  </a:rPr>
                  <a:t>sin formula directa </a:t>
                </a:r>
                <a:r>
                  <a:rPr lang="es-ES_tradnl" dirty="0"/>
                  <a:t>de la varianza: </a:t>
                </a:r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Coeficiente de Gini, mediana, IPC, otros índices de desigualdad…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Intervalos de confianza</a:t>
                </a:r>
                <a:r>
                  <a:rPr lang="es-ES_tradnl" dirty="0"/>
                  <a:t>: percentiles empíricos de 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estimaciones </a:t>
                </a:r>
                <a:r>
                  <a:rPr lang="es-ES_tradnl" dirty="0" err="1"/>
                  <a:t>bootstrap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¿Regresión?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241" b="-3779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62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Regresiones: </a:t>
            </a:r>
            <a:r>
              <a:rPr lang="es-ES_tradnl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Errores Estándar “</a:t>
            </a:r>
            <a:r>
              <a:rPr lang="es-ES_tradnl" sz="40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Bootstrapeados</a:t>
            </a:r>
            <a:r>
              <a:rPr lang="es-ES_tradnl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”  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b="0" dirty="0"/>
                  <a:t>Modelo: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ES_tradnl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_tradnl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func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dirty="0"/>
                  <a:t> es una variable binaria. Recordar que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s-ES_tradnl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s-ES_tradnl" dirty="0"/>
                  <a:t>. Supongamos que realmente nos interesa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Podemos estimar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dirty="0"/>
                  <a:t> por MCO de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ES_tradnl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_tradnl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s-ES_tradnl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func>
                  </m:oMath>
                </a14:m>
                <a:r>
                  <a:rPr lang="es-ES_tradnl" dirty="0"/>
                  <a:t> en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dirty="0"/>
                  <a:t> y la varianza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s-ES_tradnl" dirty="0"/>
                  <a:t> varianza con </a:t>
                </a:r>
                <a:r>
                  <a:rPr lang="es-ES_tradnl" dirty="0" err="1"/>
                  <a:t>Bootstrapping</a:t>
                </a:r>
                <a:endParaRPr lang="es-ES_tradnl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Tomar una muestra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de tamaño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con reemplazo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Estimar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s-ES_tradnl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Computar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s-ES_tradnl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s-ES_tradnl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=1, …,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s-ES_tradnl" i="1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Computar la varianza muestral de los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 r="-48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92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Entendiendo por qué funciona Bootstrap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Muestra de Muestra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 grande: </a:t>
                </a:r>
                <a:r>
                  <a:rPr lang="es-ES_tradnl" dirty="0"/>
                  <a:t>es como si estuviésemos tomando una muestra de la población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Teorema fundamental de la estadística</a:t>
                </a:r>
                <a:r>
                  <a:rPr lang="es-ES_tradnl" dirty="0"/>
                  <a:t>: estamos reemplazando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s-ES_tradnl" dirty="0"/>
                  <a:t>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r="-108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B26E-8816-D907-4BE1-7B4081D58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338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Aplicaciones de Bootstrap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n-US" dirty="0"/>
              <a:t>*Sosa Escudero, W., &amp; Gasparini, L. (2000). A note on the statistical significance of changes in inequality. </a:t>
            </a:r>
            <a:r>
              <a:rPr lang="en-US" i="1" dirty="0" err="1"/>
              <a:t>Económica</a:t>
            </a:r>
            <a:r>
              <a:rPr lang="en-US" dirty="0"/>
              <a:t>, 46.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18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CB016-48C7-FFD8-3F64-B39C80D3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Intervalos de Confianza para el Coeficiente de Gini: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Sosa &amp; Gasparini (2000)</a:t>
            </a:r>
            <a:r>
              <a:rPr lang="es-ES_tradnl" dirty="0"/>
              <a:t> </a:t>
            </a:r>
          </a:p>
        </p:txBody>
      </p:sp>
      <p:pic>
        <p:nvPicPr>
          <p:cNvPr id="6" name="Content Placeholder 5" descr="A graph of the same type of numbers&#10;&#10;Description automatically generated with medium confidence">
            <a:extLst>
              <a:ext uri="{FF2B5EF4-FFF2-40B4-BE49-F238E27FC236}">
                <a16:creationId xmlns:a16="http://schemas.microsoft.com/office/drawing/2014/main" id="{133F149C-879E-3CDB-BEA0-136B00D488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9465" y="1861344"/>
            <a:ext cx="8508835" cy="486013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4D16B-790D-C942-A47F-2FCA9B96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76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Métodos basados en Árboles I: 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Bagging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sz="2400" b="1" dirty="0"/>
              <a:t>Chap. 8.2.1</a:t>
            </a:r>
          </a:p>
          <a:p>
            <a:r>
              <a:rPr lang="en-US" sz="2400" b="1" cap="small" dirty="0">
                <a:solidFill>
                  <a:srgbClr val="002060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*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Friedman, J., Hastie, T., &amp; Tibshirani, R. (2001). </a:t>
            </a:r>
            <a:r>
              <a:rPr lang="en-US" sz="240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The elements of statistical learning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(Vol. 1). </a:t>
            </a:r>
            <a:r>
              <a:rPr lang="en-US" sz="2400" b="1" dirty="0"/>
              <a:t>Chap 8.7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42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830C-DCB6-63EE-6D0C-5D9C2506D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Bagging: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Definición e Idea  </a:t>
            </a:r>
            <a:endParaRPr lang="es-ES_tradnl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4731C-992B-3E68-2655-E3702344C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Bagging: </a:t>
                </a:r>
                <a:r>
                  <a:rPr lang="es-ES_tradnl" dirty="0">
                    <a:solidFill>
                      <a:srgbClr val="002060"/>
                    </a:solidFill>
                  </a:rPr>
                  <a:t>Bootstrap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Aggregation</a:t>
                </a:r>
                <a:endParaRPr lang="es-ES_tradnl" dirty="0">
                  <a:solidFill>
                    <a:srgbClr val="002060"/>
                  </a:solidFill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Bootstrap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muestras de</a:t>
                </a:r>
                <a:r>
                  <a:rPr lang="es-ES_tradnl" dirty="0">
                    <a:solidFill>
                      <a:srgbClr val="002060"/>
                    </a:solidFill>
                  </a:rPr>
                  <a:t> entrenamiento</a:t>
                </a:r>
                <a:r>
                  <a:rPr lang="es-ES_tradnl" dirty="0"/>
                  <a:t>: tomar como predicción el promedio de las predicciones </a:t>
                </a:r>
                <a:r>
                  <a:rPr lang="es-ES_tradnl" dirty="0" err="1"/>
                  <a:t>bootstrap</a:t>
                </a:r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s-ES_tradnl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Aclaración: Se puede usar con árboles como con otro modelo visto en clase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dirty="0"/>
                  <a:t>: la varianza del promedio es </a:t>
                </a:r>
                <a:r>
                  <a:rPr lang="es-ES_tradnl" dirty="0">
                    <a:solidFill>
                      <a:srgbClr val="002060"/>
                    </a:solidFill>
                  </a:rPr>
                  <a:t>menor</a:t>
                </a:r>
                <a:r>
                  <a:rPr lang="es-ES_tradnl" dirty="0"/>
                  <a:t> que la de una predicción sola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4731C-992B-3E68-2655-E3702344C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163" b="-1279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9E9A5-45D0-3F8F-2E8C-0C45EFABA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18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4E13-2618-54C9-E094-9A21696F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Bagging: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Algoritmo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1ECBF8-F4B3-EF4E-46DC-E402877F74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Tomar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muestras de nuestra muestra de entrenamiento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Computar un árbol para cada muestra y hacer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predicciones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514350" indent="-514350">
                  <a:lnSpc>
                    <a:spcPct val="150000"/>
                  </a:lnSpc>
                  <a:buAutoNum type="arabicPeriod" startAt="3"/>
                </a:pPr>
                <a:r>
                  <a:rPr lang="es-ES_tradnl" dirty="0"/>
                  <a:t>Tomar el promedio de las predicciones: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s-ES_tradnl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1ECBF8-F4B3-EF4E-46DC-E402877F74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b="-4186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6A08C-CAD0-1E4B-9661-0EF52DD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100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Bagging: </a:t>
            </a:r>
            <a:r>
              <a:rPr lang="es-ES_tradnl" i="1">
                <a:solidFill>
                  <a:schemeClr val="tx1">
                    <a:lumMod val="50000"/>
                    <a:lumOff val="50000"/>
                  </a:schemeClr>
                </a:solidFill>
              </a:rPr>
              <a:t>Ilustracion</a:t>
            </a:r>
            <a:r>
              <a:rPr lang="es-ES_tradnl"/>
              <a:t> </a:t>
            </a:r>
          </a:p>
        </p:txBody>
      </p:sp>
      <p:pic>
        <p:nvPicPr>
          <p:cNvPr id="6" name="Content Placeholder 5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65D3D5CC-CFB5-A0AB-4300-15C0A6E9E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33304" y="1430864"/>
            <a:ext cx="4935942" cy="474609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64685-4D2D-1DD9-0488-D824E4C42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7E5E67-75A8-ACF2-7DD7-A216C6DD7CDF}"/>
              </a:ext>
            </a:extLst>
          </p:cNvPr>
          <p:cNvSpPr txBox="1"/>
          <p:nvPr/>
        </p:nvSpPr>
        <p:spPr>
          <a:xfrm>
            <a:off x="3957403" y="6123543"/>
            <a:ext cx="3994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dirty="0">
                <a:latin typeface="Gill Sans Nova Light" panose="020B0302020104020203" pitchFamily="34" charset="0"/>
              </a:rPr>
              <a:t>Fuente: </a:t>
            </a:r>
            <a:r>
              <a:rPr lang="es-ES_tradnl" dirty="0" err="1">
                <a:latin typeface="Gill Sans Nova Light" panose="020B0302020104020203" pitchFamily="34" charset="0"/>
              </a:rPr>
              <a:t>Kovacevic</a:t>
            </a:r>
            <a:r>
              <a:rPr lang="es-ES_tradnl" dirty="0">
                <a:latin typeface="Gill Sans Nova Light" panose="020B0302020104020203" pitchFamily="34" charset="0"/>
              </a:rPr>
              <a:t> et al (2021) </a:t>
            </a:r>
            <a:r>
              <a:rPr lang="es-ES_tradnl" dirty="0" err="1">
                <a:latin typeface="Gill Sans Nova Light" panose="020B0302020104020203" pitchFamily="34" charset="0"/>
              </a:rPr>
              <a:t>pag</a:t>
            </a:r>
            <a:r>
              <a:rPr lang="es-ES_tradnl" dirty="0">
                <a:latin typeface="Gill Sans Nova Light" panose="020B0302020104020203" pitchFamily="34" charset="0"/>
              </a:rPr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7227374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Implicancias del método de Bagging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64685-4D2D-1DD9-0488-D824E4C42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6B54A5A-A947-33D2-0198-4ABA71321E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Cada árbol de 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s-ES_tradnl" dirty="0"/>
                  <a:t>-</a:t>
                </a:r>
                <a:r>
                  <a:rPr lang="es-ES_tradnl" dirty="0" err="1"/>
                  <a:t>ésima</a:t>
                </a:r>
                <a:r>
                  <a:rPr lang="es-ES_tradnl" dirty="0"/>
                  <a:t> muestra es </a:t>
                </a:r>
                <a:r>
                  <a:rPr lang="es-ES_tradnl" dirty="0">
                    <a:solidFill>
                      <a:srgbClr val="002060"/>
                    </a:solidFill>
                  </a:rPr>
                  <a:t>profundo</a:t>
                </a:r>
                <a:r>
                  <a:rPr lang="es-ES_tradnl" dirty="0"/>
                  <a:t> (</a:t>
                </a:r>
                <a:r>
                  <a:rPr lang="es-ES_tradnl" dirty="0">
                    <a:solidFill>
                      <a:srgbClr val="002060"/>
                    </a:solidFill>
                  </a:rPr>
                  <a:t>Deep</a:t>
                </a:r>
                <a:r>
                  <a:rPr lang="es-ES_tradnl" dirty="0"/>
                  <a:t>, con muchos nodos terminales) y no se poda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Cada árbol tiene </a:t>
                </a:r>
                <a:r>
                  <a:rPr lang="es-ES_tradnl" dirty="0">
                    <a:solidFill>
                      <a:srgbClr val="FF0000"/>
                    </a:solidFill>
                  </a:rPr>
                  <a:t>alta</a:t>
                </a:r>
                <a:r>
                  <a:rPr lang="es-ES_tradnl" dirty="0"/>
                  <a:t> varianza y </a:t>
                </a:r>
                <a:r>
                  <a:rPr lang="es-ES_tradnl" dirty="0">
                    <a:solidFill>
                      <a:srgbClr val="00B050"/>
                    </a:solidFill>
                  </a:rPr>
                  <a:t>bajo</a:t>
                </a:r>
                <a:r>
                  <a:rPr lang="es-ES_tradnl" dirty="0"/>
                  <a:t> sesgo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Resultado</a:t>
                </a:r>
                <a:r>
                  <a:rPr lang="es-ES_tradnl" dirty="0"/>
                  <a:t>: </a:t>
                </a:r>
                <a:r>
                  <a:rPr lang="es-ES_tradnl" dirty="0">
                    <a:solidFill>
                      <a:srgbClr val="00B050"/>
                    </a:solidFill>
                  </a:rPr>
                  <a:t>Bajamos</a:t>
                </a:r>
                <a:r>
                  <a:rPr lang="es-ES_tradnl" dirty="0"/>
                  <a:t> la varianza de predicción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es-ES_tradnl" dirty="0"/>
                  <a:t> y aumentamos nuestro poder de predicción afuera de la muestra de entrenamiento</a:t>
                </a:r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6B54A5A-A947-33D2-0198-4ABA71321E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b="-261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81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Bagging: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Intuiciones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EC7B7-FFAA-1B1E-300A-35BAE8E1B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Clasificación</a:t>
            </a:r>
            <a:r>
              <a:rPr lang="es-ES_tradnl" dirty="0"/>
              <a:t>: usar voto por mayoría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La predicción es la categoría que más ocurre entre las B muestras</a:t>
            </a:r>
          </a:p>
          <a:p>
            <a:pPr>
              <a:lnSpc>
                <a:spcPct val="150000"/>
              </a:lnSpc>
            </a:pPr>
            <a:r>
              <a:rPr lang="es-ES_tradnl" dirty="0">
                <a:solidFill>
                  <a:srgbClr val="002060"/>
                </a:solidFill>
              </a:rPr>
              <a:t>En la práctica</a:t>
            </a:r>
            <a:r>
              <a:rPr lang="es-ES_tradnl" dirty="0"/>
              <a:t>: B ∼ 100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B050"/>
                </a:solidFill>
              </a:rPr>
              <a:t>Out-of-bag (OOB) prediction</a:t>
            </a:r>
            <a:r>
              <a:rPr lang="es-ES_tradnl" dirty="0"/>
              <a:t>: En vez de usar el error de CV, usar las observaciones que no entraron sorteadas al Bootstrap dentro de la muestra de entrenamiento. Luego tomar promedio.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93AEB-46B7-240A-8A97-C9F3BC82A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350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99865" cy="1325563"/>
          </a:xfrm>
        </p:spPr>
        <p:txBody>
          <a:bodyPr/>
          <a:lstStyle/>
          <a:p>
            <a:r>
              <a:rPr lang="es-ES_tradnl" dirty="0"/>
              <a:t>Bagging: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Ilustración del error de CV vs. OOB</a:t>
            </a:r>
          </a:p>
        </p:txBody>
      </p:sp>
      <p:pic>
        <p:nvPicPr>
          <p:cNvPr id="6" name="Content Placeholder 5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1AC0EE16-F4E8-6EAD-BADC-AF36EF3B6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74503" y="1622860"/>
            <a:ext cx="4828033" cy="45541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93AEB-46B7-240A-8A97-C9F3BC82A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D8664-2B36-C0D7-7E3D-85B4A6A1CD29}"/>
              </a:ext>
            </a:extLst>
          </p:cNvPr>
          <p:cNvSpPr txBox="1"/>
          <p:nvPr/>
        </p:nvSpPr>
        <p:spPr>
          <a:xfrm>
            <a:off x="3681983" y="6205466"/>
            <a:ext cx="48280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James, Witten, Hastie, Tibshirani</a:t>
            </a:r>
            <a:r>
              <a:rPr lang="en-US" sz="1600" dirty="0">
                <a:latin typeface="Gill Sans Nova Light" panose="020B0302020104020203" pitchFamily="34" charset="0"/>
              </a:rPr>
              <a:t> &amp; Taylor (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2023). p.344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F773084-DF2C-7535-8E96-C7D50C54E48F}"/>
              </a:ext>
            </a:extLst>
          </p:cNvPr>
          <p:cNvSpPr/>
          <p:nvPr/>
        </p:nvSpPr>
        <p:spPr>
          <a:xfrm>
            <a:off x="3890356" y="2394063"/>
            <a:ext cx="4512180" cy="7574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4B2F61-FA0F-13AB-CDBA-7C186A93DE20}"/>
              </a:ext>
            </a:extLst>
          </p:cNvPr>
          <p:cNvSpPr/>
          <p:nvPr/>
        </p:nvSpPr>
        <p:spPr>
          <a:xfrm>
            <a:off x="3997836" y="3291840"/>
            <a:ext cx="4512180" cy="7574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8622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Bagging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Consideraciones finales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Arboles</a:t>
                </a:r>
                <a:r>
                  <a:rPr lang="es-ES_tradnl" dirty="0"/>
                  <a:t>: Variable más importante -&gt; 1er Split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 err="1">
                    <a:solidFill>
                      <a:srgbClr val="002060"/>
                    </a:solidFill>
                  </a:rPr>
                  <a:t>Bagging</a:t>
                </a:r>
                <a:r>
                  <a:rPr lang="es-ES_tradnl" dirty="0"/>
                  <a:t>: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Usar  RSS (Regresión) o Gini </a:t>
                </a:r>
                <a:r>
                  <a:rPr lang="es-ES_tradnl" dirty="0" err="1"/>
                  <a:t>index</a:t>
                </a:r>
                <a:r>
                  <a:rPr lang="es-ES_tradnl" dirty="0"/>
                  <a:t> (Clasificación)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Cuánto </a:t>
                </a:r>
                <a:r>
                  <a:rPr lang="es-ES_tradnl" dirty="0">
                    <a:solidFill>
                      <a:srgbClr val="00B050"/>
                    </a:solidFill>
                  </a:rPr>
                  <a:t>disminuye</a:t>
                </a:r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B050"/>
                    </a:solidFill>
                  </a:rPr>
                  <a:t>RSS</a:t>
                </a:r>
                <a:r>
                  <a:rPr lang="es-ES_tradnl" dirty="0"/>
                  <a:t>, con la partición de un predictor en los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árboles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Valores altos indican la importancia del predictor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56" t="-116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a number of red bars&#10;&#10;Description automatically generated with medium confidence">
            <a:extLst>
              <a:ext uri="{FF2B5EF4-FFF2-40B4-BE49-F238E27FC236}">
                <a16:creationId xmlns:a16="http://schemas.microsoft.com/office/drawing/2014/main" id="{FAAF21E0-C3A8-D575-3F31-9483CDED10F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49493" y="1528997"/>
            <a:ext cx="4728800" cy="46479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93AEB-46B7-240A-8A97-C9F3BC82A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17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9375-7BA2-40C0-03E9-5169D745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Bagging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Consideraciones finales II</a:t>
            </a:r>
            <a:endParaRPr lang="es-ES_trad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041110-4D4E-1D9A-5A54-CDFA65F98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Una muestra -&gt; Un árbol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Problema</a:t>
                </a:r>
                <a:r>
                  <a:rPr lang="es-ES_tradnl" dirty="0"/>
                  <a:t>: </a:t>
                </a:r>
                <a:r>
                  <a:rPr lang="es-ES_tradnl" dirty="0" err="1"/>
                  <a:t>overfit</a:t>
                </a:r>
                <a:r>
                  <a:rPr lang="es-ES_tradnl" dirty="0"/>
                  <a:t> en cada submuestra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Un predictor importa mucho -&gt; siempre estará 1ro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Problema</a:t>
                </a:r>
                <a:r>
                  <a:rPr lang="es-ES_tradnl" dirty="0"/>
                  <a:t>: todos los árboles serán muy </a:t>
                </a:r>
                <a:r>
                  <a:rPr lang="es-ES_tradnl" dirty="0">
                    <a:solidFill>
                      <a:srgbClr val="002060"/>
                    </a:solidFill>
                  </a:rPr>
                  <a:t>parecidos</a:t>
                </a:r>
                <a:r>
                  <a:rPr lang="es-ES_tradnl" dirty="0"/>
                  <a:t>, los árboles están </a:t>
                </a:r>
                <a:r>
                  <a:rPr lang="es-ES_tradnl" dirty="0">
                    <a:solidFill>
                      <a:srgbClr val="002060"/>
                    </a:solidFill>
                  </a:rPr>
                  <a:t>correlacionados</a:t>
                </a:r>
              </a:p>
              <a:p>
                <a:pPr lvl="2">
                  <a:lnSpc>
                    <a:spcPct val="150000"/>
                  </a:lnSpc>
                </a:pPr>
                <a:r>
                  <a:rPr lang="es-ES_tradnl" b="1" dirty="0" err="1">
                    <a:solidFill>
                      <a:srgbClr val="00B050"/>
                    </a:solidFill>
                  </a:rPr>
                  <a:t>Solucion</a:t>
                </a:r>
                <a:r>
                  <a:rPr lang="es-ES_tradnl" dirty="0"/>
                  <a:t>: </a:t>
                </a:r>
                <a:r>
                  <a:rPr lang="es-ES_tradnl" dirty="0" err="1"/>
                  <a:t>Random</a:t>
                </a:r>
                <a:r>
                  <a:rPr lang="es-ES_tradnl" dirty="0"/>
                  <a:t> Forest (clase que viene)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041110-4D4E-1D9A-5A54-CDFA65F98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b="-17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56A5A-59C7-A321-AF97-B6D758C27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740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Métodos basados en Árboles II: </a:t>
            </a:r>
            <a:r>
              <a:rPr lang="es-ES_tradnl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Boosting</a:t>
            </a:r>
            <a:endParaRPr lang="es-ES_tradnl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sz="2400" b="1" dirty="0"/>
              <a:t>Chap. 8.2.3</a:t>
            </a:r>
          </a:p>
          <a:p>
            <a:r>
              <a:rPr lang="en-US" sz="2400" b="1" cap="small" dirty="0">
                <a:solidFill>
                  <a:srgbClr val="002060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*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Friedman, J., Hastie, T., &amp; Tibshirani, R. (2001). </a:t>
            </a:r>
            <a:r>
              <a:rPr lang="en-US" sz="240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The elements of statistical learning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(Vol. 1). </a:t>
            </a:r>
            <a:r>
              <a:rPr lang="en-US" sz="2400" b="1" dirty="0"/>
              <a:t>Chap 10.2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7645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Boosting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Idea</a:t>
            </a:r>
            <a:endParaRPr lang="es-ES_tradnl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Similar a </a:t>
                </a:r>
                <a:r>
                  <a:rPr lang="es-ES_tradnl" dirty="0" err="1"/>
                  <a:t>Bagging</a:t>
                </a:r>
                <a:r>
                  <a:rPr lang="es-ES_tradnl" dirty="0"/>
                  <a:t>: usar muchas muestras, crear árboles, promediarlos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 err="1">
                    <a:solidFill>
                      <a:srgbClr val="002060"/>
                    </a:solidFill>
                  </a:rPr>
                  <a:t>Bagging</a:t>
                </a:r>
                <a:r>
                  <a:rPr lang="es-ES_tradnl" i="1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muestras </a:t>
                </a:r>
                <a:r>
                  <a:rPr lang="es-ES_tradnl" dirty="0">
                    <a:solidFill>
                      <a:srgbClr val="002060"/>
                    </a:solidFill>
                  </a:rPr>
                  <a:t>independientes-</a:t>
                </a:r>
                <a:r>
                  <a:rPr lang="es-ES_tradnl" dirty="0"/>
                  <a:t>&gt;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árboles </a:t>
                </a:r>
                <a:r>
                  <a:rPr lang="es-ES_tradnl" dirty="0">
                    <a:solidFill>
                      <a:srgbClr val="002060"/>
                    </a:solidFill>
                  </a:rPr>
                  <a:t>independientes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Diferencia con </a:t>
                </a:r>
                <a:r>
                  <a:rPr lang="es-ES_tradnl" dirty="0" err="1">
                    <a:solidFill>
                      <a:srgbClr val="FF0000"/>
                    </a:solidFill>
                  </a:rPr>
                  <a:t>Bagging</a:t>
                </a:r>
                <a:r>
                  <a:rPr lang="es-ES_tradnl" dirty="0"/>
                  <a:t>: los árboles crecen </a:t>
                </a:r>
                <a:r>
                  <a:rPr lang="es-ES_tradnl" dirty="0">
                    <a:solidFill>
                      <a:srgbClr val="002060"/>
                    </a:solidFill>
                  </a:rPr>
                  <a:t>secuencialmente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No hay muestras </a:t>
                </a:r>
                <a:r>
                  <a:rPr lang="es-ES_tradnl" dirty="0" err="1"/>
                  <a:t>bootstrapeadas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i="1" dirty="0"/>
                  <a:t>:</a:t>
                </a:r>
                <a:r>
                  <a:rPr lang="es-ES_tradnl" dirty="0"/>
                  <a:t> Cada árbol se ajusta basado en una versión modificada de los datos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Computamos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arboles secuenciales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En cada paso el método da más importancia relativa a las observaciones </a:t>
                </a:r>
                <a:r>
                  <a:rPr lang="es-ES_tradnl" dirty="0">
                    <a:solidFill>
                      <a:srgbClr val="002060"/>
                    </a:solidFill>
                  </a:rPr>
                  <a:t>mal predichas</a:t>
                </a:r>
                <a:r>
                  <a:rPr lang="es-ES_tradnl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Paso final</a:t>
                </a:r>
                <a:r>
                  <a:rPr lang="es-ES_tradnl" dirty="0"/>
                  <a:t>: promedio ponderado de predicciones en cada paso.</a:t>
                </a:r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93AEB-46B7-240A-8A97-C9F3BC82A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27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0EB20-DE52-5EA3-A697-785D4423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Boosting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Ilustración  del aprendizaje</a:t>
            </a: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EEFD6-4656-AADE-CD94-2C52E01BE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24</a:t>
            </a:fld>
            <a:endParaRPr lang="en-US"/>
          </a:p>
        </p:txBody>
      </p:sp>
      <p:pic>
        <p:nvPicPr>
          <p:cNvPr id="8" name="Content Placeholder 7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FB058FFF-DDA7-8AD8-6FD6-1810A2F92A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r="66403" b="54598"/>
          <a:stretch/>
        </p:blipFill>
        <p:spPr>
          <a:xfrm>
            <a:off x="3072181" y="2179784"/>
            <a:ext cx="2031834" cy="190353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7CB90E-AF96-582A-F374-AF9498C54AEA}"/>
              </a:ext>
            </a:extLst>
          </p:cNvPr>
          <p:cNvSpPr txBox="1"/>
          <p:nvPr/>
        </p:nvSpPr>
        <p:spPr>
          <a:xfrm>
            <a:off x="3340513" y="1587063"/>
            <a:ext cx="566024" cy="523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s-ES_tradnl" sz="2800" dirty="0">
                <a:solidFill>
                  <a:srgbClr val="FF0000"/>
                </a:solidFill>
                <a:latin typeface="Gill Sans Nova Light" panose="020B0302020104020203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36884-F08D-F088-80A0-97993F9701C9}"/>
              </a:ext>
            </a:extLst>
          </p:cNvPr>
          <p:cNvSpPr txBox="1"/>
          <p:nvPr/>
        </p:nvSpPr>
        <p:spPr>
          <a:xfrm>
            <a:off x="5306917" y="1587063"/>
            <a:ext cx="566024" cy="523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s-ES_tradnl" sz="2800" dirty="0">
                <a:solidFill>
                  <a:srgbClr val="FF0000"/>
                </a:solidFill>
                <a:latin typeface="Gill Sans Nova Light" panose="020B0302020104020203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E4CCCC-B0A1-2622-D970-F17CDFDE7A2E}"/>
              </a:ext>
            </a:extLst>
          </p:cNvPr>
          <p:cNvSpPr txBox="1"/>
          <p:nvPr/>
        </p:nvSpPr>
        <p:spPr>
          <a:xfrm>
            <a:off x="7273321" y="1598717"/>
            <a:ext cx="566024" cy="523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s-ES_tradnl" sz="2800" dirty="0">
                <a:solidFill>
                  <a:srgbClr val="FF0000"/>
                </a:solidFill>
                <a:latin typeface="Gill Sans Nova Light" panose="020B0302020104020203" pitchFamily="34" charset="0"/>
              </a:rPr>
              <a:t>3</a:t>
            </a:r>
          </a:p>
        </p:txBody>
      </p:sp>
      <p:pic>
        <p:nvPicPr>
          <p:cNvPr id="7" name="Content Placeholder 7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BE2E50F3-DE58-DD1A-5F60-A6722E2B09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567" t="1385" r="33735" b="53212"/>
          <a:stretch/>
        </p:blipFill>
        <p:spPr>
          <a:xfrm>
            <a:off x="5169417" y="2249527"/>
            <a:ext cx="1856508" cy="1903530"/>
          </a:xfrm>
          <a:prstGeom prst="rect">
            <a:avLst/>
          </a:prstGeom>
        </p:spPr>
      </p:pic>
      <p:pic>
        <p:nvPicPr>
          <p:cNvPr id="9" name="Content Placeholder 7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1D16505C-C0BE-B15D-F961-83F6A58B3B2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7754" r="2171" b="54598"/>
          <a:stretch/>
        </p:blipFill>
        <p:spPr>
          <a:xfrm>
            <a:off x="7087987" y="2179783"/>
            <a:ext cx="1818825" cy="1903530"/>
          </a:xfrm>
          <a:prstGeom prst="rect">
            <a:avLst/>
          </a:prstGeom>
        </p:spPr>
      </p:pic>
      <p:pic>
        <p:nvPicPr>
          <p:cNvPr id="10" name="Content Placeholder 7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C050EFFB-AD38-9FA1-15AB-42E713CA44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973"/>
          <a:stretch/>
        </p:blipFill>
        <p:spPr>
          <a:xfrm>
            <a:off x="3072181" y="4225181"/>
            <a:ext cx="6047638" cy="2223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72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FA89-B89E-1FA8-F35A-25ABDA33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Boosting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Algoritmo 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6028"/>
                <a:ext cx="10515600" cy="4730935"/>
              </a:xfrm>
            </p:spPr>
            <p:txBody>
              <a:bodyPr>
                <a:normAutofit fontScale="62500" lnSpcReduction="20000"/>
              </a:bodyPr>
              <a:lstStyle/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Arbol inicial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s-ES_tradnl" dirty="0"/>
                  <a:t> 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 (residuos iguales a las observaciones) para toda observación en la muestra de entrenamiento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Para cada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repetir:</a:t>
                </a:r>
              </a:p>
              <a:p>
                <a:pPr marL="698500" lvl="1" indent="-241300">
                  <a:lnSpc>
                    <a:spcPct val="120000"/>
                  </a:lnSpc>
                  <a:buFont typeface="+mj-lt"/>
                  <a:buAutoNum type="alphaLcPeriod"/>
                </a:pPr>
                <a:r>
                  <a:rPr lang="es-ES_tradnl" dirty="0"/>
                  <a:t>Computar el árbol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s-ES_tradnl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s-ES_tradnl" dirty="0"/>
                  <a:t> con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s-ES_tradnl" dirty="0"/>
                  <a:t> particiones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s-ES_tradnl" dirty="0"/>
                  <a:t> nodos terminales) en la muestra de entrenamiento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s-ES_tradnl" dirty="0"/>
              </a:p>
              <a:p>
                <a:pPr marL="698500" lvl="1" indent="-241300">
                  <a:lnSpc>
                    <a:spcPct val="120000"/>
                  </a:lnSpc>
                  <a:buFont typeface="+mj-lt"/>
                  <a:buAutoNum type="alphaLcPeriod"/>
                </a:pPr>
                <a:r>
                  <a:rPr lang="es-ES_tradnl" dirty="0"/>
                  <a:t>Actualizar la </a:t>
                </a:r>
                <a:r>
                  <a:rPr lang="es-ES_tradnl" dirty="0" err="1"/>
                  <a:t>prediccion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es-ES_tradnl" dirty="0"/>
                  <a:t> sumándole la versión reducida del nuevo árbol  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acc>
                        <m:accPr>
                          <m:chr m:val="̂"/>
                          <m:ctrlPr>
                            <a:rPr lang="es-ES_tradnl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s-ES_tradn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457200" lvl="1" indent="0">
                  <a:lnSpc>
                    <a:spcPct val="120000"/>
                  </a:lnSpc>
                  <a:buNone/>
                </a:pPr>
                <a:r>
                  <a:rPr lang="es-ES_tradnl" dirty="0"/>
                  <a:t>c. Actualizar los residuos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s-ES_tradn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Predicción del modelo </a:t>
                </a:r>
                <a:r>
                  <a:rPr lang="es-ES_tradnl" dirty="0" err="1"/>
                  <a:t>boosted</a:t>
                </a:r>
                <a:r>
                  <a:rPr lang="es-ES_tradnl" dirty="0"/>
                  <a:t>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s-ES_tradnl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C5587-F063-C4C4-4C73-8E10A0726D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6028"/>
                <a:ext cx="10515600" cy="4730935"/>
              </a:xfrm>
              <a:blipFill>
                <a:blip r:embed="rId2"/>
                <a:stretch>
                  <a:fillRect l="-724" t="-802" r="-241" b="-1978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64685-4D2D-1DD9-0488-D824E4C42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7262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dirty="0" err="1"/>
              <a:t>Boosting</a:t>
            </a:r>
            <a:r>
              <a:rPr lang="es-ES_tradnl" dirty="0"/>
              <a:t>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Parámetros claves en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Boosting</a:t>
            </a:r>
            <a:endParaRPr lang="es-ES_tradnl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Numero de árboles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Si es muy grande -&gt; </a:t>
                </a:r>
                <a:r>
                  <a:rPr lang="es-ES_tradnl" dirty="0" err="1"/>
                  <a:t>overfit</a:t>
                </a: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Elegimos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usando </a:t>
                </a:r>
                <a:r>
                  <a:rPr lang="es-ES_tradnl" dirty="0" err="1"/>
                  <a:t>cross-validation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Penalización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s-ES_tradnl" dirty="0"/>
                  <a:t>: número positivo pequeño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Controla la tasa a la que aprende </a:t>
                </a:r>
                <a:r>
                  <a:rPr lang="es-ES_tradnl" dirty="0" err="1"/>
                  <a:t>boosting</a:t>
                </a: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Valores típicos entre 0.01 y 0.001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Numero de particiones en cada árbol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:</a:t>
                </a:r>
                <a:r>
                  <a:rPr lang="es-ES_tradnl" dirty="0"/>
                  <a:t> controla la complejidad de </a:t>
                </a:r>
                <a:r>
                  <a:rPr lang="es-ES_tradnl" dirty="0" err="1"/>
                  <a:t>boosting</a:t>
                </a: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s-ES_tradnl" dirty="0"/>
                  <a:t> funciona bien -&gt; dos brazos (</a:t>
                </a:r>
                <a:r>
                  <a:rPr lang="es-ES_tradnl" i="1" dirty="0" err="1"/>
                  <a:t>stump</a:t>
                </a:r>
                <a:r>
                  <a:rPr lang="es-ES_tradnl" dirty="0"/>
                  <a:t>) -&gt;</a:t>
                </a:r>
                <a:r>
                  <a:rPr lang="es-ES_tradnl" i="1" dirty="0"/>
                  <a:t> </a:t>
                </a:r>
                <a:r>
                  <a:rPr lang="es-ES_tradnl" i="1" dirty="0" err="1"/>
                  <a:t>Additive</a:t>
                </a:r>
                <a:r>
                  <a:rPr lang="es-ES_tradnl" i="1" dirty="0"/>
                  <a:t> </a:t>
                </a:r>
                <a:r>
                  <a:rPr lang="es-ES_tradnl" i="1" dirty="0" err="1"/>
                  <a:t>Model</a:t>
                </a:r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endParaRPr lang="es-ES_tradnl" i="1" dirty="0"/>
              </a:p>
              <a:p>
                <a:pPr lvl="2">
                  <a:lnSpc>
                    <a:spcPct val="150000"/>
                  </a:lnSpc>
                </a:pP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b="-145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93AEB-46B7-240A-8A97-C9F3BC82A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887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Métodos basados en Árboles III: 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Forest</a:t>
            </a:r>
            <a:endParaRPr lang="es-ES_trad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sz="2400" b="1" dirty="0"/>
              <a:t>Chap. 8.2.2</a:t>
            </a:r>
          </a:p>
          <a:p>
            <a:r>
              <a:rPr lang="en-US" sz="2400" b="1" cap="small" dirty="0">
                <a:solidFill>
                  <a:srgbClr val="002060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*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Friedman, J., Hastie, T., &amp; Tibshirani, R. (2001). </a:t>
            </a:r>
            <a:r>
              <a:rPr lang="en-US" sz="240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The elements of statistical learning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  <a:ea typeface="Gill Sans" panose="020B0502020104020203" pitchFamily="34" charset="-79"/>
                <a:cs typeface="Gill Sans" panose="020B0502020104020203" pitchFamily="34" charset="-79"/>
              </a:rPr>
              <a:t>(Vol. 1). </a:t>
            </a:r>
            <a:r>
              <a:rPr lang="en-US" sz="2400" b="1" dirty="0"/>
              <a:t>Chap 15</a:t>
            </a:r>
          </a:p>
          <a:p>
            <a:r>
              <a:rPr lang="en-US" dirty="0" err="1"/>
              <a:t>Efron</a:t>
            </a:r>
            <a:r>
              <a:rPr lang="en-US" dirty="0"/>
              <a:t>, B., &amp; Hastie, T. (2016). </a:t>
            </a:r>
            <a:r>
              <a:rPr lang="en-US" i="1" dirty="0"/>
              <a:t>Computer age statistical inference.</a:t>
            </a:r>
            <a:r>
              <a:rPr lang="en-US" b="1" dirty="0"/>
              <a:t> Chap. 15</a:t>
            </a: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84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 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Motivación intuitiva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Problema de Bagging</a:t>
                </a:r>
                <a:r>
                  <a:rPr lang="es-ES_tradnl" dirty="0"/>
                  <a:t>: con 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muestras </a:t>
                </a:r>
                <a:r>
                  <a:rPr lang="es-ES_tradnl" dirty="0" err="1"/>
                  <a:t>bootstrapeadas</a:t>
                </a:r>
                <a:r>
                  <a:rPr lang="es-ES_tradnl" dirty="0"/>
                  <a:t> puede pasar que los </a:t>
                </a:r>
                <a:r>
                  <a:rPr lang="es-ES_tradnl" dirty="0">
                    <a:solidFill>
                      <a:srgbClr val="002060"/>
                    </a:solidFill>
                  </a:rPr>
                  <a:t>árboles correlacionados 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Si hay una </a:t>
                </a:r>
                <a:r>
                  <a:rPr lang="es-ES_tradnl" dirty="0">
                    <a:solidFill>
                      <a:srgbClr val="002060"/>
                    </a:solidFill>
                  </a:rPr>
                  <a:t>variable importante</a:t>
                </a:r>
                <a:r>
                  <a:rPr lang="es-ES_tradnl" dirty="0"/>
                  <a:t>, siempre esta </a:t>
                </a:r>
                <a:r>
                  <a:rPr lang="es-ES_tradnl" dirty="0">
                    <a:solidFill>
                      <a:srgbClr val="00B050"/>
                    </a:solidFill>
                  </a:rPr>
                  <a:t>primero</a:t>
                </a:r>
                <a:r>
                  <a:rPr lang="es-ES_tradnl" dirty="0"/>
                  <a:t>. Entonces, todos los árboles serán muy similares.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Solución de Random Forest</a:t>
                </a:r>
                <a:r>
                  <a:rPr lang="es-ES_tradnl" dirty="0"/>
                  <a:t>: Bajar la correlación entre los árboles de muestras </a:t>
                </a:r>
                <a:r>
                  <a:rPr lang="es-ES_tradnl" dirty="0" err="1"/>
                  <a:t>bootstrapeadas</a:t>
                </a:r>
                <a:endParaRPr lang="es-ES_tradnl" dirty="0"/>
              </a:p>
              <a:p>
                <a:pPr marL="457200" lvl="1" indent="0">
                  <a:lnSpc>
                    <a:spcPct val="150000"/>
                  </a:lnSpc>
                  <a:buNone/>
                </a:pPr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r="-229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2FF52-2078-33AA-2581-B2D48204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4839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 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Motivación formal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 de Método Ensamble: </a:t>
                </a:r>
                <a:endParaRPr lang="en-US" dirty="0">
                  <a:solidFill>
                    <a:srgbClr val="002060"/>
                  </a:solidFill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Un promedio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2060"/>
                    </a:solidFill>
                  </a:rPr>
                  <a:t>i.i.d</a:t>
                </a:r>
                <a:r>
                  <a:rPr lang="es-ES_tradnl" dirty="0"/>
                  <a:t> variables aleatorias con varianza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s-ES_tradnl" dirty="0"/>
                  <a:t>, tiene </a:t>
                </a:r>
                <a:r>
                  <a:rPr lang="es-ES_tradnl" dirty="0">
                    <a:solidFill>
                      <a:srgbClr val="002060"/>
                    </a:solidFill>
                  </a:rPr>
                  <a:t>varianza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sSup>
                      <m:sSup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Un promedio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i.d</a:t>
                </a:r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FF0000"/>
                    </a:solidFill>
                  </a:rPr>
                  <a:t>(no independientes) </a:t>
                </a:r>
                <a:r>
                  <a:rPr lang="es-ES_tradnl" dirty="0"/>
                  <a:t>variables aleatorias con varianza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s-ES_tradnl" dirty="0"/>
                  <a:t> y correlación positiva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s-ES_tradnl" dirty="0"/>
                  <a:t> , tiene </a:t>
                </a:r>
                <a:r>
                  <a:rPr lang="es-ES_tradnl" dirty="0">
                    <a:solidFill>
                      <a:srgbClr val="002060"/>
                    </a:solidFill>
                  </a:rPr>
                  <a:t>varianza del promedio</a:t>
                </a:r>
                <a:r>
                  <a:rPr lang="es-ES_tradnl" dirty="0"/>
                  <a:t>: 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s-ES_tradnl" dirty="0"/>
              </a:p>
              <a:p>
                <a:pPr lvl="2">
                  <a:lnSpc>
                    <a:spcPct val="120000"/>
                  </a:lnSpc>
                </a:pPr>
                <a:r>
                  <a:rPr lang="es-ES_tradnl" dirty="0"/>
                  <a:t>Si aumenta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, 2do termino </a:t>
                </a:r>
                <a:r>
                  <a:rPr lang="es-ES_tradnl" dirty="0">
                    <a:solidFill>
                      <a:srgbClr val="00B050"/>
                    </a:solidFill>
                  </a:rPr>
                  <a:t>decrece</a:t>
                </a:r>
                <a:r>
                  <a:rPr lang="es-ES_tradnl" dirty="0"/>
                  <a:t>. 1er termino </a:t>
                </a:r>
                <a:r>
                  <a:rPr lang="es-ES_tradnl" dirty="0">
                    <a:solidFill>
                      <a:srgbClr val="FF0000"/>
                    </a:solidFill>
                  </a:rPr>
                  <a:t>no cambia </a:t>
                </a:r>
                <a:r>
                  <a:rPr lang="es-ES_tradnl" dirty="0"/>
                  <a:t>y depende de la </a:t>
                </a:r>
                <a:r>
                  <a:rPr lang="es-ES_tradnl" dirty="0">
                    <a:solidFill>
                      <a:srgbClr val="002060"/>
                    </a:solidFill>
                  </a:rPr>
                  <a:t>correlación</a:t>
                </a:r>
                <a:r>
                  <a:rPr lang="es-ES_tradnl" dirty="0"/>
                  <a:t> 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dirty="0"/>
                  <a:t>: Bajar la varianza </a:t>
                </a:r>
                <a:r>
                  <a:rPr lang="es-ES_tradnl" dirty="0">
                    <a:solidFill>
                      <a:srgbClr val="00B050"/>
                    </a:solidFill>
                  </a:rPr>
                  <a:t>bajando</a:t>
                </a:r>
                <a:r>
                  <a:rPr lang="es-ES_tradnl" dirty="0"/>
                  <a:t> la </a:t>
                </a:r>
                <a:r>
                  <a:rPr lang="es-ES_tradnl" dirty="0">
                    <a:solidFill>
                      <a:srgbClr val="002060"/>
                    </a:solidFill>
                  </a:rPr>
                  <a:t>correlación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 entre los árboles </a:t>
                </a:r>
                <a:r>
                  <a:rPr lang="es-ES_tradnl" dirty="0"/>
                  <a:t>Bootstrap (típicamente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lang="es-ES_tradnl" dirty="0"/>
                  <a:t> entre arboles)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¿Cómo?</a:t>
                </a:r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2060"/>
                    </a:solidFill>
                  </a:rPr>
                  <a:t>Aleatorizando los predictores</a:t>
                </a:r>
                <a:r>
                  <a:rPr lang="es-ES_tradnl" dirty="0"/>
                  <a:t> cuando se arma el árbol</a:t>
                </a:r>
              </a:p>
              <a:p>
                <a:pPr>
                  <a:lnSpc>
                    <a:spcPct val="120000"/>
                  </a:lnSpc>
                </a:pPr>
                <a:endParaRPr lang="es-ES_tradnl" dirty="0"/>
              </a:p>
              <a:p>
                <a:pPr lvl="2">
                  <a:lnSpc>
                    <a:spcPct val="120000"/>
                  </a:lnSpc>
                </a:pPr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1163" b="-87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2FF52-2078-33AA-2581-B2D48204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4490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FAFFF-A5E0-379E-A89A-3C5380DD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Ranfom</a:t>
            </a:r>
            <a:r>
              <a:rPr lang="en-US" dirty="0"/>
              <a:t> Forest: 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Algoritmo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ED458B-5738-971A-C0AE-458B8B28CC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/>
                  <a:t>Para </a:t>
                </a:r>
                <a:r>
                  <a:rPr lang="en-US" b="0" dirty="0" err="1"/>
                  <a:t>cada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b="0" dirty="0"/>
                  <a:t>  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Toma una muestra </a:t>
                </a:r>
                <a:r>
                  <a:rPr lang="es-ES_tradnl" dirty="0" err="1"/>
                  <a:t>bootstrap</a:t>
                </a:r>
                <a:r>
                  <a:rPr lang="es-ES_tradnl" dirty="0"/>
                  <a:t> de tamaño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s-ES_tradnl" dirty="0"/>
                  <a:t> de los datos de entrenamiento 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Para cada una de esas muestras armar un </a:t>
                </a:r>
                <a:r>
                  <a:rPr lang="es-ES_tradnl" i="1" dirty="0" err="1"/>
                  <a:t>random</a:t>
                </a:r>
                <a:r>
                  <a:rPr lang="es-ES_tradnl" i="1" dirty="0"/>
                  <a:t> </a:t>
                </a:r>
                <a:r>
                  <a:rPr lang="es-ES_tradnl" i="1" dirty="0" err="1"/>
                  <a:t>forest</a:t>
                </a:r>
                <a:r>
                  <a:rPr lang="es-ES_tradnl" i="1" dirty="0"/>
                  <a:t> </a:t>
                </a:r>
                <a:r>
                  <a:rPr lang="es-ES_tradnl" i="1" dirty="0" err="1"/>
                  <a:t>tree</a:t>
                </a:r>
                <a:r>
                  <a:rPr lang="es-ES_tradnl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s-ES_tradnl" dirty="0"/>
                  <a:t> aplicando recursivamente: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lphaLcPeriod"/>
                </a:pPr>
                <a:r>
                  <a:rPr lang="es-ES_tradnl" dirty="0">
                    <a:solidFill>
                      <a:srgbClr val="002060"/>
                    </a:solidFill>
                  </a:rPr>
                  <a:t>Seleccionar aleatoriamente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 variables </a:t>
                </a:r>
                <a:r>
                  <a:rPr lang="es-ES_tradnl" dirty="0"/>
                  <a:t>de los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s-ES_tradnl" dirty="0"/>
                  <a:t> predictores posibles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lphaLcPeriod"/>
                </a:pPr>
                <a:r>
                  <a:rPr lang="es-ES_tradnl" dirty="0"/>
                  <a:t>Tomar la mejor variable y el mejor punto de partición dentro de los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predictores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lphaLcPeriod"/>
                </a:pPr>
                <a:r>
                  <a:rPr lang="es-ES_tradnl" dirty="0"/>
                  <a:t>Dividir el nodo en dos nuevos nodos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Con el conjunto de árboles resultante calcular la predicción:</a:t>
                </a:r>
              </a:p>
              <a:p>
                <a:pPr lvl="1">
                  <a:lnSpc>
                    <a:spcPct val="120000"/>
                  </a:lnSpc>
                  <a:buFont typeface="Courier New" panose="02070309020205020404" pitchFamily="49" charset="0"/>
                  <a:buChar char="o"/>
                </a:pPr>
                <a:r>
                  <a:rPr lang="en-US" b="0" dirty="0" err="1"/>
                  <a:t>Regresion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s-ES_tradnl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  <a:buFont typeface="Courier New" panose="02070309020205020404" pitchFamily="49" charset="0"/>
                  <a:buChar char="o"/>
                </a:pPr>
                <a:r>
                  <a:rPr lang="en-US" b="0" dirty="0" err="1"/>
                  <a:t>Clasificacion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𝑣𝑜𝑡𝑜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𝑚𝑎𝑦𝑜𝑟𝑖𝑡𝑎𝑟𝑖𝑜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ED458B-5738-971A-C0AE-458B8B28CC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FCA1D-1163-0ED9-FDDA-269BCB53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10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1C219-B3FF-4130-896A-FD6686104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Consideraciones</a:t>
            </a:r>
            <a:r>
              <a:rPr lang="es-ES_tradnl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FD57E-FF1D-FB2B-1529-23E131D93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En la práctica se elige: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Regresion: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ad>
                      <m:radPr>
                        <m:degHide m:val="on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</m:rad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Clasificación: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/3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Depende</a:t>
                </a:r>
                <a:r>
                  <a:rPr lang="es-ES_tradnl" dirty="0"/>
                  <a:t> de la naturaleza del problema y los datos. 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>
                    <a:solidFill>
                      <a:srgbClr val="FF0000"/>
                    </a:solidFill>
                  </a:rPr>
                  <a:t> </a:t>
                </a:r>
                <a:r>
                  <a:rPr lang="es-ES_tradnl" dirty="0" err="1">
                    <a:solidFill>
                      <a:srgbClr val="FF0000"/>
                    </a:solidFill>
                  </a:rPr>
                  <a:t>tunning</a:t>
                </a:r>
                <a:r>
                  <a:rPr lang="es-ES_tradnl" dirty="0">
                    <a:solidFill>
                      <a:srgbClr val="FF0000"/>
                    </a:solidFill>
                  </a:rPr>
                  <a:t> </a:t>
                </a:r>
                <a:r>
                  <a:rPr lang="es-ES_tradnl" dirty="0" err="1">
                    <a:solidFill>
                      <a:srgbClr val="FF0000"/>
                    </a:solidFill>
                  </a:rPr>
                  <a:t>parameter</a:t>
                </a:r>
                <a:r>
                  <a:rPr lang="es-ES_tradnl" dirty="0">
                    <a:solidFill>
                      <a:srgbClr val="FF0000"/>
                    </a:solidFill>
                  </a:rPr>
                  <a:t>/complejidad </a:t>
                </a:r>
                <a:r>
                  <a:rPr lang="es-ES_tradnl" dirty="0"/>
                  <a:t>-&gt; elijo por CV</a:t>
                </a:r>
                <a:endParaRPr lang="es-ES_tradnl" dirty="0">
                  <a:solidFill>
                    <a:srgbClr val="FF0000"/>
                  </a:solidFill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s-ES_tradnl" dirty="0"/>
                  <a:t>, entonces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𝑅𝑎𝑛𝑑𝑜𝑚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𝐹𝑜𝑟𝑒𝑠𝑡</m:t>
                    </m:r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s-ES_tradnl" i="1" dirty="0" err="1" smtClean="0">
                        <a:latin typeface="Cambria Math" panose="02040503050406030204" pitchFamily="18" charset="0"/>
                      </a:rPr>
                      <m:t>𝐵𝑎𝑔𝑔𝑖𝑛𝑔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es muy chico, Random Forest puede tener mala performance en predecir el error de CV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No todos los estimadores se benefician de “</a:t>
                </a:r>
                <a:r>
                  <a:rPr lang="es-ES_tradnl" i="1" dirty="0" err="1"/>
                  <a:t>shaking</a:t>
                </a:r>
                <a:r>
                  <a:rPr lang="es-ES_tradnl" i="1" dirty="0"/>
                  <a:t> up </a:t>
                </a:r>
                <a:r>
                  <a:rPr lang="es-ES_tradnl" i="1" dirty="0" err="1"/>
                  <a:t>the</a:t>
                </a:r>
                <a:r>
                  <a:rPr lang="es-ES_tradnl" i="1" dirty="0"/>
                  <a:t> data</a:t>
                </a:r>
                <a:r>
                  <a:rPr lang="es-ES_tradnl" dirty="0"/>
                  <a:t>” como con la aleatorización de predictores en </a:t>
                </a:r>
                <a:r>
                  <a:rPr lang="es-ES_tradnl" dirty="0" err="1"/>
                  <a:t>random</a:t>
                </a:r>
                <a:r>
                  <a:rPr lang="es-ES_tradnl" dirty="0"/>
                  <a:t> </a:t>
                </a:r>
                <a:r>
                  <a:rPr lang="es-ES_tradnl" dirty="0" err="1"/>
                  <a:t>forest</a:t>
                </a:r>
                <a:r>
                  <a:rPr lang="es-ES_tradnl" dirty="0"/>
                  <a:t>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Esta idea </a:t>
                </a:r>
                <a:r>
                  <a:rPr lang="es-ES_tradnl" dirty="0">
                    <a:solidFill>
                      <a:srgbClr val="00B050"/>
                    </a:solidFill>
                  </a:rPr>
                  <a:t>beneficia</a:t>
                </a:r>
                <a:r>
                  <a:rPr lang="es-ES_tradnl" dirty="0"/>
                  <a:t> a estimadores con </a:t>
                </a:r>
                <a:r>
                  <a:rPr lang="es-ES_tradnl" dirty="0">
                    <a:solidFill>
                      <a:srgbClr val="002060"/>
                    </a:solidFill>
                  </a:rPr>
                  <a:t>alta no linealidad </a:t>
                </a:r>
                <a:r>
                  <a:rPr lang="es-ES_tradnl" dirty="0"/>
                  <a:t>como los arboles </a:t>
                </a:r>
              </a:p>
              <a:p>
                <a:pPr>
                  <a:lnSpc>
                    <a:spcPct val="12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FD57E-FF1D-FB2B-1529-23E131D93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87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3E450-667C-770D-D7BA-7D2BBA03D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46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0C135CF8-5A60-1EE4-D27E-E8DA537D5FE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s-ES_tradnl" dirty="0"/>
                  <a:t>Random Forest: </a:t>
                </a:r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Parámetro </a:t>
                </a:r>
                <a:r>
                  <a:rPr lang="es-ES_tradnl" i="1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tunning</a:t>
                </a:r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s-ES_tradnl" b="1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0C135CF8-5A60-1EE4-D27E-E8DA537D5F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68EB390-3600-2853-3FE9-32BB017AEE2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s-ES_tradnl" dirty="0"/>
                  <a:t>Ejemplo de clasificación 1 de 14 categorías de cáncer 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=500</m:t>
                    </m:r>
                  </m:oMath>
                </a14:m>
                <a:r>
                  <a:rPr lang="es-ES_tradnl" dirty="0"/>
                  <a:t> predictores de genes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s-ES_tradnl" dirty="0">
                    <a:solidFill>
                      <a:schemeClr val="accent2"/>
                    </a:solidFill>
                  </a:rPr>
                  <a:t>Bagging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s-ES_tradnl" dirty="0"/>
              </a:p>
              <a:p>
                <a:pPr>
                  <a:lnSpc>
                    <a:spcPct val="110000"/>
                  </a:lnSpc>
                </a:pPr>
                <a:r>
                  <a:rPr lang="es-ES_tradnl" dirty="0"/>
                  <a:t>En la práctica: usamos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lo suficientemente grande para q baje el error de predicción afuera de la muestra</a:t>
                </a:r>
              </a:p>
              <a:p>
                <a:pPr>
                  <a:lnSpc>
                    <a:spcPct val="11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68EB390-3600-2853-3FE9-32BB017AE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45" t="-1453" r="-317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graph of trees with numbers and lines&#10;&#10;Description automatically generated">
            <a:extLst>
              <a:ext uri="{FF2B5EF4-FFF2-40B4-BE49-F238E27FC236}">
                <a16:creationId xmlns:a16="http://schemas.microsoft.com/office/drawing/2014/main" id="{B6326FA7-52BD-6F90-347C-BCE0BB87383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72200" y="2120373"/>
            <a:ext cx="5181600" cy="37618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34CE0-E335-46D3-73E4-B668F099F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271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 Random Forest: </a:t>
            </a:r>
            <a:r>
              <a:rPr lang="es-ES_tradnl" sz="4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Ilustración comparando métodos 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i="1" dirty="0"/>
                  <a:t>Ejemplo</a:t>
                </a:r>
                <a:r>
                  <a:rPr lang="es-ES_tradnl" dirty="0"/>
                  <a:t>: Clasificación de email: spam o no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 err="1"/>
                  <a:t>Metodos</a:t>
                </a:r>
                <a:r>
                  <a:rPr lang="es-ES_tradnl" dirty="0"/>
                  <a:t> y parámetros: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 err="1"/>
                  <a:t>Bagging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=2500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Random Forest: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=2500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 err="1"/>
                  <a:t>Boosting</a:t>
                </a:r>
                <a:r>
                  <a:rPr lang="es-ES_tradnl" dirty="0"/>
                  <a:t>: arboles de 5 nodos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s-ES_tradnl" dirty="0"/>
                  <a:t>). 10-fold CV</a:t>
                </a:r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45" b="-58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numbers and lines&#10;&#10;Description automatically generated">
            <a:extLst>
              <a:ext uri="{FF2B5EF4-FFF2-40B4-BE49-F238E27FC236}">
                <a16:creationId xmlns:a16="http://schemas.microsoft.com/office/drawing/2014/main" id="{4D60F621-117C-F200-D8BD-CCAA09184B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57900" y="1282700"/>
            <a:ext cx="6058106" cy="477213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2FF52-2078-33AA-2581-B2D48204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74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 Random Forest: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Out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of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Bag (OOB) </a:t>
            </a:r>
            <a:r>
              <a:rPr lang="es-ES_tradnl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Samples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Para cada observación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 construir el predictor de </a:t>
                </a:r>
                <a:r>
                  <a:rPr lang="es-ES_tradnl" dirty="0" err="1"/>
                  <a:t>random</a:t>
                </a:r>
                <a:r>
                  <a:rPr lang="es-ES_tradnl" dirty="0"/>
                  <a:t> </a:t>
                </a:r>
                <a:r>
                  <a:rPr lang="es-ES_tradnl" dirty="0" err="1"/>
                  <a:t>forest</a:t>
                </a:r>
                <a:r>
                  <a:rPr lang="es-ES_tradnl" dirty="0"/>
                  <a:t> promediando </a:t>
                </a:r>
                <a:r>
                  <a:rPr lang="es-ES_tradnl" b="1" dirty="0"/>
                  <a:t>solo</a:t>
                </a:r>
                <a:r>
                  <a:rPr lang="es-ES_tradnl" dirty="0"/>
                  <a:t> los árboles correspondientes a las muestras Bootstrap en donde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  <a:r>
                  <a:rPr lang="es-ES_tradnl" b="1" dirty="0"/>
                  <a:t>no aparece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b="1" dirty="0"/>
                  <a:t>Estimador de error OOB</a:t>
                </a:r>
                <a:r>
                  <a:rPr lang="es-ES_tradnl" dirty="0"/>
                  <a:t> casi similar a N-</a:t>
                </a:r>
                <a:r>
                  <a:rPr lang="es-ES_tradnl" dirty="0" err="1"/>
                  <a:t>fold</a:t>
                </a:r>
                <a:r>
                  <a:rPr lang="es-ES_tradnl" dirty="0"/>
                  <a:t> </a:t>
                </a:r>
                <a:r>
                  <a:rPr lang="es-ES_tradnl" dirty="0" err="1"/>
                  <a:t>cross-validation</a:t>
                </a:r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Distinto al error CV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251C54-6391-40F9-DD28-4D35AA1D7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711" r="-195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graph of trees with numbers and lines&#10;&#10;Description automatically generated">
            <a:extLst>
              <a:ext uri="{FF2B5EF4-FFF2-40B4-BE49-F238E27FC236}">
                <a16:creationId xmlns:a16="http://schemas.microsoft.com/office/drawing/2014/main" id="{A0E84256-BD6F-E5D0-EDD3-45674E6E823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19800" y="1825625"/>
            <a:ext cx="6094639" cy="378439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2FF52-2078-33AA-2581-B2D48204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81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Importancia de una Variable</a:t>
            </a:r>
            <a:endParaRPr lang="es-ES_tradnl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E2FE6-2D21-0373-E669-031C93ACF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200000"/>
              </a:lnSpc>
            </a:pPr>
            <a:r>
              <a:rPr lang="es-ES_tradnl" dirty="0"/>
              <a:t>En cada momento de partición en un árbol,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s-ES_tradnl" dirty="0">
                <a:solidFill>
                  <a:srgbClr val="002060"/>
                </a:solidFill>
              </a:rPr>
              <a:t>Mejora </a:t>
            </a:r>
            <a:r>
              <a:rPr lang="es-ES_tradnl" dirty="0"/>
              <a:t>del criterio de partición = </a:t>
            </a:r>
            <a:r>
              <a:rPr lang="es-ES_tradnl" dirty="0">
                <a:solidFill>
                  <a:srgbClr val="002060"/>
                </a:solidFill>
              </a:rPr>
              <a:t>medida de importancia atribuida </a:t>
            </a:r>
            <a:r>
              <a:rPr lang="es-ES_tradnl" dirty="0"/>
              <a:t>a la partición de cada variable</a:t>
            </a:r>
          </a:p>
          <a:p>
            <a:pPr>
              <a:lnSpc>
                <a:spcPct val="200000"/>
              </a:lnSpc>
            </a:pPr>
            <a:r>
              <a:rPr lang="es-ES_tradnl" dirty="0">
                <a:solidFill>
                  <a:srgbClr val="002060"/>
                </a:solidFill>
              </a:rPr>
              <a:t>Diferencia clave con </a:t>
            </a:r>
            <a:r>
              <a:rPr lang="es-ES_tradnl" dirty="0" err="1">
                <a:solidFill>
                  <a:srgbClr val="002060"/>
                </a:solidFill>
              </a:rPr>
              <a:t>Boosting</a:t>
            </a:r>
            <a:r>
              <a:rPr lang="es-ES_tradnl" dirty="0"/>
              <a:t>: cada variable tiene la posibilidad de ser elegida como la más importante dentro del subconjunto </a:t>
            </a:r>
            <a:r>
              <a:rPr lang="es-ES_tradnl" i="1" dirty="0"/>
              <a:t>m</a:t>
            </a:r>
          </a:p>
          <a:p>
            <a:pPr>
              <a:lnSpc>
                <a:spcPct val="200000"/>
              </a:lnSpc>
            </a:pP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D7D6-BCC0-179F-D775-60B46558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4992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D7D6-BCC0-179F-D775-60B46558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78C1CC4-2077-434E-BCF1-5D01C08A9B17}" type="slidenum">
              <a:rPr lang="en-US" sz="1200">
                <a:latin typeface="+mn-lt"/>
                <a:cs typeface="+mn-cs"/>
              </a:rPr>
              <a:pPr>
                <a:spcAft>
                  <a:spcPts val="600"/>
                </a:spcAft>
              </a:pPr>
              <a:t>36</a:t>
            </a:fld>
            <a:endParaRPr lang="en-US" sz="1200">
              <a:latin typeface="+mn-lt"/>
              <a:cs typeface="+mn-cs"/>
            </a:endParaRPr>
          </a:p>
        </p:txBody>
      </p:sp>
      <p:pic>
        <p:nvPicPr>
          <p:cNvPr id="13" name="Content Placeholder 12" descr="A comparison of a graph&#10;&#10;Description automatically generated">
            <a:extLst>
              <a:ext uri="{FF2B5EF4-FFF2-40B4-BE49-F238E27FC236}">
                <a16:creationId xmlns:a16="http://schemas.microsoft.com/office/drawing/2014/main" id="{C80D5F32-9E73-13A4-E248-AEB8FDD9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1339" y="626268"/>
            <a:ext cx="6949321" cy="5605463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EAED00-BF64-ED62-C021-FFD05E5228CC}"/>
              </a:ext>
            </a:extLst>
          </p:cNvPr>
          <p:cNvSpPr txBox="1"/>
          <p:nvPr/>
        </p:nvSpPr>
        <p:spPr>
          <a:xfrm>
            <a:off x="3155949" y="6211669"/>
            <a:ext cx="58801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Gill Sans Nova Light" panose="020B0302020104020203" pitchFamily="34" charset="0"/>
              </a:rPr>
              <a:t>Fuente: Chapter 17 </a:t>
            </a:r>
            <a:r>
              <a:rPr lang="en-US" sz="1400" dirty="0" err="1">
                <a:latin typeface="Gill Sans Nova Light" panose="020B0302020104020203" pitchFamily="34" charset="0"/>
              </a:rPr>
              <a:t>en</a:t>
            </a:r>
            <a:r>
              <a:rPr lang="en-US" sz="1400" dirty="0">
                <a:latin typeface="Gill Sans Nova Light" panose="020B0302020104020203" pitchFamily="34" charset="0"/>
              </a:rPr>
              <a:t> </a:t>
            </a:r>
            <a:r>
              <a:rPr lang="en-US" sz="1400" dirty="0" err="1">
                <a:latin typeface="Gill Sans Nova Light" panose="020B0302020104020203" pitchFamily="34" charset="0"/>
              </a:rPr>
              <a:t>Efron</a:t>
            </a:r>
            <a:r>
              <a:rPr lang="en-US" sz="1400" dirty="0">
                <a:latin typeface="Gill Sans Nova Light" panose="020B0302020104020203" pitchFamily="34" charset="0"/>
              </a:rPr>
              <a:t>, B., &amp; Hastie, T. (2016). </a:t>
            </a:r>
            <a:r>
              <a:rPr lang="en-US" sz="1400" i="1" dirty="0">
                <a:latin typeface="Gill Sans Nova Light" panose="020B0302020104020203" pitchFamily="34" charset="0"/>
              </a:rPr>
              <a:t>Computer age statistical inference</a:t>
            </a:r>
            <a:endParaRPr lang="es-ES_tradnl" sz="1400" dirty="0"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3733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Varianza y Sesgo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es </a:t>
                </a:r>
                <a:r>
                  <a:rPr lang="es-ES_tradnl" dirty="0">
                    <a:solidFill>
                      <a:srgbClr val="002060"/>
                    </a:solidFill>
                  </a:rPr>
                  <a:t>chico</a:t>
                </a:r>
                <a:r>
                  <a:rPr lang="es-ES_tradnl" dirty="0"/>
                  <a:t>, Random Forest puede tener </a:t>
                </a:r>
                <a:r>
                  <a:rPr lang="es-ES_tradnl" dirty="0">
                    <a:solidFill>
                      <a:srgbClr val="FF0000"/>
                    </a:solidFill>
                  </a:rPr>
                  <a:t>baja performance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Mayor sesgo </a:t>
                </a:r>
                <a:r>
                  <a:rPr lang="es-ES_tradnl" dirty="0"/>
                  <a:t>por no tener el set de variables relevantes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Random Forest es </a:t>
                </a:r>
                <a:r>
                  <a:rPr lang="es-ES_tradnl" dirty="0">
                    <a:solidFill>
                      <a:srgbClr val="002060"/>
                    </a:solidFill>
                  </a:rPr>
                  <a:t>robusto</a:t>
                </a:r>
                <a:r>
                  <a:rPr lang="es-ES_tradnl" dirty="0"/>
                  <a:t> a tener un </a:t>
                </a:r>
                <a:r>
                  <a:rPr lang="es-ES_tradnl" dirty="0" err="1"/>
                  <a:t>subset</a:t>
                </a:r>
                <a:r>
                  <a:rPr lang="es-ES_tradnl" dirty="0"/>
                  <a:t> de los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predictores con mucho ruido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Si la probabilidad de elegir las variables relevantes en el subconjunto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es alta, entonces, no importa que haya muchas variables con ruido</a:t>
                </a:r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r="-48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D369A-C8B0-650C-2AB6-8320FB0A3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58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Varianza y Sesgo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s-ES_tradnl" dirty="0"/>
                  <a:t>Random Forest (RF) no tiene problemas de </a:t>
                </a:r>
                <a:r>
                  <a:rPr lang="es-ES_tradnl" dirty="0">
                    <a:solidFill>
                      <a:srgbClr val="FF0000"/>
                    </a:solidFill>
                  </a:rPr>
                  <a:t>overfitting</a:t>
                </a:r>
                <a:r>
                  <a:rPr lang="es-ES_tradnl" dirty="0"/>
                  <a:t> </a:t>
                </a:r>
              </a:p>
              <a:p>
                <a:pPr lvl="1">
                  <a:lnSpc>
                    <a:spcPct val="160000"/>
                  </a:lnSpc>
                </a:pP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s-ES_tradnl" b="0" dirty="0"/>
                  <a:t>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no causa que RF sobreajuste los datos (como Boosting)</a:t>
                </a:r>
              </a:p>
              <a:p>
                <a:pPr lvl="1">
                  <a:lnSpc>
                    <a:spcPct val="160000"/>
                  </a:lnSpc>
                </a:pPr>
                <a:r>
                  <a:rPr lang="es-ES_tradnl" dirty="0"/>
                  <a:t>Solo si dejamos que cada uno de los árboles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1,…,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sean muy grandes y hagan </a:t>
                </a:r>
                <a:r>
                  <a:rPr lang="es-ES_tradnl" dirty="0" err="1">
                    <a:solidFill>
                      <a:srgbClr val="FF0000"/>
                    </a:solidFill>
                  </a:rPr>
                  <a:t>overfitting</a:t>
                </a:r>
                <a:r>
                  <a:rPr lang="es-ES_tradnl" dirty="0"/>
                  <a:t> de los datos de entrenamiento.</a:t>
                </a:r>
              </a:p>
              <a:p>
                <a:pPr>
                  <a:lnSpc>
                    <a:spcPct val="16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D369A-C8B0-650C-2AB6-8320FB0A3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97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C626A-52F2-A9D6-CD5F-DD81DE54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CA3C9-8E61-9482-275C-5CDE959CC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Varianza y Sesgo III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7E001B-AE5B-DB1F-2848-1FBAC36F075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s-ES_tradnl" dirty="0"/>
                  <a:t>Random Forest no tiene problemas de </a:t>
                </a:r>
                <a:r>
                  <a:rPr lang="es-ES_tradnl" dirty="0">
                    <a:solidFill>
                      <a:srgbClr val="FF0000"/>
                    </a:solidFill>
                  </a:rPr>
                  <a:t>overfitting</a:t>
                </a:r>
                <a:r>
                  <a:rPr lang="es-ES_tradnl" dirty="0"/>
                  <a:t> a </a:t>
                </a:r>
                <a:r>
                  <a:rPr lang="es-ES_tradnl" dirty="0">
                    <a:solidFill>
                      <a:srgbClr val="002060"/>
                    </a:solidFill>
                  </a:rPr>
                  <a:t>menos que </a:t>
                </a:r>
                <a:r>
                  <a:rPr lang="es-ES_tradnl" dirty="0"/>
                  <a:t>dejemos que los arboles crezcan mucho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r>
                      <a:rPr lang="es-ES_tradnl" i="1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s-ES_tradnl" dirty="0"/>
                  <a:t> nodos terminales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s-ES_tradnl" dirty="0"/>
                  <a:t> y </a:t>
                </a:r>
                <a14:m>
                  <m:oMath xmlns:m="http://schemas.openxmlformats.org/officeDocument/2006/math">
                    <m:r>
                      <a:rPr lang="es-ES_tradnl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s-ES_tradnl" dirty="0"/>
                  <a:t> observaciones en cada nodo,  </a:t>
                </a:r>
                <a:r>
                  <a:rPr lang="es-ES_tradnl" dirty="0">
                    <a:solidFill>
                      <a:srgbClr val="FF0000"/>
                    </a:solidFill>
                  </a:rPr>
                  <a:t>empeora</a:t>
                </a:r>
                <a:r>
                  <a:rPr lang="es-ES_tradnl" dirty="0"/>
                  <a:t> la </a:t>
                </a:r>
                <a:r>
                  <a:rPr lang="es-ES_tradnl" dirty="0">
                    <a:solidFill>
                      <a:srgbClr val="002060"/>
                    </a:solidFill>
                  </a:rPr>
                  <a:t>performance del error </a:t>
                </a:r>
                <a:r>
                  <a:rPr lang="es-ES_tradnl" dirty="0"/>
                  <a:t>de testeo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7E001B-AE5B-DB1F-2848-1FBAC36F07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689" t="-17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diagram of a number of blue boxes&#10;&#10;Description automatically generated">
            <a:extLst>
              <a:ext uri="{FF2B5EF4-FFF2-40B4-BE49-F238E27FC236}">
                <a16:creationId xmlns:a16="http://schemas.microsoft.com/office/drawing/2014/main" id="{D03AC4AE-15BF-D54F-9D2A-3164B2BF41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72200" y="1825625"/>
            <a:ext cx="5774406" cy="39462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7681E-C84D-9A38-1E00-A33F8BD7B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0408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E65CE-3653-8912-0E4D-181B4B3D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Random Forest: </a:t>
            </a:r>
            <a:r>
              <a:rPr lang="es-ES_tradnl" sz="3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Varianza y la de-correlación de árboles  </a:t>
            </a:r>
            <a:endParaRPr lang="es-ES_trad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Cada árbol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_tradnl" b="0" i="0" smtClean="0">
                        <a:latin typeface="Cambria Math" panose="02040503050406030204" pitchFamily="18" charset="0"/>
                      </a:rPr>
                      <m:t>1,…,</m:t>
                    </m:r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está “</a:t>
                </a:r>
                <a:r>
                  <a:rPr lang="es-ES_tradnl" i="1" dirty="0"/>
                  <a:t>de-correlacionado</a:t>
                </a:r>
                <a:r>
                  <a:rPr lang="es-ES_tradnl" dirty="0"/>
                  <a:t>”: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b="0" dirty="0"/>
                  <a:t>Muestra </a:t>
                </a:r>
                <a:r>
                  <a:rPr lang="es-ES_tradnl" b="0" dirty="0" err="1"/>
                  <a:t>bootstrapeada</a:t>
                </a:r>
                <a:r>
                  <a:rPr lang="es-ES_tradnl" b="0" dirty="0"/>
                  <a:t> de datos de entrenamiento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b="0" dirty="0"/>
                  <a:t>Subconjunto aleatorio de predictores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seleccionados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Idea</a:t>
                </a:r>
                <a:r>
                  <a:rPr lang="es-ES_tradnl" dirty="0"/>
                  <a:t>: 2 arboles aleatorios de los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ES_tradnl" dirty="0"/>
                  <a:t> en un </a:t>
                </a:r>
                <a:r>
                  <a:rPr lang="es-ES_tradnl" dirty="0" err="1"/>
                  <a:t>random</a:t>
                </a:r>
                <a:r>
                  <a:rPr lang="es-ES_tradnl" dirty="0"/>
                  <a:t> </a:t>
                </a:r>
                <a:r>
                  <a:rPr lang="es-ES_tradnl" dirty="0" err="1"/>
                  <a:t>forest</a:t>
                </a:r>
                <a:r>
                  <a:rPr lang="es-ES_tradnl" dirty="0"/>
                  <a:t> son menos similares si usan distintas variables en el subconjunto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s-ES_tradnl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s-ES_tradnl" dirty="0"/>
                  <a:t> crece </a:t>
                </a:r>
              </a:p>
              <a:p>
                <a:pPr marL="628650" lvl="1" indent="-1714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FF0000"/>
                    </a:solidFill>
                  </a:rPr>
                  <a:t>Menos</a:t>
                </a:r>
                <a:r>
                  <a:rPr lang="es-ES_tradnl" dirty="0"/>
                  <a:t> errores de predicción afuera de la muestra</a:t>
                </a:r>
              </a:p>
              <a:p>
                <a:pPr marL="628650" lvl="1" indent="-171450">
                  <a:lnSpc>
                    <a:spcPct val="150000"/>
                  </a:lnSpc>
                  <a:buFont typeface="+mj-lt"/>
                  <a:buAutoNum type="arabicPeriod"/>
                  <a:tabLst>
                    <a:tab pos="677863" algn="l"/>
                  </a:tabLst>
                </a:pPr>
                <a:r>
                  <a:rPr lang="es-ES_tradnl" dirty="0"/>
                  <a:t> </a:t>
                </a:r>
                <a:r>
                  <a:rPr lang="es-ES_tradnl" dirty="0">
                    <a:solidFill>
                      <a:srgbClr val="00B050"/>
                    </a:solidFill>
                  </a:rPr>
                  <a:t>Más</a:t>
                </a:r>
                <a:r>
                  <a:rPr lang="es-ES_tradnl" dirty="0"/>
                  <a:t> correlación entre arboles dentro del Random Forest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7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4642CF-8F50-221D-651E-A1D514DDCD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3030"/>
            <a:ext cx="5181600" cy="423652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0B363-5601-BD5D-0F0D-890BD7D10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701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En síntesis: Comparando los tres métodos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5EC8-9CA8-BFFB-D2D0-21A54353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81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9168-AA67-F1BE-BEB5-BFF50FDB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Métodos Basados en Arboles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04A66406-FA04-E0F0-0BCF-164DEB027FB0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522276"/>
              <a:ext cx="9800064" cy="443587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3266688">
                      <a:extLst>
                        <a:ext uri="{9D8B030D-6E8A-4147-A177-3AD203B41FA5}">
                          <a16:colId xmlns:a16="http://schemas.microsoft.com/office/drawing/2014/main" val="2575751318"/>
                        </a:ext>
                      </a:extLst>
                    </a:gridCol>
                    <a:gridCol w="3266688">
                      <a:extLst>
                        <a:ext uri="{9D8B030D-6E8A-4147-A177-3AD203B41FA5}">
                          <a16:colId xmlns:a16="http://schemas.microsoft.com/office/drawing/2014/main" val="3044122308"/>
                        </a:ext>
                      </a:extLst>
                    </a:gridCol>
                    <a:gridCol w="3266688">
                      <a:extLst>
                        <a:ext uri="{9D8B030D-6E8A-4147-A177-3AD203B41FA5}">
                          <a16:colId xmlns:a16="http://schemas.microsoft.com/office/drawing/2014/main" val="2284175529"/>
                        </a:ext>
                      </a:extLst>
                    </a:gridCol>
                  </a:tblGrid>
                  <a:tr h="297537">
                    <a:tc>
                      <a:txBody>
                        <a:bodyPr/>
                        <a:lstStyle/>
                        <a:p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Bagging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Random Forest</a:t>
                          </a: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Boosting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3071710"/>
                      </a:ext>
                    </a:extLst>
                  </a:tr>
                  <a:tr h="526411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Muestras </a:t>
                          </a:r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bootstrapeadas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Muestras </a:t>
                          </a:r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bootstrapeadas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árboles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secuenciales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9518654"/>
                      </a:ext>
                    </a:extLst>
                  </a:tr>
                  <a:tr h="755286"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“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árboles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independientes” pero correlacionados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</a:t>
                          </a:r>
                        </a:p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De-correlacionados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interdependientes: ajuste de los residuos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8567323"/>
                      </a:ext>
                    </a:extLst>
                  </a:tr>
                  <a:tr h="1316031"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Tamaño de Arboles</a:t>
                          </a:r>
                        </a:p>
                        <a:p>
                          <a:pPr marL="800100" lvl="1" indent="-342900">
                            <a:buFont typeface="Wingdings" pitchFamily="2" charset="2"/>
                            <a:buChar char="ü"/>
                          </a:pP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pequeños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Tamaño de Arboles</a:t>
                          </a:r>
                        </a:p>
                        <a:p>
                          <a:pPr marL="800100" lvl="1" indent="-342900">
                            <a:buFont typeface="Wingdings" pitchFamily="2" charset="2"/>
                            <a:buChar char="ü"/>
                          </a:pP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pequeños</a:t>
                          </a:r>
                          <a:endParaRPr lang="en-US" sz="2000" b="0" dirty="0">
                            <a:latin typeface="Cambria Math" panose="02040503050406030204" pitchFamily="18" charset="0"/>
                          </a:endParaRPr>
                        </a:p>
                        <a:p>
                          <a14:m>
                            <m:oMath xmlns:m="http://schemas.openxmlformats.org/officeDocument/2006/math">
                              <m:r>
                                <a:rPr lang="en-US" sz="2000" b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numero de predictores</a:t>
                          </a:r>
                          <a:r>
                            <a:rPr lang="es-ES_tradnl" sz="2000" baseline="0" dirty="0">
                              <a:latin typeface="Gill Sans Nova Light" panose="020B0302020104020203" pitchFamily="34" charset="0"/>
                            </a:rPr>
                            <a:t> disponibles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oMath>
                          </a14:m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numero</a:t>
                          </a:r>
                          <a:r>
                            <a:rPr lang="es-ES_tradnl" sz="2000" baseline="0" dirty="0">
                              <a:latin typeface="Gill Sans Nova Light" panose="020B0302020104020203" pitchFamily="34" charset="0"/>
                            </a:rPr>
                            <a:t> de particiones</a:t>
                          </a:r>
                        </a:p>
                        <a:p>
                          <a:pPr marL="342900" indent="-342900">
                            <a:buFont typeface="Wingdings" pitchFamily="2" charset="2"/>
                            <a:buChar char="ü"/>
                          </a:pP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es-ES_tradnl" sz="2000" dirty="0"/>
                            <a:t> 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dos brazos (</a:t>
                          </a:r>
                          <a:r>
                            <a:rPr lang="es-ES_tradnl" sz="2000" i="1" dirty="0" err="1">
                              <a:latin typeface="Gill Sans Nova Light" panose="020B0302020104020203" pitchFamily="34" charset="0"/>
                            </a:rPr>
                            <a:t>stump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)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047344"/>
                      </a:ext>
                    </a:extLst>
                  </a:tr>
                  <a:tr h="1441910"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promediando entre muchos árboles </a:t>
                          </a:r>
                          <a:endParaRPr lang="es-ES_tradnl" sz="2000" b="0" i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promediando entre muchos árboles y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bajando la correlación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 entre arboles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chemeClr val="accent2"/>
                              </a:solidFill>
                              <a:latin typeface="Gill Sans Nova Light" panose="020B0302020104020203" pitchFamily="34" charset="0"/>
                            </a:rPr>
                            <a:t>Aprendizaje lento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con 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rediciendo el sesgo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</a:t>
                          </a:r>
                          <a:r>
                            <a:rPr lang="es-ES_tradnl" sz="2000" b="0" dirty="0">
                              <a:solidFill>
                                <a:srgbClr val="002060"/>
                              </a:solidFill>
                              <a:latin typeface="Gill Sans Nova Light" panose="020B0302020104020203" pitchFamily="34" charset="0"/>
                            </a:rPr>
                            <a:t>un árbol</a:t>
                          </a:r>
                        </a:p>
                        <a:p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137713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04A66406-FA04-E0F0-0BCF-164DEB027FB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32049726"/>
                  </p:ext>
                </p:extLst>
              </p:nvPr>
            </p:nvGraphicFramePr>
            <p:xfrm>
              <a:off x="838200" y="1522276"/>
              <a:ext cx="9800064" cy="4435878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3266688">
                      <a:extLst>
                        <a:ext uri="{9D8B030D-6E8A-4147-A177-3AD203B41FA5}">
                          <a16:colId xmlns:a16="http://schemas.microsoft.com/office/drawing/2014/main" val="2575751318"/>
                        </a:ext>
                      </a:extLst>
                    </a:gridCol>
                    <a:gridCol w="3266688">
                      <a:extLst>
                        <a:ext uri="{9D8B030D-6E8A-4147-A177-3AD203B41FA5}">
                          <a16:colId xmlns:a16="http://schemas.microsoft.com/office/drawing/2014/main" val="3044122308"/>
                        </a:ext>
                      </a:extLst>
                    </a:gridCol>
                    <a:gridCol w="3266688">
                      <a:extLst>
                        <a:ext uri="{9D8B030D-6E8A-4147-A177-3AD203B41FA5}">
                          <a16:colId xmlns:a16="http://schemas.microsoft.com/office/drawing/2014/main" val="2284175529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Bagging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Random Forest</a:t>
                          </a: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 err="1">
                              <a:latin typeface="Gill Sans Nova Light" panose="020B0302020104020203" pitchFamily="34" charset="0"/>
                            </a:rPr>
                            <a:t>Boosting</a:t>
                          </a:r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3071710"/>
                      </a:ext>
                    </a:extLst>
                  </a:tr>
                  <a:tr h="5264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89" t="-78571" r="-200778" b="-66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78571" r="-100000" b="-66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778" t="-78571" r="-389" b="-6619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9518654"/>
                      </a:ext>
                    </a:extLst>
                  </a:tr>
                  <a:tr h="755286"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“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árboles</a:t>
                          </a:r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 independientes” pero correlacionados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</a:t>
                          </a:r>
                        </a:p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De-correlacionados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000" dirty="0">
                              <a:latin typeface="Gill Sans Nova Light" panose="020B0302020104020203" pitchFamily="34" charset="0"/>
                            </a:rPr>
                            <a:t>Arboles interdependientes: ajuste de los residuos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8567323"/>
                      </a:ext>
                    </a:extLst>
                  </a:tr>
                  <a:tr h="131603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89" t="-129808" r="-200778" b="-109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29808" r="-100000" b="-109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778" t="-129808" r="-389" b="-109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9047344"/>
                      </a:ext>
                    </a:extLst>
                  </a:tr>
                  <a:tr h="1441910"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promediando entre muchos árboles </a:t>
                          </a:r>
                          <a:endParaRPr lang="es-ES_tradnl" sz="2000" b="0" i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promediando entre muchos árboles y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bajando la correlación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 entre arboles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ES_tradnl" sz="2000" b="0" dirty="0">
                              <a:solidFill>
                                <a:schemeClr val="accent2"/>
                              </a:solidFill>
                              <a:latin typeface="Gill Sans Nova Light" panose="020B0302020104020203" pitchFamily="34" charset="0"/>
                            </a:rPr>
                            <a:t>Aprendizaje lento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con menor varianza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error de testeo, </a:t>
                          </a:r>
                          <a:r>
                            <a:rPr lang="es-ES_tradnl" sz="2000" b="0" dirty="0">
                              <a:solidFill>
                                <a:srgbClr val="00B050"/>
                              </a:solidFill>
                              <a:latin typeface="Gill Sans Nova Light" panose="020B0302020104020203" pitchFamily="34" charset="0"/>
                            </a:rPr>
                            <a:t>rediciendo el sesgo </a:t>
                          </a:r>
                          <a:r>
                            <a:rPr lang="es-ES_tradnl" sz="2000" b="0" dirty="0">
                              <a:latin typeface="Gill Sans Nova Light" panose="020B0302020104020203" pitchFamily="34" charset="0"/>
                            </a:rPr>
                            <a:t>de </a:t>
                          </a:r>
                          <a:r>
                            <a:rPr lang="es-ES_tradnl" sz="2000" b="0" dirty="0">
                              <a:solidFill>
                                <a:srgbClr val="002060"/>
                              </a:solidFill>
                              <a:latin typeface="Gill Sans Nova Light" panose="020B0302020104020203" pitchFamily="34" charset="0"/>
                            </a:rPr>
                            <a:t>un árbol</a:t>
                          </a:r>
                        </a:p>
                        <a:p>
                          <a:endParaRPr lang="es-ES_tradnl" sz="20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137713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E39AB-00F5-ADEE-08FA-C6F284265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0094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57CD-60DB-7599-DBBF-E7E34F55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Conclusiones finales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002C-8C25-F567-04EE-6365B0376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580811-4E8A-0CFA-2D7A-CC97B099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561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9168-AA67-F1BE-BEB5-BFF50FDB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66B93-964D-A72E-FB12-DE627F299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Revisamos</a:t>
            </a:r>
            <a:r>
              <a:rPr lang="es-ES_tradnl" dirty="0"/>
              <a:t> el concepto de un árbol (CART) </a:t>
            </a:r>
            <a:endParaRPr lang="es-ES_tradnl" dirty="0">
              <a:solidFill>
                <a:srgbClr val="002060"/>
              </a:solidFill>
            </a:endParaRPr>
          </a:p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Aprendimos</a:t>
            </a:r>
            <a:r>
              <a:rPr lang="es-ES_tradnl" dirty="0"/>
              <a:t> tres métodos basados en árboles</a:t>
            </a:r>
          </a:p>
          <a:p>
            <a:pPr lvl="1"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Bagging</a:t>
            </a:r>
            <a:r>
              <a:rPr lang="es-ES_tradnl" dirty="0"/>
              <a:t>: </a:t>
            </a:r>
            <a:r>
              <a:rPr lang="es-ES_tradnl" dirty="0" err="1"/>
              <a:t>boostrapeamos</a:t>
            </a:r>
            <a:r>
              <a:rPr lang="es-ES_tradnl" dirty="0"/>
              <a:t> muestras independientes, estimamos árboles, promediamos</a:t>
            </a:r>
            <a:endParaRPr lang="es-ES_tradnl" dirty="0">
              <a:solidFill>
                <a:srgbClr val="002060"/>
              </a:solidFill>
            </a:endParaRPr>
          </a:p>
          <a:p>
            <a:pPr lvl="1"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Boosting</a:t>
            </a:r>
            <a:r>
              <a:rPr lang="es-ES_tradnl" dirty="0"/>
              <a:t>: Armamos árboles, dependiendo del árbol anterior reajustando lo no aplicado por los residuos</a:t>
            </a:r>
          </a:p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Discutimos</a:t>
            </a:r>
            <a:r>
              <a:rPr lang="es-ES_tradnl" dirty="0"/>
              <a:t> Random Forest, </a:t>
            </a:r>
            <a:r>
              <a:rPr lang="es-ES_tradnl" dirty="0">
                <a:solidFill>
                  <a:srgbClr val="002060"/>
                </a:solidFill>
              </a:rPr>
              <a:t>aprendiendo</a:t>
            </a:r>
            <a:r>
              <a:rPr lang="es-ES_tradnl" dirty="0"/>
              <a:t> de: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Idea y algoritmo final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La medición de la importancia de predictores y su diferencia con Bagging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Discutimos de los trade-off de sesgo-varianza</a:t>
            </a:r>
          </a:p>
          <a:p>
            <a:pPr>
              <a:lnSpc>
                <a:spcPct val="170000"/>
              </a:lnSpc>
            </a:pPr>
            <a:r>
              <a:rPr lang="es-ES_tradnl" dirty="0">
                <a:solidFill>
                  <a:srgbClr val="002060"/>
                </a:solidFill>
              </a:rPr>
              <a:t>Comparamos</a:t>
            </a:r>
            <a:r>
              <a:rPr lang="es-ES_tradnl" dirty="0"/>
              <a:t> los tres métodos basados en arboles</a:t>
            </a:r>
          </a:p>
          <a:p>
            <a:pPr lvl="1">
              <a:lnSpc>
                <a:spcPct val="170000"/>
              </a:lnSpc>
            </a:pP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E39AB-00F5-ADEE-08FA-C6F284265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1324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D55B1-4C9E-9A68-CAC5-2D521102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_tradnl" dirty="0"/>
              <a:t>¿Dudas, consultas?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DE542-4031-D126-7AAF-A0332014D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s-ES_tradnl" dirty="0">
                <a:latin typeface="Gill Sans Nova Light" panose="020B0302020104020203" pitchFamily="34" charset="0"/>
              </a:rPr>
              <a:t>Consultas: </a:t>
            </a:r>
            <a:r>
              <a:rPr lang="en-US" b="0" i="0" dirty="0">
                <a:solidFill>
                  <a:srgbClr val="0078D7"/>
                </a:solidFill>
                <a:effectLst/>
                <a:latin typeface="Gill Sans Nova Light" panose="020B0302020104020203" pitchFamily="34" charset="0"/>
                <a:hlinkClick r:id="rId2"/>
              </a:rPr>
              <a:t>25RO35480961@campus.economicas.uba.ar</a:t>
            </a:r>
            <a:r>
              <a:rPr lang="en-US" b="0" i="0" dirty="0">
                <a:solidFill>
                  <a:srgbClr val="0078D7"/>
                </a:solidFill>
                <a:effectLst/>
                <a:latin typeface="Gill Sans Nova Light" panose="020B0302020104020203" pitchFamily="34" charset="0"/>
              </a:rPr>
              <a:t> </a:t>
            </a:r>
            <a:endParaRPr lang="es-ES_tradnl" dirty="0">
              <a:latin typeface="Gill Sans Nova Light" panose="020B03020201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2557C-64E1-99EA-732F-3F53925C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75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2926</TotalTime>
  <Words>2668</Words>
  <Application>Microsoft Macintosh PowerPoint</Application>
  <PresentationFormat>Panorámica</PresentationFormat>
  <Paragraphs>319</Paragraphs>
  <Slides>45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Gill Sans Nova Light</vt:lpstr>
      <vt:lpstr>Goudy Old Style</vt:lpstr>
      <vt:lpstr>Times</vt:lpstr>
      <vt:lpstr>Times New Roman</vt:lpstr>
      <vt:lpstr>Wingdings</vt:lpstr>
      <vt:lpstr>Office Theme</vt:lpstr>
      <vt:lpstr>Métodos de Ensamble:  Bagging, Random Forest &amp; Boosting</vt:lpstr>
      <vt:lpstr>En la clase de hoy</vt:lpstr>
      <vt:lpstr>Bootstrap</vt:lpstr>
      <vt:lpstr>Ejemplo conocido: Media muestral y estimación de la Varianza</vt:lpstr>
      <vt:lpstr>Bootstrap: Método alternativo “sin formula”</vt:lpstr>
      <vt:lpstr>Ilustración de Bootstrap</vt:lpstr>
      <vt:lpstr>Bootstrap formalmente</vt:lpstr>
      <vt:lpstr>Intuición de la utilidad de Bootstrap</vt:lpstr>
      <vt:lpstr>Regresiones: Errores Estándar “Bootstrapeados”  </vt:lpstr>
      <vt:lpstr>Entendiendo por qué funciona Bootstrap</vt:lpstr>
      <vt:lpstr>Aplicaciones de Bootstrap</vt:lpstr>
      <vt:lpstr>Intervalos de Confianza para el Coeficiente de Gini: Sosa &amp; Gasparini (2000) </vt:lpstr>
      <vt:lpstr>Métodos basados en Árboles I: Bagging</vt:lpstr>
      <vt:lpstr>Bagging: Definición e Idea  </vt:lpstr>
      <vt:lpstr>Bagging: Algoritmo</vt:lpstr>
      <vt:lpstr>Bagging: Ilustracion </vt:lpstr>
      <vt:lpstr>Implicancias del método de Bagging</vt:lpstr>
      <vt:lpstr>Bagging: Intuiciones</vt:lpstr>
      <vt:lpstr>Bagging: Ilustración del error de CV vs. OOB</vt:lpstr>
      <vt:lpstr>Bagging: Consideraciones finales I</vt:lpstr>
      <vt:lpstr>Bagging: Consideraciones finales II</vt:lpstr>
      <vt:lpstr>Métodos basados en Árboles II: Boosting</vt:lpstr>
      <vt:lpstr>Boosting: Idea</vt:lpstr>
      <vt:lpstr>Boosting: Ilustración  del aprendizaje</vt:lpstr>
      <vt:lpstr>Boosting: Algoritmo </vt:lpstr>
      <vt:lpstr>Boosting: Parámetros claves en Boosting</vt:lpstr>
      <vt:lpstr>Métodos basados en Árboles III: Random Forest</vt:lpstr>
      <vt:lpstr> Random Forest: Motivación intuitiva</vt:lpstr>
      <vt:lpstr> Random Forest: Motivación formal</vt:lpstr>
      <vt:lpstr>Ranfom Forest: Algoritmo</vt:lpstr>
      <vt:lpstr>Random Forest: Consideraciones </vt:lpstr>
      <vt:lpstr>Random Forest: Parámetro tunning m</vt:lpstr>
      <vt:lpstr> Random Forest: Ilustración comparando métodos </vt:lpstr>
      <vt:lpstr> Random Forest: Out of Bag (OOB) Samples</vt:lpstr>
      <vt:lpstr>Random Forest: Importancia de una Variable</vt:lpstr>
      <vt:lpstr>Presentación de PowerPoint</vt:lpstr>
      <vt:lpstr>Random Forest: Varianza y Sesgo I</vt:lpstr>
      <vt:lpstr>Random Forest: Varianza y Sesgo II</vt:lpstr>
      <vt:lpstr>Random Forest: Varianza y Sesgo III</vt:lpstr>
      <vt:lpstr>Random Forest: Varianza y la de-correlación de árboles  </vt:lpstr>
      <vt:lpstr>En síntesis: Comparando los tres métodos </vt:lpstr>
      <vt:lpstr>Métodos Basados en Arboles</vt:lpstr>
      <vt:lpstr>Conclusiones finales</vt:lpstr>
      <vt:lpstr>¿Qué aprendimos hoy?</vt:lpstr>
      <vt:lpstr>¿Dudas, consultas?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Noelia Romero</cp:lastModifiedBy>
  <cp:revision>155</cp:revision>
  <dcterms:created xsi:type="dcterms:W3CDTF">2023-06-12T20:51:31Z</dcterms:created>
  <dcterms:modified xsi:type="dcterms:W3CDTF">2025-10-24T13:41:46Z</dcterms:modified>
</cp:coreProperties>
</file>